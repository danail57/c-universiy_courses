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3" r:id="rId9"/>
    <p:sldId id="265" r:id="rId10"/>
    <p:sldId id="264" r:id="rId11"/>
    <p:sldId id="266" r:id="rId12"/>
    <p:sldId id="262" r:id="rId13"/>
    <p:sldId id="268" r:id="rId14"/>
    <p:sldId id="270" r:id="rId15"/>
    <p:sldId id="267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3" r:id="rId27"/>
    <p:sldId id="282" r:id="rId28"/>
    <p:sldId id="284" r:id="rId29"/>
    <p:sldId id="281" r:id="rId30"/>
    <p:sldId id="285" r:id="rId31"/>
    <p:sldId id="287" r:id="rId32"/>
    <p:sldId id="292" r:id="rId33"/>
    <p:sldId id="291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6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0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34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5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77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3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13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37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77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7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84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5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B9998-4654-413C-926A-FB0153650B9E}" type="datetimeFigureOut">
              <a:rPr lang="en-US" smtClean="0"/>
              <a:t>9/30/2022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6A6CC-ACCA-4767-BB94-71FAB053C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csharp/language-reference/keyword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Особености на типовете</a:t>
            </a:r>
            <a:r>
              <a:rPr lang="en-US" dirty="0"/>
              <a:t>, </a:t>
            </a:r>
            <a:r>
              <a:rPr lang="bg-BG" dirty="0"/>
              <a:t>дефинирани, чрез </a:t>
            </a:r>
            <a:r>
              <a:rPr lang="en-US" dirty="0"/>
              <a:t>class </a:t>
            </a:r>
            <a:r>
              <a:rPr lang="bg-BG" dirty="0"/>
              <a:t>и </a:t>
            </a:r>
            <a:r>
              <a:rPr lang="en-US" dirty="0"/>
              <a:t>struct </a:t>
            </a:r>
            <a:r>
              <a:rPr lang="bg-BG" dirty="0"/>
              <a:t>в </a:t>
            </a:r>
            <a:r>
              <a:rPr lang="en-US" dirty="0" err="1"/>
              <a:t>.Net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/>
              <a:t>C#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6000" dirty="0"/>
              <a:t>Полета, Методи и Свойства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608009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Полета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Полетата се наричат член-променливи на даден тип (</a:t>
            </a:r>
            <a:r>
              <a:rPr lang="en-US" dirty="0"/>
              <a:t>class</a:t>
            </a:r>
            <a:r>
              <a:rPr lang="bg-BG" dirty="0"/>
              <a:t> или </a:t>
            </a:r>
            <a:r>
              <a:rPr lang="en-US" dirty="0" err="1"/>
              <a:t>struct</a:t>
            </a:r>
            <a:r>
              <a:rPr lang="bg-BG" dirty="0"/>
              <a:t>)</a:t>
            </a:r>
            <a:r>
              <a:rPr lang="en-US" dirty="0"/>
              <a:t>:</a:t>
            </a:r>
            <a:endParaRPr lang="bg-BG" dirty="0"/>
          </a:p>
          <a:p>
            <a:endParaRPr lang="bg-BG" dirty="0"/>
          </a:p>
          <a:p>
            <a:pPr marL="914400" lvl="2" indent="0">
              <a:buNone/>
            </a:pPr>
            <a:r>
              <a:rPr lang="en-US" sz="2800" dirty="0"/>
              <a:t>class Car</a:t>
            </a:r>
          </a:p>
          <a:p>
            <a:pPr marL="914400" lvl="2" indent="0">
              <a:buNone/>
            </a:pPr>
            <a:r>
              <a:rPr lang="en-US" sz="2800" dirty="0"/>
              <a:t>{</a:t>
            </a:r>
          </a:p>
          <a:p>
            <a:pPr marL="1371600" lvl="3" indent="0">
              <a:buNone/>
            </a:pPr>
            <a:r>
              <a:rPr lang="en-US" sz="2400" dirty="0"/>
              <a:t>string name;</a:t>
            </a:r>
          </a:p>
          <a:p>
            <a:pPr marL="1371600" lvl="3" indent="0">
              <a:buNone/>
            </a:pPr>
            <a:r>
              <a:rPr lang="en-US" sz="2400" dirty="0"/>
              <a:t>public </a:t>
            </a:r>
            <a:r>
              <a:rPr lang="en-US" sz="2400" dirty="0" err="1"/>
              <a:t>int</a:t>
            </a:r>
            <a:r>
              <a:rPr lang="en-US" sz="2400" dirty="0"/>
              <a:t> age = 10;</a:t>
            </a:r>
          </a:p>
          <a:p>
            <a:pPr marL="914400" lvl="2" indent="0">
              <a:buNone/>
            </a:pP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620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Модификатори на полета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0238"/>
            <a:ext cx="10515600" cy="454342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bg-BG" dirty="0"/>
              <a:t>Полетата позволяват следните модификатори: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>
                <a:hlinkClick r:id="rId2"/>
              </a:rPr>
              <a:t>https://learn.microsoft.com/en-us/dotnet/csharp/language-reference/keywords/</a:t>
            </a:r>
            <a:endParaRPr lang="en-US" dirty="0"/>
          </a:p>
          <a:p>
            <a:pPr marL="0" indent="0">
              <a:buNone/>
            </a:pPr>
            <a:endParaRPr lang="bg-BG" dirty="0"/>
          </a:p>
          <a:p>
            <a:endParaRPr lang="bg-BG" sz="1100" dirty="0"/>
          </a:p>
          <a:p>
            <a:pPr lvl="1"/>
            <a:r>
              <a:rPr lang="bg-BG" sz="2800" dirty="0"/>
              <a:t>Статичен модификатор – </a:t>
            </a:r>
            <a:r>
              <a:rPr lang="en-US" sz="2800" dirty="0"/>
              <a:t>static</a:t>
            </a:r>
            <a:endParaRPr lang="bg-BG" sz="2800" dirty="0"/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Модификатори за достъп –</a:t>
            </a:r>
            <a:r>
              <a:rPr lang="en-US" sz="2800" dirty="0"/>
              <a:t> public, </a:t>
            </a:r>
            <a:r>
              <a:rPr lang="en-US" sz="2800" dirty="0">
                <a:solidFill>
                  <a:srgbClr val="FF0000"/>
                </a:solidFill>
              </a:rPr>
              <a:t>internal</a:t>
            </a:r>
            <a:r>
              <a:rPr lang="en-US" sz="2800" dirty="0"/>
              <a:t>, private, protected</a:t>
            </a:r>
            <a:endParaRPr lang="bg-BG" sz="2800" dirty="0">
              <a:solidFill>
                <a:srgbClr val="FF0000"/>
              </a:solidFill>
            </a:endParaRPr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 за наследяване –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new</a:t>
            </a:r>
            <a:endParaRPr lang="bg-BG" sz="2800" dirty="0">
              <a:solidFill>
                <a:srgbClr val="FF0000"/>
              </a:solidFill>
            </a:endParaRPr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 за несигурен код –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unsafe</a:t>
            </a:r>
            <a:endParaRPr lang="bg-BG" sz="2800" dirty="0">
              <a:solidFill>
                <a:srgbClr val="FF0000"/>
              </a:solidFill>
            </a:endParaRPr>
          </a:p>
          <a:p>
            <a:pPr lvl="1"/>
            <a:endParaRPr lang="en-US" sz="1200" dirty="0"/>
          </a:p>
          <a:p>
            <a:pPr lvl="1"/>
            <a:r>
              <a:rPr lang="bg-BG" sz="2800" dirty="0"/>
              <a:t>Модификатор „само за четене“ –</a:t>
            </a:r>
            <a:r>
              <a:rPr lang="en-US" sz="2800" dirty="0"/>
              <a:t> </a:t>
            </a:r>
            <a:r>
              <a:rPr lang="en-US" sz="2800" dirty="0" err="1"/>
              <a:t>const</a:t>
            </a:r>
            <a:r>
              <a:rPr lang="en-US" sz="2800" dirty="0"/>
              <a:t>, </a:t>
            </a:r>
            <a:r>
              <a:rPr lang="en-US" sz="2800" dirty="0" err="1">
                <a:solidFill>
                  <a:srgbClr val="FF0000"/>
                </a:solidFill>
              </a:rPr>
              <a:t>readonly</a:t>
            </a:r>
            <a:endParaRPr lang="bg-BG" sz="2800" dirty="0">
              <a:solidFill>
                <a:srgbClr val="FF0000"/>
              </a:solidFill>
            </a:endParaRPr>
          </a:p>
          <a:p>
            <a:pPr lvl="1"/>
            <a:endParaRPr lang="en-US" sz="1200" dirty="0"/>
          </a:p>
          <a:p>
            <a:pPr lvl="1"/>
            <a:r>
              <a:rPr lang="bg-BG" sz="2800" dirty="0"/>
              <a:t>Модификатор за работа с нишки -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volatile</a:t>
            </a:r>
          </a:p>
        </p:txBody>
      </p:sp>
    </p:spTree>
    <p:extLst>
      <p:ext uri="{BB962C8B-B14F-4D97-AF65-F5344CB8AC3E}">
        <p14:creationId xmlns:p14="http://schemas.microsoft.com/office/powerpoint/2010/main" val="1196549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Модификатори за достъп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public</a:t>
            </a:r>
            <a:r>
              <a:rPr lang="bg-BG" sz="2600" dirty="0"/>
              <a:t>   - достъпа не е ограничен</a:t>
            </a:r>
          </a:p>
          <a:p>
            <a:endParaRPr lang="bg-BG" sz="2600" dirty="0"/>
          </a:p>
          <a:p>
            <a:r>
              <a:rPr lang="en-US" sz="2600" dirty="0"/>
              <a:t>protected</a:t>
            </a:r>
            <a:r>
              <a:rPr lang="bg-BG" sz="2600" dirty="0"/>
              <a:t>   - полето е достъпно в рамките на класа. Видимо е от наследниците на типа (класа).</a:t>
            </a:r>
          </a:p>
          <a:p>
            <a:endParaRPr lang="en-US" sz="2600" dirty="0"/>
          </a:p>
          <a:p>
            <a:r>
              <a:rPr lang="en-US" sz="2600" dirty="0"/>
              <a:t>internal</a:t>
            </a:r>
            <a:r>
              <a:rPr lang="bg-BG" sz="2600" dirty="0"/>
              <a:t> – полето е видимо само в рамките на </a:t>
            </a:r>
            <a:r>
              <a:rPr lang="en-US" sz="2600" dirty="0"/>
              <a:t>a</a:t>
            </a:r>
            <a:r>
              <a:rPr lang="bg-BG" sz="2600" dirty="0" err="1"/>
              <a:t>семблирания</a:t>
            </a:r>
            <a:r>
              <a:rPr lang="bg-BG" sz="2600" dirty="0"/>
              <a:t> блок</a:t>
            </a:r>
          </a:p>
          <a:p>
            <a:endParaRPr lang="en-US" sz="2600" dirty="0"/>
          </a:p>
          <a:p>
            <a:r>
              <a:rPr lang="en-US" sz="2600" dirty="0"/>
              <a:t>private</a:t>
            </a:r>
            <a:r>
              <a:rPr lang="bg-BG" sz="2600" dirty="0"/>
              <a:t>  - видимо само в рамките на класа</a:t>
            </a:r>
          </a:p>
          <a:p>
            <a:endParaRPr lang="bg-BG" sz="2600" dirty="0"/>
          </a:p>
          <a:p>
            <a:r>
              <a:rPr lang="bg-BG" sz="2600" dirty="0"/>
              <a:t>други - </a:t>
            </a:r>
            <a:r>
              <a:rPr lang="en-US" sz="2600" dirty="0"/>
              <a:t>protected internal</a:t>
            </a:r>
            <a:r>
              <a:rPr lang="bg-BG" sz="2600" dirty="0"/>
              <a:t> и </a:t>
            </a:r>
            <a:r>
              <a:rPr lang="en-US" sz="2600" dirty="0"/>
              <a:t>private protected</a:t>
            </a:r>
          </a:p>
          <a:p>
            <a:endParaRPr lang="bg-BG" sz="2600" dirty="0"/>
          </a:p>
        </p:txBody>
      </p:sp>
    </p:spTree>
    <p:extLst>
      <p:ext uri="{BB962C8B-B14F-4D97-AF65-F5344CB8AC3E}">
        <p14:creationId xmlns:p14="http://schemas.microsoft.com/office/powerpoint/2010/main" val="249475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</a:t>
            </a:r>
            <a:r>
              <a:rPr lang="bg-BG" dirty="0"/>
              <a:t>модификатор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638"/>
          </a:xfrm>
        </p:spPr>
        <p:txBody>
          <a:bodyPr>
            <a:normAutofit/>
          </a:bodyPr>
          <a:lstStyle/>
          <a:p>
            <a:r>
              <a:rPr lang="en-US" dirty="0"/>
              <a:t>new </a:t>
            </a:r>
            <a:r>
              <a:rPr lang="bg-BG" dirty="0"/>
              <a:t>се използва при наследяване. То показва, че дадено поле трябва да скрие това в базовия клас. Има подобно действие на</a:t>
            </a:r>
            <a:r>
              <a:rPr lang="en-US" dirty="0"/>
              <a:t> override </a:t>
            </a:r>
            <a:r>
              <a:rPr lang="bg-BG" dirty="0"/>
              <a:t>при методите</a:t>
            </a:r>
            <a:r>
              <a:rPr lang="en-US" dirty="0"/>
              <a:t>.</a:t>
            </a:r>
            <a:endParaRPr lang="bg-BG" dirty="0"/>
          </a:p>
          <a:p>
            <a:endParaRPr lang="en-US" dirty="0"/>
          </a:p>
          <a:p>
            <a:pPr marL="914400" lvl="2" indent="0">
              <a:buNone/>
            </a:pPr>
            <a:r>
              <a:rPr lang="en-US" sz="2400" dirty="0"/>
              <a:t>class Base</a:t>
            </a:r>
          </a:p>
          <a:p>
            <a:pPr marL="914400" lvl="2" indent="0">
              <a:buNone/>
            </a:pPr>
            <a:r>
              <a:rPr lang="en-US" sz="2400" dirty="0"/>
              <a:t>{</a:t>
            </a:r>
          </a:p>
          <a:p>
            <a:pPr marL="914400" lvl="2" indent="0">
              <a:buNone/>
            </a:pPr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a=5;</a:t>
            </a:r>
          </a:p>
          <a:p>
            <a:pPr marL="914400" lvl="2" indent="0">
              <a:buNone/>
            </a:pPr>
            <a:r>
              <a:rPr lang="en-US" sz="2400" dirty="0"/>
              <a:t>}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43688" y="2728906"/>
            <a:ext cx="5057775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Test : Base</a:t>
            </a:r>
          </a:p>
          <a:p>
            <a:r>
              <a:rPr lang="en-US" sz="2400" dirty="0"/>
              <a:t>{</a:t>
            </a:r>
          </a:p>
          <a:p>
            <a:pPr lvl="1"/>
            <a:r>
              <a:rPr lang="bg-BG" sz="2400" dirty="0"/>
              <a:t>   </a:t>
            </a:r>
            <a:r>
              <a:rPr lang="en-US" sz="2400" dirty="0"/>
              <a:t>public </a:t>
            </a:r>
            <a:r>
              <a:rPr lang="en-US" sz="2400" dirty="0">
                <a:solidFill>
                  <a:srgbClr val="FF0000"/>
                </a:solidFill>
              </a:rPr>
              <a:t>new</a:t>
            </a:r>
            <a:r>
              <a:rPr lang="en-US" sz="2400" dirty="0"/>
              <a:t> </a:t>
            </a:r>
            <a:r>
              <a:rPr lang="en-US" sz="2400" dirty="0" err="1"/>
              <a:t>int</a:t>
            </a:r>
            <a:r>
              <a:rPr lang="en-US" sz="2400" dirty="0"/>
              <a:t> a=10;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    public  Test()</a:t>
            </a:r>
          </a:p>
          <a:p>
            <a:pPr lvl="1"/>
            <a:r>
              <a:rPr lang="en-US" sz="2400" dirty="0"/>
              <a:t>    {</a:t>
            </a:r>
            <a:endParaRPr lang="bg-BG" sz="2400" dirty="0"/>
          </a:p>
          <a:p>
            <a:pPr lvl="1"/>
            <a:endParaRPr lang="en-US" sz="2400" dirty="0"/>
          </a:p>
          <a:p>
            <a:pPr lvl="1"/>
            <a:r>
              <a:rPr lang="bg-BG" sz="2400" dirty="0"/>
              <a:t>    </a:t>
            </a:r>
            <a:r>
              <a:rPr lang="en-US" sz="2400" dirty="0"/>
              <a:t>}</a:t>
            </a:r>
          </a:p>
          <a:p>
            <a:r>
              <a:rPr lang="en-US" sz="2400" dirty="0"/>
              <a:t>}</a:t>
            </a:r>
            <a:endParaRPr lang="bg-BG" sz="72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614988" y="2771778"/>
            <a:ext cx="28575" cy="3657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8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readonly</a:t>
            </a:r>
            <a:r>
              <a:rPr lang="bg-BG" dirty="0"/>
              <a:t> модификатор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314950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Когато някое поле е маркирано като </a:t>
            </a:r>
            <a:r>
              <a:rPr lang="en-US" dirty="0" err="1"/>
              <a:t>readonly</a:t>
            </a:r>
            <a:r>
              <a:rPr lang="bg-BG" dirty="0"/>
              <a:t>, то може да бъде инициализирано или по време на декларацията или в конструктора;</a:t>
            </a:r>
            <a:endParaRPr lang="en-US" dirty="0"/>
          </a:p>
          <a:p>
            <a:r>
              <a:rPr lang="bg-BG" dirty="0"/>
              <a:t>променлива декларирана с </a:t>
            </a:r>
            <a:r>
              <a:rPr lang="en-US" dirty="0" err="1"/>
              <a:t>const</a:t>
            </a:r>
            <a:r>
              <a:rPr lang="bg-BG" dirty="0"/>
              <a:t> е по</a:t>
            </a:r>
            <a:r>
              <a:rPr lang="en-US" dirty="0"/>
              <a:t> </a:t>
            </a:r>
            <a:r>
              <a:rPr lang="bg-BG" dirty="0"/>
              <a:t>подразбиране </a:t>
            </a:r>
            <a:r>
              <a:rPr lang="en-US" dirty="0"/>
              <a:t>static</a:t>
            </a:r>
            <a:r>
              <a:rPr lang="bg-BG" dirty="0"/>
              <a:t>. Всяко </a:t>
            </a:r>
            <a:r>
              <a:rPr lang="bg-BG" dirty="0" err="1"/>
              <a:t>асембли</a:t>
            </a:r>
            <a:r>
              <a:rPr lang="bg-BG" dirty="0"/>
              <a:t> получава </a:t>
            </a:r>
            <a:r>
              <a:rPr lang="bg-BG" dirty="0" err="1"/>
              <a:t>собсвено</a:t>
            </a:r>
            <a:r>
              <a:rPr lang="bg-BG" dirty="0"/>
              <a:t> копие на променливата.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sz="2600" dirty="0"/>
              <a:t>class Test</a:t>
            </a:r>
          </a:p>
          <a:p>
            <a:pPr marL="457200" lvl="1" indent="0">
              <a:buNone/>
            </a:pPr>
            <a:r>
              <a:rPr lang="en-US" sz="2600" dirty="0"/>
              <a:t>{</a:t>
            </a:r>
          </a:p>
          <a:p>
            <a:pPr marL="457200" lvl="1" indent="0">
              <a:buNone/>
            </a:pPr>
            <a:r>
              <a:rPr lang="en-US" sz="2600" dirty="0"/>
              <a:t>	   public </a:t>
            </a:r>
            <a:r>
              <a:rPr lang="en-US" sz="2600" b="1" dirty="0" err="1">
                <a:solidFill>
                  <a:srgbClr val="FF0000"/>
                </a:solidFill>
              </a:rPr>
              <a:t>const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int</a:t>
            </a:r>
            <a:r>
              <a:rPr lang="en-US" sz="2600" dirty="0"/>
              <a:t> a =  10;</a:t>
            </a:r>
          </a:p>
          <a:p>
            <a:pPr marL="914400" lvl="2" indent="0">
              <a:buNone/>
            </a:pPr>
            <a:r>
              <a:rPr lang="en-US" sz="2200" dirty="0"/>
              <a:t>    </a:t>
            </a:r>
            <a:r>
              <a:rPr lang="en-US" sz="2600" dirty="0"/>
              <a:t>public </a:t>
            </a:r>
            <a:r>
              <a:rPr lang="en-US" sz="2600" b="1" dirty="0" err="1">
                <a:solidFill>
                  <a:srgbClr val="FF0000"/>
                </a:solidFill>
              </a:rPr>
              <a:t>readonly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/>
              <a:t>int</a:t>
            </a:r>
            <a:r>
              <a:rPr lang="en-US" sz="2600" dirty="0"/>
              <a:t> b =  10;</a:t>
            </a:r>
          </a:p>
          <a:p>
            <a:pPr marL="914400" lvl="2" indent="0">
              <a:buNone/>
            </a:pPr>
            <a:endParaRPr lang="en-US" sz="2600" dirty="0"/>
          </a:p>
          <a:p>
            <a:pPr marL="914400" lvl="2" indent="0">
              <a:buNone/>
            </a:pPr>
            <a:r>
              <a:rPr lang="en-US" sz="2600" dirty="0"/>
              <a:t>    public  Test()</a:t>
            </a:r>
          </a:p>
          <a:p>
            <a:pPr marL="914400" lvl="2" indent="0">
              <a:buNone/>
            </a:pPr>
            <a:r>
              <a:rPr lang="en-US" sz="2600" dirty="0"/>
              <a:t>    {</a:t>
            </a:r>
          </a:p>
          <a:p>
            <a:pPr marL="914400" lvl="2" indent="0">
              <a:buNone/>
            </a:pPr>
            <a:r>
              <a:rPr lang="en-US" sz="2600" dirty="0"/>
              <a:t>        b = 20;</a:t>
            </a:r>
          </a:p>
          <a:p>
            <a:pPr marL="914400" lvl="2" indent="0">
              <a:buNone/>
            </a:pPr>
            <a:r>
              <a:rPr lang="en-US" sz="2600" dirty="0"/>
              <a:t>    }</a:t>
            </a:r>
            <a:endParaRPr lang="en-US" sz="2200" dirty="0"/>
          </a:p>
          <a:p>
            <a:pPr marL="457200" lvl="1" indent="0">
              <a:buNone/>
            </a:pPr>
            <a:r>
              <a:rPr lang="en-US" sz="2600" dirty="0"/>
              <a:t>}</a:t>
            </a:r>
            <a:endParaRPr lang="bg-BG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6424612" y="2663572"/>
            <a:ext cx="4929188" cy="4162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        {</a:t>
            </a:r>
          </a:p>
          <a:p>
            <a:pPr lvl="1"/>
            <a:r>
              <a:rPr lang="en-US" sz="2400" dirty="0"/>
              <a:t>                  Test t = new Test();</a:t>
            </a:r>
          </a:p>
          <a:p>
            <a:pPr lvl="1"/>
            <a:r>
              <a:rPr lang="en-US" sz="1050" dirty="0"/>
              <a:t>                   </a:t>
            </a:r>
          </a:p>
          <a:p>
            <a:pPr lvl="1"/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           </a:t>
            </a:r>
            <a:r>
              <a:rPr lang="en-US" sz="2400" b="1" dirty="0" err="1">
                <a:solidFill>
                  <a:srgbClr val="FF0000"/>
                </a:solidFill>
              </a:rPr>
              <a:t>t.a</a:t>
            </a:r>
            <a:r>
              <a:rPr lang="en-US" sz="2400" b="1" dirty="0">
                <a:solidFill>
                  <a:srgbClr val="FF0000"/>
                </a:solidFill>
              </a:rPr>
              <a:t> = 30;     // </a:t>
            </a:r>
            <a:r>
              <a:rPr lang="bg-BG" sz="2400" b="1" dirty="0">
                <a:solidFill>
                  <a:srgbClr val="FF0000"/>
                </a:solidFill>
              </a:rPr>
              <a:t>Грешка</a:t>
            </a:r>
            <a:endParaRPr lang="en-US" sz="2400" b="1" dirty="0">
              <a:solidFill>
                <a:srgbClr val="FF0000"/>
              </a:solidFill>
            </a:endParaRP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	            </a:t>
            </a:r>
            <a:r>
              <a:rPr lang="en-US" sz="2400" b="1" dirty="0" err="1">
                <a:solidFill>
                  <a:srgbClr val="FF0000"/>
                </a:solidFill>
              </a:rPr>
              <a:t>t.b</a:t>
            </a:r>
            <a:r>
              <a:rPr lang="en-US" sz="2400" b="1" dirty="0">
                <a:solidFill>
                  <a:srgbClr val="FF0000"/>
                </a:solidFill>
              </a:rPr>
              <a:t> = 30;     // </a:t>
            </a:r>
            <a:r>
              <a:rPr lang="bg-BG" sz="2400" b="1" dirty="0">
                <a:solidFill>
                  <a:srgbClr val="FF0000"/>
                </a:solidFill>
              </a:rPr>
              <a:t>Грешка </a:t>
            </a:r>
            <a:r>
              <a:rPr lang="en-US" sz="2400" b="1" dirty="0">
                <a:solidFill>
                  <a:srgbClr val="FF0000"/>
                </a:solidFill>
              </a:rPr>
              <a:t>	</a:t>
            </a:r>
          </a:p>
          <a:p>
            <a:pPr lvl="1"/>
            <a:r>
              <a:rPr lang="en-US" sz="800" b="1" dirty="0">
                <a:solidFill>
                  <a:srgbClr val="FF0000"/>
                </a:solidFill>
              </a:rPr>
              <a:t>		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	            </a:t>
            </a:r>
            <a:r>
              <a:rPr lang="en-US" sz="2400" b="1" dirty="0" err="1"/>
              <a:t>int</a:t>
            </a:r>
            <a:r>
              <a:rPr lang="en-US" sz="2400" b="1" dirty="0"/>
              <a:t> c = </a:t>
            </a:r>
            <a:r>
              <a:rPr lang="en-US" sz="2400" b="1" dirty="0" err="1">
                <a:solidFill>
                  <a:srgbClr val="FF0000"/>
                </a:solidFill>
              </a:rPr>
              <a:t>Test.a</a:t>
            </a:r>
            <a:endParaRPr lang="en-US" sz="2400" b="1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	}</a:t>
            </a:r>
          </a:p>
          <a:p>
            <a:r>
              <a:rPr lang="en-US" sz="2400" dirty="0"/>
              <a:t>}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614988" y="2700338"/>
            <a:ext cx="28575" cy="3657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37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Инициализация на полетата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9500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Полетата се инициализират преди извикването на конструктора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r>
              <a:rPr lang="en-US" sz="2600" dirty="0"/>
              <a:t>class Test</a:t>
            </a:r>
          </a:p>
          <a:p>
            <a:pPr marL="457200" lvl="1" indent="0">
              <a:buNone/>
            </a:pPr>
            <a:r>
              <a:rPr lang="en-US" sz="2600" dirty="0"/>
              <a:t>{</a:t>
            </a:r>
            <a:endParaRPr lang="bg-BG" sz="2600" dirty="0"/>
          </a:p>
          <a:p>
            <a:pPr marL="914400" lvl="2" indent="0">
              <a:buNone/>
            </a:pPr>
            <a:r>
              <a:rPr lang="en-US" sz="2200" dirty="0"/>
              <a:t>            </a:t>
            </a:r>
            <a:r>
              <a:rPr lang="en-US" sz="2600" b="1" dirty="0" err="1">
                <a:solidFill>
                  <a:srgbClr val="FF0000"/>
                </a:solidFill>
              </a:rPr>
              <a:t>int</a:t>
            </a:r>
            <a:r>
              <a:rPr lang="en-US" sz="2600" b="1" dirty="0">
                <a:solidFill>
                  <a:srgbClr val="FF0000"/>
                </a:solidFill>
              </a:rPr>
              <a:t> b = 10;</a:t>
            </a:r>
          </a:p>
          <a:p>
            <a:pPr marL="914400" lvl="2" indent="0">
              <a:buNone/>
            </a:pPr>
            <a:endParaRPr lang="en-US" sz="2600" dirty="0"/>
          </a:p>
          <a:p>
            <a:pPr marL="1371600" lvl="3" indent="0">
              <a:buNone/>
            </a:pPr>
            <a:r>
              <a:rPr lang="en-US" sz="1900" dirty="0"/>
              <a:t>    </a:t>
            </a:r>
            <a:r>
              <a:rPr lang="en-US" sz="2600" dirty="0"/>
              <a:t>public </a:t>
            </a:r>
            <a:r>
              <a:rPr lang="en-US" sz="2600" dirty="0" err="1"/>
              <a:t>int</a:t>
            </a:r>
            <a:r>
              <a:rPr lang="en-US" sz="2600" dirty="0"/>
              <a:t> a;</a:t>
            </a:r>
          </a:p>
          <a:p>
            <a:pPr marL="1371600" lvl="3" indent="0">
              <a:buNone/>
            </a:pPr>
            <a:endParaRPr lang="en-US" sz="2600" dirty="0"/>
          </a:p>
          <a:p>
            <a:pPr marL="1371600" lvl="3" indent="0">
              <a:buNone/>
            </a:pPr>
            <a:r>
              <a:rPr lang="en-US" sz="2600" dirty="0"/>
              <a:t>    public  Test()</a:t>
            </a:r>
          </a:p>
          <a:p>
            <a:pPr marL="1371600" lvl="3" indent="0">
              <a:buNone/>
            </a:pPr>
            <a:r>
              <a:rPr lang="en-US" sz="2600" dirty="0"/>
              <a:t>    {</a:t>
            </a:r>
          </a:p>
          <a:p>
            <a:pPr marL="1371600" lvl="3" indent="0">
              <a:buNone/>
            </a:pPr>
            <a:r>
              <a:rPr lang="en-US" sz="2600" dirty="0"/>
              <a:t>        </a:t>
            </a:r>
            <a:r>
              <a:rPr lang="en-US" sz="2600" b="1" dirty="0">
                <a:solidFill>
                  <a:srgbClr val="FF0000"/>
                </a:solidFill>
              </a:rPr>
              <a:t>a = 20+b;</a:t>
            </a:r>
          </a:p>
          <a:p>
            <a:pPr marL="1371600" lvl="3" indent="0">
              <a:buNone/>
            </a:pPr>
            <a:r>
              <a:rPr lang="en-US" sz="2600" dirty="0"/>
              <a:t>    }</a:t>
            </a:r>
            <a:endParaRPr lang="en-US" sz="1900" dirty="0"/>
          </a:p>
          <a:p>
            <a:pPr marL="457200" lvl="1" indent="0">
              <a:buNone/>
            </a:pPr>
            <a:r>
              <a:rPr lang="en-US" sz="2600" dirty="0"/>
              <a:t>}</a:t>
            </a:r>
            <a:endParaRPr lang="bg-BG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6772275" y="2700330"/>
            <a:ext cx="4929188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        {</a:t>
            </a:r>
          </a:p>
          <a:p>
            <a:pPr lvl="1"/>
            <a:r>
              <a:rPr lang="en-US" sz="2400" dirty="0"/>
              <a:t>                  Test t = new Test();</a:t>
            </a:r>
          </a:p>
          <a:p>
            <a:pPr lvl="1"/>
            <a:r>
              <a:rPr lang="en-US" sz="2400" dirty="0"/>
              <a:t>                   </a:t>
            </a:r>
          </a:p>
          <a:p>
            <a:pPr lvl="1"/>
            <a:r>
              <a:rPr lang="en-US" sz="2400" dirty="0"/>
              <a:t>	            </a:t>
            </a:r>
            <a:r>
              <a:rPr lang="en-US" sz="2400" dirty="0" err="1"/>
              <a:t>int</a:t>
            </a:r>
            <a:r>
              <a:rPr lang="en-US" sz="2400" dirty="0"/>
              <a:t> x = </a:t>
            </a:r>
            <a:r>
              <a:rPr lang="en-US" sz="2400" dirty="0" err="1"/>
              <a:t>t.a</a:t>
            </a:r>
            <a:r>
              <a:rPr lang="en-US" sz="2400" dirty="0"/>
              <a:t>;     // x=30</a:t>
            </a:r>
          </a:p>
          <a:p>
            <a:pPr lvl="1"/>
            <a:r>
              <a:rPr lang="en-US" sz="2400" dirty="0"/>
              <a:t>	}</a:t>
            </a:r>
          </a:p>
          <a:p>
            <a:r>
              <a:rPr lang="en-US" sz="2400" dirty="0"/>
              <a:t>}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614988" y="2700338"/>
            <a:ext cx="28575" cy="3657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64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6" y="365125"/>
            <a:ext cx="10868024" cy="1325563"/>
          </a:xfrm>
        </p:spPr>
        <p:txBody>
          <a:bodyPr/>
          <a:lstStyle/>
          <a:p>
            <a:r>
              <a:rPr lang="bg-BG" dirty="0"/>
              <a:t>Методи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6" y="1914526"/>
            <a:ext cx="11501438" cy="4543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Методите позволяват следните модификатори:</a:t>
            </a:r>
          </a:p>
          <a:p>
            <a:endParaRPr lang="bg-BG" sz="1100" dirty="0"/>
          </a:p>
          <a:p>
            <a:pPr lvl="1"/>
            <a:r>
              <a:rPr lang="bg-BG" sz="2800" dirty="0"/>
              <a:t>Статичен модификатор – </a:t>
            </a:r>
            <a:r>
              <a:rPr lang="en-US" sz="2800" dirty="0"/>
              <a:t>static</a:t>
            </a:r>
            <a:endParaRPr lang="bg-BG" sz="2800" dirty="0"/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Модификатори за достъп –</a:t>
            </a:r>
            <a:r>
              <a:rPr lang="en-US" sz="2800" dirty="0"/>
              <a:t> public</a:t>
            </a:r>
            <a:r>
              <a:rPr lang="bg-BG" sz="2800" dirty="0"/>
              <a:t>,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internal</a:t>
            </a:r>
            <a:r>
              <a:rPr lang="bg-BG" sz="2800" dirty="0"/>
              <a:t>,</a:t>
            </a:r>
            <a:r>
              <a:rPr lang="en-US" sz="2800" dirty="0"/>
              <a:t> private</a:t>
            </a:r>
            <a:r>
              <a:rPr lang="bg-BG" sz="2800" dirty="0"/>
              <a:t>,</a:t>
            </a:r>
            <a:r>
              <a:rPr lang="en-US" sz="2800" dirty="0"/>
              <a:t> protected</a:t>
            </a:r>
            <a:endParaRPr lang="bg-BG" sz="2800" dirty="0"/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 за наследяване –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new</a:t>
            </a:r>
            <a:r>
              <a:rPr lang="bg-BG" sz="2800" dirty="0"/>
              <a:t>,</a:t>
            </a:r>
            <a:r>
              <a:rPr lang="bg-BG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virtual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abstract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override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sealed</a:t>
            </a:r>
            <a:endParaRPr lang="bg-BG" sz="2800" b="1" dirty="0">
              <a:solidFill>
                <a:srgbClr val="00B050"/>
              </a:solidFill>
            </a:endParaRPr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 за частично деклариране –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partial</a:t>
            </a:r>
            <a:endParaRPr lang="bg-BG" sz="2800" b="1" dirty="0">
              <a:solidFill>
                <a:srgbClr val="FF0000"/>
              </a:solidFill>
            </a:endParaRPr>
          </a:p>
          <a:p>
            <a:pPr lvl="1"/>
            <a:endParaRPr lang="en-US" sz="1200" dirty="0"/>
          </a:p>
          <a:p>
            <a:pPr lvl="1"/>
            <a:r>
              <a:rPr lang="bg-BG" sz="2800" dirty="0"/>
              <a:t>Други модификатори –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readonly</a:t>
            </a:r>
            <a:r>
              <a:rPr lang="bg-BG" sz="2800" dirty="0"/>
              <a:t>,</a:t>
            </a:r>
            <a:r>
              <a:rPr lang="bg-BG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extern</a:t>
            </a:r>
            <a:endParaRPr lang="bg-BG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91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2"/>
            <a:ext cx="11120438" cy="935038"/>
          </a:xfrm>
        </p:spPr>
        <p:txBody>
          <a:bodyPr>
            <a:normAutofit fontScale="90000"/>
          </a:bodyPr>
          <a:lstStyle/>
          <a:p>
            <a:r>
              <a:rPr lang="bg-BG" dirty="0"/>
              <a:t>Модификатори за наследяване</a:t>
            </a:r>
            <a:r>
              <a:rPr lang="en-US" dirty="0"/>
              <a:t> - </a:t>
            </a:r>
            <a:r>
              <a:rPr lang="en-US" dirty="0">
                <a:solidFill>
                  <a:srgbClr val="FF0000"/>
                </a:solidFill>
              </a:rPr>
              <a:t>virtual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>
                <a:solidFill>
                  <a:srgbClr val="FF0000"/>
                </a:solidFill>
              </a:rPr>
              <a:t>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53721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Base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public </a:t>
            </a:r>
            <a:r>
              <a:rPr lang="en-US" b="1" dirty="0">
                <a:solidFill>
                  <a:srgbClr val="FF0000"/>
                </a:solidFill>
              </a:rPr>
              <a:t>virtual</a:t>
            </a:r>
            <a:r>
              <a:rPr lang="en-US" dirty="0"/>
              <a:t> void a()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bg-BG" dirty="0"/>
              <a:t>     </a:t>
            </a:r>
            <a:r>
              <a:rPr lang="en-US" dirty="0"/>
              <a:t> </a:t>
            </a:r>
            <a:r>
              <a:rPr lang="en-US" dirty="0" err="1"/>
              <a:t>System.Console.Write</a:t>
            </a:r>
            <a:r>
              <a:rPr lang="en-US" dirty="0"/>
              <a:t>("Base A");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dirty="0"/>
              <a:t>class Derived : Base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public </a:t>
            </a:r>
            <a:r>
              <a:rPr lang="en-US" b="1" dirty="0">
                <a:solidFill>
                  <a:srgbClr val="FF0000"/>
                </a:solidFill>
              </a:rPr>
              <a:t>override</a:t>
            </a:r>
            <a:r>
              <a:rPr lang="en-US" dirty="0"/>
              <a:t> void a()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bg-BG" dirty="0"/>
              <a:t>     </a:t>
            </a:r>
            <a:r>
              <a:rPr lang="en-US" dirty="0" err="1"/>
              <a:t>System.Console.Write</a:t>
            </a:r>
            <a:r>
              <a:rPr lang="en-US" dirty="0"/>
              <a:t>("Derived A");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657975" y="1300154"/>
            <a:ext cx="5043488" cy="44935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class Program</a:t>
            </a:r>
          </a:p>
          <a:p>
            <a:r>
              <a:rPr lang="en-US" sz="2200" dirty="0"/>
              <a:t>    {</a:t>
            </a:r>
          </a:p>
          <a:p>
            <a:pPr lvl="1"/>
            <a:r>
              <a:rPr lang="en-US" sz="2200" dirty="0"/>
              <a:t>        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        {</a:t>
            </a:r>
          </a:p>
          <a:p>
            <a:pPr lvl="1"/>
            <a:r>
              <a:rPr lang="en-US" sz="2200" dirty="0"/>
              <a:t>            	Base </a:t>
            </a:r>
            <a:r>
              <a:rPr lang="en-US" sz="2200" dirty="0" err="1"/>
              <a:t>obj</a:t>
            </a:r>
            <a:r>
              <a:rPr lang="en-US" sz="2200" dirty="0"/>
              <a:t> = new Derived();</a:t>
            </a:r>
          </a:p>
          <a:p>
            <a:pPr lvl="1"/>
            <a:r>
              <a:rPr lang="en-US" sz="2200" dirty="0"/>
              <a:t>            	</a:t>
            </a:r>
            <a:r>
              <a:rPr lang="en-US" sz="2200" dirty="0" err="1"/>
              <a:t>obj.a</a:t>
            </a:r>
            <a:r>
              <a:rPr lang="en-US" sz="2200" dirty="0"/>
              <a:t>();	</a:t>
            </a:r>
            <a:r>
              <a:rPr lang="bg-BG" sz="2200" dirty="0"/>
              <a:t>     </a:t>
            </a:r>
            <a:r>
              <a:rPr lang="en-US" sz="2200" dirty="0"/>
              <a:t>//</a:t>
            </a:r>
            <a:r>
              <a:rPr lang="bg-BG" sz="2200" dirty="0"/>
              <a:t> </a:t>
            </a:r>
            <a:r>
              <a:rPr lang="en-US" sz="2200" dirty="0"/>
              <a:t>Derived</a:t>
            </a:r>
            <a:r>
              <a:rPr lang="bg-BG" sz="2200" dirty="0"/>
              <a:t> А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		Base </a:t>
            </a:r>
            <a:r>
              <a:rPr lang="en-US" sz="2200" dirty="0" err="1"/>
              <a:t>obj</a:t>
            </a:r>
            <a:r>
              <a:rPr lang="en-US" sz="2200" dirty="0"/>
              <a:t> = new Base();</a:t>
            </a:r>
          </a:p>
          <a:p>
            <a:pPr lvl="1"/>
            <a:r>
              <a:rPr lang="en-US" sz="2200" dirty="0"/>
              <a:t>            	</a:t>
            </a:r>
            <a:r>
              <a:rPr lang="en-US" sz="2200" dirty="0" err="1"/>
              <a:t>obj.a</a:t>
            </a:r>
            <a:r>
              <a:rPr lang="en-US" sz="2200" dirty="0"/>
              <a:t>();	</a:t>
            </a:r>
            <a:r>
              <a:rPr lang="bg-BG" sz="2200" dirty="0"/>
              <a:t>     </a:t>
            </a:r>
            <a:r>
              <a:rPr lang="en-US" sz="2200" dirty="0"/>
              <a:t>//</a:t>
            </a:r>
            <a:r>
              <a:rPr lang="bg-BG" sz="2200" dirty="0"/>
              <a:t>  </a:t>
            </a:r>
            <a:r>
              <a:rPr lang="en-US" sz="2200" dirty="0"/>
              <a:t>Base</a:t>
            </a:r>
            <a:r>
              <a:rPr lang="bg-BG" sz="2200" dirty="0"/>
              <a:t> А</a:t>
            </a:r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	 }</a:t>
            </a:r>
          </a:p>
          <a:p>
            <a:r>
              <a:rPr lang="en-US" sz="2200" dirty="0"/>
              <a:t>    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47178" y="1328738"/>
            <a:ext cx="39291" cy="5029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36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2"/>
            <a:ext cx="11120438" cy="935038"/>
          </a:xfrm>
        </p:spPr>
        <p:txBody>
          <a:bodyPr>
            <a:normAutofit/>
          </a:bodyPr>
          <a:lstStyle/>
          <a:p>
            <a:r>
              <a:rPr lang="bg-BG" dirty="0"/>
              <a:t>Модификатор за наследяване</a:t>
            </a:r>
            <a:r>
              <a:rPr lang="en-US" dirty="0"/>
              <a:t> - </a:t>
            </a:r>
            <a:r>
              <a:rPr lang="en-US" dirty="0">
                <a:solidFill>
                  <a:srgbClr val="FF0000"/>
                </a:solidFill>
              </a:rPr>
              <a:t>sealed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8738"/>
            <a:ext cx="10515600" cy="53721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Base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public </a:t>
            </a:r>
            <a:r>
              <a:rPr lang="en-US" b="1" dirty="0">
                <a:solidFill>
                  <a:srgbClr val="FF0000"/>
                </a:solidFill>
              </a:rPr>
              <a:t>virtual</a:t>
            </a:r>
            <a:r>
              <a:rPr lang="en-US" dirty="0"/>
              <a:t> void a()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bg-BG" dirty="0"/>
              <a:t>     </a:t>
            </a:r>
            <a:r>
              <a:rPr lang="en-US" dirty="0"/>
              <a:t> </a:t>
            </a:r>
            <a:r>
              <a:rPr lang="en-US" dirty="0" err="1"/>
              <a:t>System.Console.Write</a:t>
            </a:r>
            <a:r>
              <a:rPr lang="en-US" dirty="0"/>
              <a:t>("Base A");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dirty="0"/>
              <a:t>class Derived : Base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public </a:t>
            </a:r>
            <a:r>
              <a:rPr lang="en-US" b="1" dirty="0">
                <a:solidFill>
                  <a:srgbClr val="FF0000"/>
                </a:solidFill>
              </a:rPr>
              <a:t>sealed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override </a:t>
            </a:r>
            <a:r>
              <a:rPr lang="en-US" dirty="0"/>
              <a:t>void a()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bg-BG" dirty="0"/>
              <a:t>     </a:t>
            </a:r>
            <a:r>
              <a:rPr lang="en-US" dirty="0" err="1"/>
              <a:t>System.Console.Write</a:t>
            </a:r>
            <a:r>
              <a:rPr lang="en-US" dirty="0"/>
              <a:t>("Derived A");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6300788" y="1300154"/>
            <a:ext cx="5657849" cy="26776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Derived2 : Derived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</a:t>
            </a:r>
            <a:r>
              <a:rPr lang="bg-BG" sz="2400" dirty="0"/>
              <a:t>  </a:t>
            </a:r>
            <a:r>
              <a:rPr lang="en-US" sz="2400" dirty="0"/>
              <a:t> public override void a()	</a:t>
            </a:r>
            <a:r>
              <a:rPr lang="en-US" sz="2400" b="1" dirty="0">
                <a:solidFill>
                  <a:srgbClr val="FF0000"/>
                </a:solidFill>
              </a:rPr>
              <a:t>// </a:t>
            </a:r>
            <a:r>
              <a:rPr lang="bg-BG" sz="2400" b="1" dirty="0">
                <a:solidFill>
                  <a:srgbClr val="FF0000"/>
                </a:solidFill>
              </a:rPr>
              <a:t>Грешка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dirty="0"/>
              <a:t>   </a:t>
            </a:r>
            <a:r>
              <a:rPr lang="bg-BG" sz="2400" dirty="0"/>
              <a:t>  </a:t>
            </a:r>
            <a:r>
              <a:rPr lang="en-US" sz="2400" dirty="0"/>
              <a:t> {</a:t>
            </a:r>
          </a:p>
          <a:p>
            <a:r>
              <a:rPr lang="en-US" sz="2400" dirty="0"/>
              <a:t>    </a:t>
            </a:r>
            <a:r>
              <a:rPr lang="bg-BG" sz="2400" dirty="0"/>
              <a:t>     </a:t>
            </a:r>
            <a:r>
              <a:rPr lang="en-US" sz="2400" dirty="0"/>
              <a:t>    </a:t>
            </a:r>
            <a:r>
              <a:rPr lang="en-US" sz="2400" dirty="0" err="1"/>
              <a:t>System.Console.Write</a:t>
            </a:r>
            <a:r>
              <a:rPr lang="en-US" sz="2400" dirty="0"/>
              <a:t>("Derived2 A");</a:t>
            </a:r>
          </a:p>
          <a:p>
            <a:r>
              <a:rPr lang="en-US" sz="2400" dirty="0"/>
              <a:t>  </a:t>
            </a:r>
            <a:r>
              <a:rPr lang="bg-BG" sz="2400" dirty="0"/>
              <a:t>  </a:t>
            </a:r>
            <a:r>
              <a:rPr lang="en-US" sz="2400" dirty="0"/>
              <a:t>  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975754" y="1328738"/>
            <a:ext cx="39291" cy="5029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874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3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Модификатор за частично деклариране – partial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689"/>
            <a:ext cx="10515600" cy="57864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</a:rPr>
              <a:t>// file_1.cs</a:t>
            </a:r>
            <a:endParaRPr lang="bg-BG" sz="2200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</a:rPr>
              <a:t>partial</a:t>
            </a:r>
            <a:r>
              <a:rPr lang="en-US" sz="2200" dirty="0"/>
              <a:t> class Base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public </a:t>
            </a:r>
            <a:r>
              <a:rPr lang="en-US" sz="2200" dirty="0" err="1"/>
              <a:t>int</a:t>
            </a:r>
            <a:r>
              <a:rPr lang="en-US" sz="2200" dirty="0"/>
              <a:t> a =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</a:t>
            </a:r>
            <a:r>
              <a:rPr lang="en-US" sz="2200" dirty="0">
                <a:solidFill>
                  <a:srgbClr val="FF0000"/>
                </a:solidFill>
              </a:rPr>
              <a:t>partial</a:t>
            </a:r>
            <a:r>
              <a:rPr lang="en-US" sz="2200" dirty="0"/>
              <a:t> </a:t>
            </a:r>
            <a:r>
              <a:rPr lang="en-US" sz="2200" dirty="0" err="1"/>
              <a:t>abc</a:t>
            </a:r>
            <a:r>
              <a:rPr lang="en-US" sz="22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public  virtual void a()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       </a:t>
            </a:r>
            <a:r>
              <a:rPr lang="en-US" sz="2200" dirty="0" err="1"/>
              <a:t>System.Console.Write</a:t>
            </a:r>
            <a:r>
              <a:rPr lang="en-US" sz="2200" dirty="0"/>
              <a:t>("Base A");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0000"/>
                </a:solidFill>
              </a:rPr>
              <a:t>// file_3.cs</a:t>
            </a:r>
          </a:p>
          <a:p>
            <a:pPr marL="0" indent="0">
              <a:buNone/>
            </a:pPr>
            <a:r>
              <a:rPr lang="en-US" sz="2200" dirty="0"/>
              <a:t>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{</a:t>
            </a:r>
          </a:p>
          <a:p>
            <a:pPr marL="0" indent="0">
              <a:buNone/>
            </a:pPr>
            <a:r>
              <a:rPr lang="en-US" sz="2200" dirty="0"/>
              <a:t>            Base </a:t>
            </a:r>
            <a:r>
              <a:rPr lang="en-US" sz="2200" dirty="0" err="1"/>
              <a:t>obj</a:t>
            </a:r>
            <a:r>
              <a:rPr lang="en-US" sz="2200" dirty="0"/>
              <a:t> = new Base();</a:t>
            </a:r>
          </a:p>
          <a:p>
            <a:pPr marL="0" indent="0">
              <a:buNone/>
            </a:pPr>
            <a:r>
              <a:rPr lang="en-US" sz="2200" dirty="0"/>
              <a:t>            </a:t>
            </a:r>
            <a:r>
              <a:rPr lang="en-US" sz="2200" dirty="0" err="1"/>
              <a:t>obj.a</a:t>
            </a:r>
            <a:r>
              <a:rPr lang="en-US" sz="2200" dirty="0"/>
              <a:t>();	          </a:t>
            </a:r>
            <a:r>
              <a:rPr lang="en-US" sz="2200" dirty="0" err="1"/>
              <a:t>obj.b</a:t>
            </a:r>
            <a:r>
              <a:rPr lang="en-US" sz="2200" dirty="0"/>
              <a:t>();        </a:t>
            </a:r>
            <a:r>
              <a:rPr lang="en-US" sz="2200" dirty="0" err="1"/>
              <a:t>obj.abc</a:t>
            </a:r>
            <a:r>
              <a:rPr lang="en-US" sz="2200" dirty="0"/>
              <a:t>();</a:t>
            </a:r>
          </a:p>
          <a:p>
            <a:pPr marL="0" indent="0">
              <a:buNone/>
            </a:pPr>
            <a:r>
              <a:rPr lang="en-US" sz="22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6959" y="1057267"/>
            <a:ext cx="5657849" cy="3139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0000"/>
                </a:solidFill>
              </a:rPr>
              <a:t>// file_2.cs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0000"/>
                </a:solidFill>
              </a:rPr>
              <a:t>partial</a:t>
            </a:r>
            <a:r>
              <a:rPr lang="en-US" sz="2200" dirty="0"/>
              <a:t> class Base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{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private </a:t>
            </a:r>
            <a:r>
              <a:rPr lang="en-US" sz="2200" dirty="0" err="1"/>
              <a:t>int</a:t>
            </a:r>
            <a:r>
              <a:rPr lang="en-US" sz="2200" dirty="0"/>
              <a:t> b = 20;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public virtual void b()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{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       </a:t>
            </a:r>
            <a:r>
              <a:rPr lang="en-US" sz="2200" dirty="0" err="1"/>
              <a:t>System.Console.Write</a:t>
            </a:r>
            <a:r>
              <a:rPr lang="en-US" sz="2200" dirty="0"/>
              <a:t>("Base B");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}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      </a:t>
            </a:r>
            <a:r>
              <a:rPr lang="en-US" sz="2200" dirty="0">
                <a:solidFill>
                  <a:srgbClr val="FF0000"/>
                </a:solidFill>
              </a:rPr>
              <a:t>partial</a:t>
            </a:r>
            <a:r>
              <a:rPr lang="en-US" sz="2200" dirty="0"/>
              <a:t> void </a:t>
            </a:r>
            <a:r>
              <a:rPr lang="en-US" sz="2200" dirty="0" err="1"/>
              <a:t>abc</a:t>
            </a:r>
            <a:r>
              <a:rPr lang="en-US" sz="2200" dirty="0"/>
              <a:t>() {    </a:t>
            </a:r>
            <a:r>
              <a:rPr lang="en-US" sz="2200" dirty="0">
                <a:solidFill>
                  <a:srgbClr val="00B050"/>
                </a:solidFill>
              </a:rPr>
              <a:t>// …….. </a:t>
            </a:r>
            <a:r>
              <a:rPr lang="en-US" sz="2200" dirty="0"/>
              <a:t>    }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47162" y="1028691"/>
            <a:ext cx="23968" cy="3067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57258" y="4196588"/>
            <a:ext cx="108775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450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Предаване на данни по стойност и по референция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024" y="2028825"/>
            <a:ext cx="10010775" cy="4457700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Когато се извиква даден метод, данните към него могат да се предадат по стойност и по референция. По подразбиране данните се предават по стойност.</a:t>
            </a:r>
          </a:p>
          <a:p>
            <a:endParaRPr lang="bg-BG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bg-BG" sz="1200" dirty="0"/>
          </a:p>
          <a:p>
            <a:pPr lvl="1"/>
            <a:endParaRPr lang="en-US" sz="1200" dirty="0"/>
          </a:p>
          <a:p>
            <a:r>
              <a:rPr lang="bg-BG" dirty="0"/>
              <a:t>Примери:</a:t>
            </a:r>
          </a:p>
          <a:p>
            <a:pPr lvl="1"/>
            <a:r>
              <a:rPr lang="en-US" dirty="0"/>
              <a:t>public void a(out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) {}</a:t>
            </a:r>
          </a:p>
          <a:p>
            <a:pPr lvl="1"/>
            <a:r>
              <a:rPr lang="en-US" dirty="0"/>
              <a:t>Public void a(ref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) {}</a:t>
            </a:r>
          </a:p>
          <a:p>
            <a:pPr lvl="1"/>
            <a:endParaRPr lang="bg-BG" dirty="0"/>
          </a:p>
          <a:p>
            <a:pPr lvl="1"/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773673"/>
              </p:ext>
            </p:extLst>
          </p:nvPr>
        </p:nvGraphicFramePr>
        <p:xfrm>
          <a:off x="1657350" y="3248562"/>
          <a:ext cx="9401175" cy="1752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Модификатор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Стойността</a:t>
                      </a:r>
                      <a:r>
                        <a:rPr lang="bg-BG" baseline="0" dirty="0">
                          <a:solidFill>
                            <a:schemeClr val="tx1"/>
                          </a:solidFill>
                        </a:rPr>
                        <a:t> е предавана по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Стойността</a:t>
                      </a:r>
                      <a:r>
                        <a:rPr lang="bg-BG" baseline="0" dirty="0">
                          <a:solidFill>
                            <a:schemeClr val="tx1"/>
                          </a:solidFill>
                        </a:rPr>
                        <a:t> Трябва да е инициализирана при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Без модификатор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Стойност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Влизане</a:t>
                      </a:r>
                      <a:r>
                        <a:rPr lang="bg-BG" baseline="0" dirty="0">
                          <a:solidFill>
                            <a:schemeClr val="tx1"/>
                          </a:solidFill>
                        </a:rPr>
                        <a:t> в метода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референция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Влизане в метода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референция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>
                          <a:solidFill>
                            <a:schemeClr val="tx1"/>
                          </a:solidFill>
                        </a:rPr>
                        <a:t>Излизане от метода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95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Предаване на данни по стойност от предефинирани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void c (  </a:t>
            </a:r>
            <a:r>
              <a:rPr lang="en-US" sz="2400" dirty="0" err="1"/>
              <a:t>int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  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10;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825625"/>
            <a:ext cx="5657849" cy="45243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</a:t>
            </a:r>
            <a:r>
              <a:rPr lang="bg-BG" sz="2400" dirty="0"/>
              <a:t>   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 </a:t>
            </a:r>
            <a:r>
              <a:rPr lang="bg-BG" sz="2400" dirty="0"/>
              <a:t>       </a:t>
            </a:r>
            <a:r>
              <a:rPr lang="en-US" sz="2400" dirty="0"/>
              <a:t>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endParaRPr lang="en-US" sz="2400" dirty="0"/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int</a:t>
            </a:r>
            <a:r>
              <a:rPr lang="en-US" sz="2400" dirty="0"/>
              <a:t> x</a:t>
            </a:r>
            <a:r>
              <a:rPr lang="bg-BG" sz="2400" dirty="0"/>
              <a:t>=5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obj.c</a:t>
            </a:r>
            <a:r>
              <a:rPr lang="en-US" sz="2400" dirty="0"/>
              <a:t>(x);</a:t>
            </a:r>
          </a:p>
          <a:p>
            <a:r>
              <a:rPr lang="en-US" sz="2400" dirty="0"/>
              <a:t>            </a:t>
            </a:r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Console.WriteLine</a:t>
            </a:r>
            <a:r>
              <a:rPr lang="en-US" sz="2400" dirty="0"/>
              <a:t>(x);</a:t>
            </a:r>
            <a:r>
              <a:rPr lang="bg-BG" sz="2400" dirty="0"/>
              <a:t>   </a:t>
            </a:r>
            <a:r>
              <a:rPr lang="bg-BG" sz="2400" b="1" dirty="0">
                <a:solidFill>
                  <a:srgbClr val="FF0000"/>
                </a:solidFill>
              </a:rPr>
              <a:t>// </a:t>
            </a:r>
            <a:r>
              <a:rPr lang="en-US" sz="2400" b="1" dirty="0">
                <a:solidFill>
                  <a:srgbClr val="FF0000"/>
                </a:solidFill>
              </a:rPr>
              <a:t>x=5</a:t>
            </a:r>
          </a:p>
          <a:p>
            <a:r>
              <a:rPr lang="bg-BG" sz="2400" dirty="0"/>
              <a:t>           </a:t>
            </a:r>
            <a:r>
              <a:rPr lang="en-US" sz="2400" dirty="0"/>
              <a:t>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035372" y="1652648"/>
            <a:ext cx="36698" cy="46972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124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bg-BG" dirty="0"/>
              <a:t>Предаване на данни по референцията </a:t>
            </a:r>
            <a:r>
              <a:rPr lang="en-US" dirty="0"/>
              <a:t>ref</a:t>
            </a:r>
            <a:r>
              <a:rPr lang="bg-BG" dirty="0"/>
              <a:t> от предефинирани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038"/>
            <a:ext cx="10515600" cy="5169383"/>
          </a:xfrm>
        </p:spPr>
        <p:txBody>
          <a:bodyPr>
            <a:normAutofit/>
          </a:bodyPr>
          <a:lstStyle/>
          <a:p>
            <a:r>
              <a:rPr lang="bg-BG" dirty="0"/>
              <a:t>За да се предадат данните по референция е необходимо да се използва ключовата дума</a:t>
            </a:r>
            <a:r>
              <a:rPr lang="en-US" dirty="0"/>
              <a:t> ref</a:t>
            </a:r>
            <a:r>
              <a:rPr lang="bg-BG" dirty="0"/>
              <a:t> при деклариране и при извикване на метода.</a:t>
            </a:r>
          </a:p>
          <a:p>
            <a:endParaRPr lang="bg-BG" sz="2100" dirty="0"/>
          </a:p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void c (</a:t>
            </a:r>
            <a:r>
              <a:rPr lang="en-US" sz="2400" b="1" dirty="0">
                <a:solidFill>
                  <a:srgbClr val="FF0000"/>
                </a:solidFill>
              </a:rPr>
              <a:t>ref</a:t>
            </a:r>
            <a:r>
              <a:rPr lang="en-US" sz="2400" dirty="0"/>
              <a:t>  </a:t>
            </a:r>
            <a:r>
              <a:rPr lang="en-US" sz="2400" dirty="0" err="1"/>
              <a:t>int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  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bg-BG" sz="2400" dirty="0"/>
              <a:t>//</a:t>
            </a:r>
            <a:r>
              <a:rPr lang="en-US" sz="2400" dirty="0" err="1"/>
              <a:t>i</a:t>
            </a:r>
            <a:r>
              <a:rPr lang="en-US" sz="2400" dirty="0"/>
              <a:t> = 10;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9288" y="2457437"/>
            <a:ext cx="6229349" cy="45243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</a:t>
            </a:r>
            <a:r>
              <a:rPr lang="bg-BG" sz="2400" dirty="0"/>
              <a:t>   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 </a:t>
            </a:r>
            <a:r>
              <a:rPr lang="bg-BG" sz="2400" dirty="0"/>
              <a:t>       </a:t>
            </a:r>
            <a:r>
              <a:rPr lang="en-US" sz="2400" dirty="0"/>
              <a:t>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endParaRPr lang="en-US" sz="2400" dirty="0"/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int</a:t>
            </a:r>
            <a:r>
              <a:rPr lang="en-US" sz="2400" dirty="0"/>
              <a:t> x</a:t>
            </a:r>
            <a:r>
              <a:rPr lang="bg-BG" sz="2400" dirty="0"/>
              <a:t>=5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obj.c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0000"/>
                </a:solidFill>
              </a:rPr>
              <a:t>ref</a:t>
            </a:r>
            <a:r>
              <a:rPr lang="en-US" sz="2400" dirty="0"/>
              <a:t> x);</a:t>
            </a:r>
          </a:p>
          <a:p>
            <a:r>
              <a:rPr lang="en-US" sz="2400" dirty="0"/>
              <a:t>            </a:t>
            </a:r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Console.WriteLine</a:t>
            </a:r>
            <a:r>
              <a:rPr lang="en-US" sz="2400" dirty="0"/>
              <a:t>(x);</a:t>
            </a:r>
            <a:r>
              <a:rPr lang="bg-BG" sz="2400" dirty="0"/>
              <a:t>   </a:t>
            </a:r>
            <a:r>
              <a:rPr lang="bg-BG" sz="2400" b="1" dirty="0">
                <a:solidFill>
                  <a:srgbClr val="FF0000"/>
                </a:solidFill>
              </a:rPr>
              <a:t>// </a:t>
            </a:r>
            <a:r>
              <a:rPr lang="en-US" sz="2400" b="1" dirty="0">
                <a:solidFill>
                  <a:srgbClr val="FF0000"/>
                </a:solidFill>
              </a:rPr>
              <a:t>x=10</a:t>
            </a:r>
          </a:p>
          <a:p>
            <a:r>
              <a:rPr lang="bg-BG" sz="2400" dirty="0"/>
              <a:t>           </a:t>
            </a:r>
            <a:r>
              <a:rPr lang="en-US" sz="2400" dirty="0"/>
              <a:t>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084456" y="2457437"/>
            <a:ext cx="39995" cy="4154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907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094"/>
            <a:ext cx="10515600" cy="706438"/>
          </a:xfrm>
        </p:spPr>
        <p:txBody>
          <a:bodyPr>
            <a:normAutofit fontScale="90000"/>
          </a:bodyPr>
          <a:lstStyle/>
          <a:p>
            <a:r>
              <a:rPr lang="bg-BG" dirty="0"/>
              <a:t>Предаване на данни по референцията </a:t>
            </a:r>
            <a:r>
              <a:rPr lang="en-US" dirty="0"/>
              <a:t>out</a:t>
            </a:r>
            <a:r>
              <a:rPr lang="bg-BG" dirty="0"/>
              <a:t> от предефинираните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2988"/>
            <a:ext cx="10515600" cy="5740890"/>
          </a:xfrm>
        </p:spPr>
        <p:txBody>
          <a:bodyPr>
            <a:normAutofit/>
          </a:bodyPr>
          <a:lstStyle/>
          <a:p>
            <a:r>
              <a:rPr lang="en-US" sz="2400" dirty="0"/>
              <a:t>Out </a:t>
            </a:r>
            <a:r>
              <a:rPr lang="bg-BG" sz="2400" dirty="0"/>
              <a:t>също предава данните по референция, но с разликата, че преди да бъде напусната функцията задължително на променливата маркирана с </a:t>
            </a:r>
            <a:r>
              <a:rPr lang="en-US" sz="2400" dirty="0"/>
              <a:t>out</a:t>
            </a:r>
            <a:r>
              <a:rPr lang="bg-BG" sz="2400" dirty="0"/>
              <a:t> трябва да се зададе стойност;</a:t>
            </a:r>
          </a:p>
          <a:p>
            <a:r>
              <a:rPr lang="bg-BG" sz="2400" dirty="0"/>
              <a:t>Ползва се за връщане на множество стойности от функция.</a:t>
            </a:r>
          </a:p>
          <a:p>
            <a:endParaRPr lang="bg-BG" sz="2100" dirty="0"/>
          </a:p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void c (</a:t>
            </a:r>
            <a:r>
              <a:rPr lang="en-US" sz="2400" b="1" dirty="0">
                <a:solidFill>
                  <a:srgbClr val="FF0000"/>
                </a:solidFill>
              </a:rPr>
              <a:t>out</a:t>
            </a:r>
            <a:r>
              <a:rPr lang="en-US" sz="2400" dirty="0"/>
              <a:t>  </a:t>
            </a:r>
            <a:r>
              <a:rPr lang="en-US" sz="2400" dirty="0" err="1"/>
              <a:t>int</a:t>
            </a:r>
            <a:r>
              <a:rPr lang="en-US" sz="2400" dirty="0"/>
              <a:t>  </a:t>
            </a:r>
            <a:r>
              <a:rPr lang="en-US" sz="2400" dirty="0" err="1"/>
              <a:t>i</a:t>
            </a:r>
            <a:r>
              <a:rPr lang="en-US" sz="2400" dirty="0"/>
              <a:t>  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10;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29288" y="2628893"/>
            <a:ext cx="6229349" cy="41395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</a:t>
            </a:r>
            <a:r>
              <a:rPr lang="bg-BG" sz="2400" dirty="0"/>
              <a:t>   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 </a:t>
            </a:r>
            <a:r>
              <a:rPr lang="bg-BG" sz="2400" dirty="0"/>
              <a:t>       </a:t>
            </a:r>
            <a:r>
              <a:rPr lang="en-US" sz="2400" dirty="0"/>
              <a:t>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endParaRPr lang="en-US" sz="1000" dirty="0"/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int</a:t>
            </a:r>
            <a:r>
              <a:rPr lang="en-US" sz="2400" dirty="0"/>
              <a:t> x;</a:t>
            </a:r>
          </a:p>
          <a:p>
            <a:r>
              <a:rPr lang="en-US" sz="2400" dirty="0"/>
              <a:t>    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obj.c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0000"/>
                </a:solidFill>
              </a:rPr>
              <a:t>out</a:t>
            </a:r>
            <a:r>
              <a:rPr lang="en-US" sz="2400" dirty="0"/>
              <a:t> x);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2400" dirty="0"/>
              <a:t>            </a:t>
            </a:r>
            <a:r>
              <a:rPr lang="bg-BG" sz="2400" dirty="0"/>
              <a:t>       </a:t>
            </a:r>
            <a:r>
              <a:rPr lang="en-US" sz="2400" dirty="0" err="1"/>
              <a:t>Console.WriteLine</a:t>
            </a:r>
            <a:r>
              <a:rPr lang="en-US" sz="2400" dirty="0"/>
              <a:t>(x);</a:t>
            </a:r>
            <a:r>
              <a:rPr lang="bg-BG" sz="2400" dirty="0"/>
              <a:t>   </a:t>
            </a:r>
            <a:r>
              <a:rPr lang="bg-BG" sz="2400" b="1" dirty="0">
                <a:solidFill>
                  <a:srgbClr val="FF0000"/>
                </a:solidFill>
              </a:rPr>
              <a:t>// </a:t>
            </a:r>
            <a:r>
              <a:rPr lang="en-US" sz="2400" b="1" dirty="0">
                <a:solidFill>
                  <a:srgbClr val="FF0000"/>
                </a:solidFill>
              </a:rPr>
              <a:t>x=10</a:t>
            </a:r>
          </a:p>
          <a:p>
            <a:r>
              <a:rPr lang="bg-BG" sz="2400" dirty="0"/>
              <a:t>           </a:t>
            </a:r>
            <a:r>
              <a:rPr lang="en-US" sz="2400" dirty="0"/>
              <a:t>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084456" y="2543165"/>
            <a:ext cx="39995" cy="41549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266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Предаване на референтни типове (</a:t>
            </a:r>
            <a:r>
              <a:rPr lang="en-US"/>
              <a:t>class)</a:t>
            </a:r>
            <a:r>
              <a:rPr lang="bg-BG" dirty="0"/>
              <a:t> по стойност и по референция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66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Независимо дали референтните типове се предават по стойност или референция може да приемем, че те</a:t>
            </a:r>
            <a:r>
              <a:rPr lang="bg-BG" b="1" dirty="0">
                <a:solidFill>
                  <a:srgbClr val="FF0000"/>
                </a:solidFill>
              </a:rPr>
              <a:t> винаги са предавани по референция</a:t>
            </a:r>
          </a:p>
          <a:p>
            <a:endParaRPr lang="bg-BG" b="1" dirty="0">
              <a:solidFill>
                <a:srgbClr val="FF0000"/>
              </a:solidFill>
            </a:endParaRPr>
          </a:p>
          <a:p>
            <a:r>
              <a:rPr lang="bg-BG" dirty="0"/>
              <a:t>Разликата при двата типа предаване е:</a:t>
            </a:r>
          </a:p>
          <a:p>
            <a:pPr lvl="1"/>
            <a:r>
              <a:rPr lang="bg-BG" dirty="0"/>
              <a:t>Ако данните са предавани по референция – референцията, приемана от функцията става синоним на референцията на референтния тип, предаван на функцията.</a:t>
            </a:r>
          </a:p>
          <a:p>
            <a:pPr lvl="1"/>
            <a:endParaRPr lang="bg-BG" dirty="0"/>
          </a:p>
          <a:p>
            <a:pPr lvl="1"/>
            <a:r>
              <a:rPr lang="bg-BG" dirty="0"/>
              <a:t>Ако са предавани по стойност – референцията, приемана от функцията става копие на референцията на референтния тип, предаван на функцията, но и двата сочат към един и същ обект в </a:t>
            </a:r>
            <a:r>
              <a:rPr lang="bg-BG" dirty="0" err="1"/>
              <a:t>хийпа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36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7973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/>
              <a:t>Предаване на референтни типове по стойност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3139"/>
            <a:ext cx="10515600" cy="4129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  <a:endParaRPr lang="bg-BG" sz="2400" dirty="0"/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</a:t>
            </a:r>
            <a:r>
              <a:rPr lang="en-US" sz="2400" dirty="0" err="1"/>
              <a:t>int</a:t>
            </a:r>
            <a:r>
              <a:rPr lang="en-US" sz="2400" dirty="0"/>
              <a:t> a;</a:t>
            </a:r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void c (</a:t>
            </a:r>
            <a:r>
              <a:rPr lang="en-US" sz="2400" b="1" dirty="0">
                <a:solidFill>
                  <a:srgbClr val="FF0000"/>
                </a:solidFill>
              </a:rPr>
              <a:t>Base b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b.a</a:t>
            </a:r>
            <a:r>
              <a:rPr lang="en-US" sz="2400" dirty="0"/>
              <a:t> = 10;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729288" y="2143104"/>
            <a:ext cx="6229349" cy="43088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</a:t>
            </a:r>
            <a:r>
              <a:rPr lang="bg-BG" sz="2400" dirty="0"/>
              <a:t>   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 </a:t>
            </a:r>
            <a:r>
              <a:rPr lang="bg-BG" sz="2400" dirty="0"/>
              <a:t>       </a:t>
            </a:r>
            <a:r>
              <a:rPr lang="en-US" sz="2400" dirty="0"/>
              <a:t>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r>
              <a:rPr lang="en-US" sz="2400" dirty="0"/>
              <a:t>	      Base obj2 = new Base();</a:t>
            </a:r>
          </a:p>
          <a:p>
            <a:endParaRPr lang="en-US" sz="1200" dirty="0"/>
          </a:p>
          <a:p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     obj2.a = 2;</a:t>
            </a:r>
          </a:p>
          <a:p>
            <a:endParaRPr lang="en-US" sz="1200" dirty="0"/>
          </a:p>
          <a:p>
            <a:r>
              <a:rPr lang="en-US" sz="2400" dirty="0"/>
              <a:t>	      </a:t>
            </a:r>
            <a:r>
              <a:rPr lang="en-US" sz="2400" dirty="0" err="1"/>
              <a:t>obj.c</a:t>
            </a:r>
            <a:r>
              <a:rPr lang="en-US" sz="2400" dirty="0"/>
              <a:t>( </a:t>
            </a:r>
            <a:r>
              <a:rPr lang="en-US" sz="2400" b="1" dirty="0">
                <a:solidFill>
                  <a:srgbClr val="FF0000"/>
                </a:solidFill>
              </a:rPr>
              <a:t>obj2</a:t>
            </a:r>
            <a:r>
              <a:rPr lang="en-US" sz="2400" dirty="0"/>
              <a:t> );	</a:t>
            </a:r>
            <a:r>
              <a:rPr lang="en-US" sz="2400" b="1" dirty="0">
                <a:solidFill>
                  <a:srgbClr val="FF0000"/>
                </a:solidFill>
              </a:rPr>
              <a:t>//  obj2.a = 10</a:t>
            </a:r>
            <a:r>
              <a:rPr lang="en-US" sz="2400" dirty="0"/>
              <a:t>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2400" dirty="0"/>
              <a:t>            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080605" y="2143104"/>
            <a:ext cx="43846" cy="4555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239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93" y="527531"/>
            <a:ext cx="10144125" cy="1325563"/>
          </a:xfrm>
        </p:spPr>
        <p:txBody>
          <a:bodyPr>
            <a:normAutofit/>
          </a:bodyPr>
          <a:lstStyle/>
          <a:p>
            <a:r>
              <a:rPr lang="bg-BG" sz="4000" dirty="0"/>
              <a:t>Предаване на референтни типове по стойност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7091364" y="2543175"/>
            <a:ext cx="2366962" cy="355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/>
          <p:cNvSpPr/>
          <p:nvPr/>
        </p:nvSpPr>
        <p:spPr>
          <a:xfrm>
            <a:off x="2657476" y="2543175"/>
            <a:ext cx="2366962" cy="35575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/>
          <p:cNvSpPr txBox="1"/>
          <p:nvPr/>
        </p:nvSpPr>
        <p:spPr>
          <a:xfrm>
            <a:off x="2978900" y="3540731"/>
            <a:ext cx="17954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obj2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2788" y="3510513"/>
            <a:ext cx="17954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/>
              <a:t>Метаданни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412788" y="3967218"/>
            <a:ext cx="17954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774311" y="3611695"/>
            <a:ext cx="2638476" cy="129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78899" y="4109019"/>
            <a:ext cx="179541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</a:t>
            </a:r>
          </a:p>
        </p:txBody>
      </p:sp>
      <p:cxnSp>
        <p:nvCxnSpPr>
          <p:cNvPr id="14" name="Straight Arrow Connector 13"/>
          <p:cNvCxnSpPr>
            <a:endCxn id="8" idx="1"/>
          </p:cNvCxnSpPr>
          <p:nvPr/>
        </p:nvCxnSpPr>
        <p:spPr>
          <a:xfrm flipV="1">
            <a:off x="4774310" y="3741346"/>
            <a:ext cx="2638478" cy="6165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78899" y="2777416"/>
            <a:ext cx="1795412" cy="46166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/>
              <a:t>Стек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7412787" y="2777416"/>
            <a:ext cx="1795412" cy="46166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 err="1"/>
              <a:t>Хийп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521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307973"/>
            <a:ext cx="10887075" cy="1325563"/>
          </a:xfrm>
        </p:spPr>
        <p:txBody>
          <a:bodyPr>
            <a:normAutofit/>
          </a:bodyPr>
          <a:lstStyle/>
          <a:p>
            <a:r>
              <a:rPr lang="bg-BG" sz="4000" dirty="0"/>
              <a:t>Предаване на референтни типове по референция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3139"/>
            <a:ext cx="10515600" cy="4129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  <a:endParaRPr lang="bg-BG" sz="2400" dirty="0"/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</a:t>
            </a:r>
            <a:r>
              <a:rPr lang="en-US" sz="2400" dirty="0" err="1"/>
              <a:t>int</a:t>
            </a:r>
            <a:r>
              <a:rPr lang="en-US" sz="2400" dirty="0"/>
              <a:t> a;</a:t>
            </a:r>
          </a:p>
          <a:p>
            <a:pPr marL="0" indent="0">
              <a:buNone/>
            </a:pPr>
            <a:r>
              <a:rPr lang="bg-BG" sz="2400" dirty="0"/>
              <a:t>       </a:t>
            </a:r>
            <a:r>
              <a:rPr lang="en-US" sz="2400" dirty="0"/>
              <a:t>public void c (</a:t>
            </a:r>
            <a:r>
              <a:rPr lang="en-US" sz="2400" b="1" dirty="0">
                <a:solidFill>
                  <a:srgbClr val="FF0000"/>
                </a:solidFill>
              </a:rPr>
              <a:t>ref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Base b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bg-BG" sz="2400" dirty="0"/>
              <a:t>       </a:t>
            </a:r>
            <a:r>
              <a:rPr lang="en-US" sz="2400" dirty="0"/>
              <a:t> </a:t>
            </a:r>
            <a:r>
              <a:rPr lang="en-US" sz="2400" dirty="0" err="1"/>
              <a:t>b.a</a:t>
            </a:r>
            <a:r>
              <a:rPr lang="en-US" sz="2400" dirty="0"/>
              <a:t> = 10;   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729288" y="2143104"/>
            <a:ext cx="6229349" cy="43088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</a:t>
            </a:r>
            <a:r>
              <a:rPr lang="bg-BG" sz="2400" dirty="0"/>
              <a:t>   </a:t>
            </a:r>
            <a:r>
              <a:rPr lang="en-US" sz="2400" dirty="0"/>
              <a:t>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</a:t>
            </a:r>
            <a:r>
              <a:rPr lang="bg-BG" sz="2400" dirty="0"/>
              <a:t>   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 </a:t>
            </a:r>
            <a:r>
              <a:rPr lang="bg-BG" sz="2400" dirty="0"/>
              <a:t>       </a:t>
            </a:r>
            <a:r>
              <a:rPr lang="en-US" sz="2400" dirty="0"/>
              <a:t>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r>
              <a:rPr lang="en-US" sz="2400" dirty="0"/>
              <a:t>	      Base obj2 = new Base();</a:t>
            </a:r>
          </a:p>
          <a:p>
            <a:endParaRPr lang="en-US" sz="1200" dirty="0"/>
          </a:p>
          <a:p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     obj2.a = 2;</a:t>
            </a:r>
          </a:p>
          <a:p>
            <a:endParaRPr lang="en-US" sz="1200" dirty="0"/>
          </a:p>
          <a:p>
            <a:r>
              <a:rPr lang="en-US" sz="2400" dirty="0"/>
              <a:t>	      </a:t>
            </a:r>
            <a:r>
              <a:rPr lang="en-US" sz="2400" dirty="0" err="1"/>
              <a:t>obj.c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0000"/>
                </a:solidFill>
              </a:rPr>
              <a:t>ref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obj2</a:t>
            </a:r>
            <a:r>
              <a:rPr lang="en-US" sz="2400" dirty="0"/>
              <a:t> );	</a:t>
            </a:r>
            <a:r>
              <a:rPr lang="en-US" sz="2400" b="1" dirty="0">
                <a:solidFill>
                  <a:srgbClr val="FF0000"/>
                </a:solidFill>
              </a:rPr>
              <a:t>//  obj2.a = 10</a:t>
            </a:r>
            <a:r>
              <a:rPr lang="en-US" sz="2400" dirty="0"/>
              <a:t>;</a:t>
            </a:r>
          </a:p>
          <a:p>
            <a:r>
              <a:rPr lang="en-US" sz="1000" dirty="0"/>
              <a:t>            </a:t>
            </a:r>
          </a:p>
          <a:p>
            <a:r>
              <a:rPr lang="en-US" sz="2400" dirty="0"/>
              <a:t>            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080605" y="2143104"/>
            <a:ext cx="43846" cy="4555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340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62827" y="2657475"/>
            <a:ext cx="2352674" cy="3443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/>
          <p:cNvSpPr/>
          <p:nvPr/>
        </p:nvSpPr>
        <p:spPr>
          <a:xfrm>
            <a:off x="2928939" y="2657475"/>
            <a:ext cx="2352674" cy="3443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/>
          <p:cNvSpPr txBox="1"/>
          <p:nvPr/>
        </p:nvSpPr>
        <p:spPr>
          <a:xfrm>
            <a:off x="3184813" y="3556985"/>
            <a:ext cx="1784574" cy="4694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obj2</a:t>
            </a:r>
            <a:r>
              <a:rPr lang="bg-BG" sz="2400" dirty="0"/>
              <a:t> (</a:t>
            </a:r>
            <a:r>
              <a:rPr lang="en-US" sz="2400" dirty="0"/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8701" y="3528445"/>
            <a:ext cx="1784574" cy="4694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/>
              <a:t>Метаданни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618701" y="3997760"/>
            <a:ext cx="1784574" cy="46945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969386" y="3556985"/>
            <a:ext cx="2649314" cy="2326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4812" y="2850818"/>
            <a:ext cx="1784574" cy="46945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/>
              <a:t>Стек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7618700" y="2850818"/>
            <a:ext cx="1784574" cy="46945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sz="2400" dirty="0" err="1"/>
              <a:t>Хийп</a:t>
            </a:r>
            <a:endParaRPr lang="en-US" sz="2400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57225" y="307973"/>
            <a:ext cx="10887075" cy="1325563"/>
          </a:xfrm>
        </p:spPr>
        <p:txBody>
          <a:bodyPr>
            <a:normAutofit/>
          </a:bodyPr>
          <a:lstStyle/>
          <a:p>
            <a:r>
              <a:rPr lang="bg-BG" sz="4000" dirty="0"/>
              <a:t>Предаване на референтни типове по референция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82110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688" cy="1325563"/>
          </a:xfrm>
        </p:spPr>
        <p:txBody>
          <a:bodyPr/>
          <a:lstStyle/>
          <a:p>
            <a:r>
              <a:rPr lang="bg-BG" dirty="0"/>
              <a:t>Предаване на неограничен</a:t>
            </a:r>
            <a:br>
              <a:rPr lang="bg-BG" dirty="0"/>
            </a:br>
            <a:r>
              <a:rPr lang="bg-BG" dirty="0"/>
              <a:t>брой параметри</a:t>
            </a:r>
            <a:r>
              <a:rPr lang="en-US" dirty="0"/>
              <a:t> </a:t>
            </a:r>
            <a:r>
              <a:rPr lang="bg-BG" dirty="0"/>
              <a:t>към метод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888" y="2314575"/>
            <a:ext cx="9967912" cy="3862388"/>
          </a:xfrm>
        </p:spPr>
        <p:txBody>
          <a:bodyPr/>
          <a:lstStyle/>
          <a:p>
            <a:r>
              <a:rPr lang="bg-BG" dirty="0"/>
              <a:t>Също както при </a:t>
            </a:r>
            <a:r>
              <a:rPr lang="en-US" dirty="0"/>
              <a:t>C++, C# </a:t>
            </a:r>
            <a:r>
              <a:rPr lang="bg-BG" dirty="0"/>
              <a:t>позволява даден метод да приема неограничен брой параметри – параметрите са предварително не специфицирани</a:t>
            </a:r>
          </a:p>
          <a:p>
            <a:endParaRPr lang="bg-BG" dirty="0"/>
          </a:p>
          <a:p>
            <a:r>
              <a:rPr lang="bg-BG" dirty="0"/>
              <a:t>Необходимо е последният аргумент на метода да се маркира с модификатора </a:t>
            </a:r>
            <a:r>
              <a:rPr lang="en-US" b="1" dirty="0" err="1">
                <a:solidFill>
                  <a:srgbClr val="FF0000"/>
                </a:solidFill>
              </a:rPr>
              <a:t>params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82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688" cy="1325563"/>
          </a:xfrm>
        </p:spPr>
        <p:txBody>
          <a:bodyPr/>
          <a:lstStyle/>
          <a:p>
            <a:r>
              <a:rPr lang="bg-BG" dirty="0"/>
              <a:t>Предаване на неограничен</a:t>
            </a:r>
            <a:br>
              <a:rPr lang="bg-BG" dirty="0"/>
            </a:br>
            <a:r>
              <a:rPr lang="bg-BG" dirty="0"/>
              <a:t>брой параметри</a:t>
            </a:r>
            <a:r>
              <a:rPr lang="en-US" dirty="0"/>
              <a:t> </a:t>
            </a:r>
            <a:r>
              <a:rPr lang="bg-BG" dirty="0"/>
              <a:t>към метод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2014538"/>
            <a:ext cx="10696575" cy="4514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class Base</a:t>
            </a:r>
          </a:p>
          <a:p>
            <a:pPr marL="0" indent="0">
              <a:buNone/>
            </a:pPr>
            <a:r>
              <a:rPr lang="en-US" sz="2200" dirty="0"/>
              <a:t>{</a:t>
            </a:r>
          </a:p>
          <a:p>
            <a:pPr marL="457200" lvl="1" indent="0">
              <a:buNone/>
            </a:pPr>
            <a:r>
              <a:rPr lang="en-US" sz="2200" dirty="0"/>
              <a:t>    public </a:t>
            </a:r>
            <a:r>
              <a:rPr lang="en-US" sz="2200" dirty="0" err="1"/>
              <a:t>int</a:t>
            </a:r>
            <a:r>
              <a:rPr lang="en-US" sz="2200" dirty="0"/>
              <a:t> sum;</a:t>
            </a:r>
          </a:p>
          <a:p>
            <a:pPr marL="457200" lvl="1" indent="0">
              <a:buNone/>
            </a:pP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  public void </a:t>
            </a:r>
            <a:r>
              <a:rPr lang="en-US" sz="2200" dirty="0" err="1"/>
              <a:t>setSum</a:t>
            </a:r>
            <a:r>
              <a:rPr lang="en-US" sz="2200" dirty="0"/>
              <a:t>(</a:t>
            </a:r>
            <a:r>
              <a:rPr lang="en-US" sz="2200" b="1" dirty="0" err="1">
                <a:solidFill>
                  <a:srgbClr val="FF0000"/>
                </a:solidFill>
              </a:rPr>
              <a:t>params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int</a:t>
            </a:r>
            <a:r>
              <a:rPr lang="en-US" sz="2200" b="1" dirty="0">
                <a:solidFill>
                  <a:srgbClr val="FF0000"/>
                </a:solidFill>
              </a:rPr>
              <a:t>[] </a:t>
            </a:r>
            <a:r>
              <a:rPr lang="en-US" sz="2200" b="1" dirty="0" err="1">
                <a:solidFill>
                  <a:srgbClr val="FF0000"/>
                </a:solidFill>
              </a:rPr>
              <a:t>arr</a:t>
            </a:r>
            <a:r>
              <a:rPr lang="en-US" sz="2200" dirty="0"/>
              <a:t>)</a:t>
            </a:r>
          </a:p>
          <a:p>
            <a:pPr marL="457200" lvl="1" indent="0">
              <a:buNone/>
            </a:pPr>
            <a:r>
              <a:rPr lang="en-US" sz="2200" dirty="0"/>
              <a:t>    {</a:t>
            </a:r>
          </a:p>
          <a:p>
            <a:pPr marL="914400" lvl="2" indent="0">
              <a:buNone/>
            </a:pPr>
            <a:r>
              <a:rPr lang="nn-NO" sz="2200" dirty="0"/>
              <a:t>        for (int i = 0; i &lt; arr.Length; i++)</a:t>
            </a:r>
          </a:p>
          <a:p>
            <a:pPr marL="914400" lvl="2" indent="0">
              <a:buNone/>
            </a:pPr>
            <a:r>
              <a:rPr lang="en-US" sz="2200" dirty="0"/>
              <a:t>        {</a:t>
            </a:r>
          </a:p>
          <a:p>
            <a:pPr marL="914400" lvl="2" indent="0">
              <a:buNone/>
            </a:pPr>
            <a:r>
              <a:rPr lang="en-US" sz="2200" dirty="0"/>
              <a:t>            sum += 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 err="1"/>
              <a:t>i</a:t>
            </a:r>
            <a:r>
              <a:rPr lang="en-US" sz="2200" dirty="0"/>
              <a:t>];</a:t>
            </a:r>
          </a:p>
          <a:p>
            <a:pPr marL="914400" lvl="2" indent="0">
              <a:buNone/>
            </a:pPr>
            <a:r>
              <a:rPr lang="en-US" sz="2200" dirty="0"/>
              <a:t>        }</a:t>
            </a:r>
          </a:p>
          <a:p>
            <a:pPr marL="457200" lvl="1" indent="0">
              <a:buNone/>
            </a:pPr>
            <a:r>
              <a:rPr lang="en-US" sz="2200" dirty="0"/>
              <a:t>    }</a:t>
            </a:r>
          </a:p>
          <a:p>
            <a:pPr marL="0" indent="0">
              <a:buNone/>
            </a:pPr>
            <a:r>
              <a:rPr lang="en-US" sz="2200" dirty="0"/>
              <a:t>}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3619" y="2014538"/>
            <a:ext cx="5886449" cy="38164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class Program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    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{</a:t>
            </a:r>
          </a:p>
          <a:p>
            <a:r>
              <a:rPr lang="en-US" sz="2200" dirty="0"/>
              <a:t>                Base </a:t>
            </a:r>
            <a:r>
              <a:rPr lang="en-US" sz="2200" dirty="0" err="1"/>
              <a:t>obj</a:t>
            </a:r>
            <a:r>
              <a:rPr lang="en-US" sz="2200" dirty="0"/>
              <a:t> = new Base()</a:t>
            </a:r>
            <a:r>
              <a:rPr lang="bg-BG" sz="2200" dirty="0"/>
              <a:t>;</a:t>
            </a:r>
          </a:p>
          <a:p>
            <a:endParaRPr lang="en-US" sz="2200" dirty="0"/>
          </a:p>
          <a:p>
            <a:r>
              <a:rPr lang="en-US" sz="2200" dirty="0"/>
              <a:t>                </a:t>
            </a:r>
            <a:r>
              <a:rPr lang="en-US" sz="2200" b="1" dirty="0" err="1">
                <a:solidFill>
                  <a:srgbClr val="FF0000"/>
                </a:solidFill>
              </a:rPr>
              <a:t>obj.setSum</a:t>
            </a:r>
            <a:r>
              <a:rPr lang="en-US" sz="2200" b="1" dirty="0">
                <a:solidFill>
                  <a:srgbClr val="FF0000"/>
                </a:solidFill>
              </a:rPr>
              <a:t>(1,2,3);</a:t>
            </a:r>
          </a:p>
          <a:p>
            <a:endParaRPr lang="en-US" sz="2200" dirty="0"/>
          </a:p>
          <a:p>
            <a:r>
              <a:rPr lang="en-US" sz="2200" dirty="0"/>
              <a:t>                </a:t>
            </a:r>
            <a:r>
              <a:rPr lang="en-US" sz="2200" dirty="0" err="1"/>
              <a:t>Console.WriteLine</a:t>
            </a:r>
            <a:r>
              <a:rPr lang="en-US" sz="2200" dirty="0"/>
              <a:t>(</a:t>
            </a:r>
            <a:r>
              <a:rPr lang="en-US" sz="2200" dirty="0" err="1"/>
              <a:t>obj.sum</a:t>
            </a:r>
            <a:r>
              <a:rPr lang="en-US" sz="2200" dirty="0"/>
              <a:t>);</a:t>
            </a:r>
            <a:r>
              <a:rPr lang="bg-BG" sz="2200" dirty="0"/>
              <a:t>  </a:t>
            </a:r>
            <a:r>
              <a:rPr lang="bg-BG" sz="2200" b="1" dirty="0">
                <a:solidFill>
                  <a:srgbClr val="FF0000"/>
                </a:solidFill>
              </a:rPr>
              <a:t>// </a:t>
            </a:r>
            <a:r>
              <a:rPr lang="en-US" sz="2200" b="1" dirty="0">
                <a:solidFill>
                  <a:srgbClr val="FF0000"/>
                </a:solidFill>
              </a:rPr>
              <a:t>sum=6</a:t>
            </a:r>
          </a:p>
          <a:p>
            <a:r>
              <a:rPr lang="en-US" sz="2200" dirty="0"/>
              <a:t>        }</a:t>
            </a:r>
          </a:p>
          <a:p>
            <a:r>
              <a:rPr lang="en-US" sz="22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09277" y="2143104"/>
            <a:ext cx="43846" cy="4555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091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688" cy="1325563"/>
          </a:xfrm>
        </p:spPr>
        <p:txBody>
          <a:bodyPr/>
          <a:lstStyle/>
          <a:p>
            <a:r>
              <a:rPr lang="bg-BG" dirty="0"/>
              <a:t>Предаване на неограничен</a:t>
            </a:r>
            <a:br>
              <a:rPr lang="bg-BG" dirty="0"/>
            </a:br>
            <a:r>
              <a:rPr lang="bg-BG" dirty="0"/>
              <a:t>брой параметри</a:t>
            </a:r>
            <a:r>
              <a:rPr lang="en-US" dirty="0"/>
              <a:t> </a:t>
            </a:r>
            <a:r>
              <a:rPr lang="bg-BG" dirty="0"/>
              <a:t>към метод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2014538"/>
            <a:ext cx="10696575" cy="4514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class Base</a:t>
            </a:r>
          </a:p>
          <a:p>
            <a:pPr marL="0" indent="0">
              <a:buNone/>
            </a:pPr>
            <a:r>
              <a:rPr lang="en-US" sz="2200" dirty="0"/>
              <a:t>{</a:t>
            </a:r>
          </a:p>
          <a:p>
            <a:pPr marL="457200" lvl="1" indent="0">
              <a:buNone/>
            </a:pPr>
            <a:r>
              <a:rPr lang="en-US" sz="2200" dirty="0"/>
              <a:t>    public </a:t>
            </a:r>
            <a:r>
              <a:rPr lang="en-US" sz="2200" dirty="0" err="1"/>
              <a:t>int</a:t>
            </a:r>
            <a:r>
              <a:rPr lang="en-US" sz="2200" dirty="0"/>
              <a:t> sum;</a:t>
            </a:r>
          </a:p>
          <a:p>
            <a:pPr marL="457200" lvl="1" indent="0">
              <a:buNone/>
            </a:pPr>
            <a:endParaRPr lang="en-US" sz="2200" dirty="0"/>
          </a:p>
          <a:p>
            <a:pPr marL="457200" lvl="1" indent="0">
              <a:buNone/>
            </a:pPr>
            <a:r>
              <a:rPr lang="en-US" sz="2200" dirty="0"/>
              <a:t>    public void </a:t>
            </a:r>
            <a:r>
              <a:rPr lang="en-US" sz="2200" dirty="0" err="1"/>
              <a:t>setSum</a:t>
            </a:r>
            <a:r>
              <a:rPr lang="en-US" sz="2200" dirty="0"/>
              <a:t>(</a:t>
            </a:r>
            <a:r>
              <a:rPr lang="en-US" sz="2200" b="1" dirty="0" err="1">
                <a:solidFill>
                  <a:srgbClr val="FF0000"/>
                </a:solidFill>
              </a:rPr>
              <a:t>params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int</a:t>
            </a:r>
            <a:r>
              <a:rPr lang="en-US" sz="2200" b="1" dirty="0">
                <a:solidFill>
                  <a:srgbClr val="FF0000"/>
                </a:solidFill>
              </a:rPr>
              <a:t>[] </a:t>
            </a:r>
            <a:r>
              <a:rPr lang="en-US" sz="2200" b="1" dirty="0" err="1">
                <a:solidFill>
                  <a:srgbClr val="FF0000"/>
                </a:solidFill>
              </a:rPr>
              <a:t>arr</a:t>
            </a:r>
            <a:r>
              <a:rPr lang="en-US" sz="2200" dirty="0"/>
              <a:t>)</a:t>
            </a:r>
          </a:p>
          <a:p>
            <a:pPr marL="457200" lvl="1" indent="0">
              <a:buNone/>
            </a:pPr>
            <a:r>
              <a:rPr lang="en-US" sz="2200" dirty="0"/>
              <a:t>    {</a:t>
            </a:r>
          </a:p>
          <a:p>
            <a:pPr marL="914400" lvl="2" indent="0">
              <a:buNone/>
            </a:pPr>
            <a:r>
              <a:rPr lang="nn-NO" sz="2200" dirty="0"/>
              <a:t>        for (int i = 0; i &lt; arr.Length; i++)</a:t>
            </a:r>
          </a:p>
          <a:p>
            <a:pPr marL="914400" lvl="2" indent="0">
              <a:buNone/>
            </a:pPr>
            <a:r>
              <a:rPr lang="en-US" sz="2200" dirty="0"/>
              <a:t>        {</a:t>
            </a:r>
          </a:p>
          <a:p>
            <a:pPr marL="914400" lvl="2" indent="0">
              <a:buNone/>
            </a:pPr>
            <a:r>
              <a:rPr lang="en-US" sz="2200" dirty="0"/>
              <a:t>            sum += </a:t>
            </a:r>
            <a:r>
              <a:rPr lang="en-US" sz="2200" dirty="0" err="1"/>
              <a:t>arr</a:t>
            </a:r>
            <a:r>
              <a:rPr lang="en-US" sz="2200" dirty="0"/>
              <a:t>[</a:t>
            </a:r>
            <a:r>
              <a:rPr lang="en-US" sz="2200" dirty="0" err="1"/>
              <a:t>i</a:t>
            </a:r>
            <a:r>
              <a:rPr lang="en-US" sz="2200" dirty="0"/>
              <a:t>];</a:t>
            </a:r>
          </a:p>
          <a:p>
            <a:pPr marL="914400" lvl="2" indent="0">
              <a:buNone/>
            </a:pPr>
            <a:r>
              <a:rPr lang="en-US" sz="2200" dirty="0"/>
              <a:t>        }</a:t>
            </a:r>
          </a:p>
          <a:p>
            <a:pPr marL="457200" lvl="1" indent="0">
              <a:buNone/>
            </a:pPr>
            <a:r>
              <a:rPr lang="en-US" sz="2200" dirty="0"/>
              <a:t>    }</a:t>
            </a:r>
          </a:p>
          <a:p>
            <a:pPr marL="0" indent="0">
              <a:buNone/>
            </a:pPr>
            <a:r>
              <a:rPr lang="en-US" sz="2200" dirty="0"/>
              <a:t>}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3619" y="2014538"/>
            <a:ext cx="5886449" cy="44935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class Program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    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{</a:t>
            </a:r>
          </a:p>
          <a:p>
            <a:r>
              <a:rPr lang="en-US" sz="2200" dirty="0"/>
              <a:t>                Base </a:t>
            </a:r>
            <a:r>
              <a:rPr lang="en-US" sz="2200" dirty="0" err="1"/>
              <a:t>obj</a:t>
            </a:r>
            <a:r>
              <a:rPr lang="en-US" sz="2200" dirty="0"/>
              <a:t> = new Base()</a:t>
            </a:r>
            <a:r>
              <a:rPr lang="bg-BG" sz="2200" dirty="0"/>
              <a:t>;</a:t>
            </a:r>
            <a:endParaRPr lang="en-US" sz="2200" dirty="0"/>
          </a:p>
          <a:p>
            <a:endParaRPr lang="bg-BG" sz="2200" dirty="0"/>
          </a:p>
          <a:p>
            <a:r>
              <a:rPr lang="en-US" sz="2200" dirty="0"/>
              <a:t>	</a:t>
            </a:r>
            <a:r>
              <a:rPr lang="en-US" sz="2200" b="1" dirty="0">
                <a:solidFill>
                  <a:srgbClr val="FF0000"/>
                </a:solidFill>
              </a:rPr>
              <a:t>  </a:t>
            </a:r>
            <a:r>
              <a:rPr lang="en-US" sz="2200" b="1" dirty="0" err="1">
                <a:solidFill>
                  <a:srgbClr val="FF0000"/>
                </a:solidFill>
              </a:rPr>
              <a:t>int</a:t>
            </a:r>
            <a:r>
              <a:rPr lang="en-US" sz="2200" b="1" dirty="0">
                <a:solidFill>
                  <a:srgbClr val="FF0000"/>
                </a:solidFill>
              </a:rPr>
              <a:t>[] a = { 1, 2, 3 };</a:t>
            </a:r>
          </a:p>
          <a:p>
            <a:r>
              <a:rPr lang="en-US" sz="2200" dirty="0"/>
              <a:t>                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	   </a:t>
            </a:r>
            <a:r>
              <a:rPr lang="en-US" sz="2200" b="1" dirty="0" err="1">
                <a:solidFill>
                  <a:srgbClr val="FF0000"/>
                </a:solidFill>
              </a:rPr>
              <a:t>obj.setSum</a:t>
            </a:r>
            <a:r>
              <a:rPr lang="en-US" sz="2200" b="1" dirty="0">
                <a:solidFill>
                  <a:srgbClr val="FF0000"/>
                </a:solidFill>
              </a:rPr>
              <a:t>(a);</a:t>
            </a:r>
          </a:p>
          <a:p>
            <a:endParaRPr lang="en-US" sz="2200" dirty="0"/>
          </a:p>
          <a:p>
            <a:r>
              <a:rPr lang="en-US" sz="2200" dirty="0"/>
              <a:t>                </a:t>
            </a:r>
            <a:r>
              <a:rPr lang="en-US" sz="2200" dirty="0" err="1"/>
              <a:t>Console.WriteLine</a:t>
            </a:r>
            <a:r>
              <a:rPr lang="en-US" sz="2200" dirty="0"/>
              <a:t>(</a:t>
            </a:r>
            <a:r>
              <a:rPr lang="en-US" sz="2200" dirty="0" err="1"/>
              <a:t>obj.sum</a:t>
            </a:r>
            <a:r>
              <a:rPr lang="en-US" sz="2200" dirty="0"/>
              <a:t>);</a:t>
            </a:r>
            <a:r>
              <a:rPr lang="bg-BG" sz="2200" dirty="0"/>
              <a:t>  </a:t>
            </a:r>
            <a:r>
              <a:rPr lang="bg-BG" sz="2200" b="1" dirty="0">
                <a:solidFill>
                  <a:srgbClr val="FF0000"/>
                </a:solidFill>
              </a:rPr>
              <a:t>// </a:t>
            </a:r>
            <a:r>
              <a:rPr lang="en-US" sz="2200" b="1" dirty="0">
                <a:solidFill>
                  <a:srgbClr val="FF0000"/>
                </a:solidFill>
              </a:rPr>
              <a:t>sum=6</a:t>
            </a:r>
          </a:p>
          <a:p>
            <a:r>
              <a:rPr lang="en-US" sz="2200" dirty="0"/>
              <a:t>        }</a:t>
            </a:r>
          </a:p>
          <a:p>
            <a:r>
              <a:rPr lang="en-US" sz="22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909277" y="2143104"/>
            <a:ext cx="43846" cy="4555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04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Параметри по подразбиране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При декларацията на методите могат да се зададат стойности на параметрите, които да се използват по подразбиране.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class Base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   public void print(</a:t>
            </a:r>
            <a:r>
              <a:rPr lang="en-US" sz="2400" dirty="0" err="1"/>
              <a:t>int</a:t>
            </a:r>
            <a:r>
              <a:rPr lang="en-US" sz="2400" dirty="0"/>
              <a:t> a=1, </a:t>
            </a:r>
            <a:r>
              <a:rPr lang="en-US" sz="2400" dirty="0" err="1"/>
              <a:t>int</a:t>
            </a:r>
            <a:r>
              <a:rPr lang="en-US" sz="2400" dirty="0"/>
              <a:t> b=2)</a:t>
            </a:r>
          </a:p>
          <a:p>
            <a:pPr marL="0" indent="0">
              <a:buNone/>
            </a:pPr>
            <a:r>
              <a:rPr lang="en-US" sz="2400" dirty="0"/>
              <a:t>       {</a:t>
            </a:r>
          </a:p>
          <a:p>
            <a:pPr marL="0" indent="0">
              <a:buNone/>
            </a:pPr>
            <a:r>
              <a:rPr lang="en-US" sz="2400" dirty="0"/>
              <a:t>               // print a, b, c   </a:t>
            </a:r>
          </a:p>
          <a:p>
            <a:pPr marL="0" indent="0">
              <a:buNone/>
            </a:pPr>
            <a:r>
              <a:rPr lang="en-US" sz="2400" dirty="0"/>
              <a:t>   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7938" y="2871794"/>
            <a:ext cx="5672130" cy="386259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{</a:t>
            </a:r>
          </a:p>
          <a:p>
            <a:r>
              <a:rPr lang="en-US" sz="2400" dirty="0"/>
              <a:t>                </a:t>
            </a:r>
            <a:r>
              <a:rPr lang="bg-BG" sz="2400" dirty="0"/>
              <a:t>    </a:t>
            </a:r>
            <a:r>
              <a:rPr lang="en-US" sz="2400" dirty="0"/>
              <a:t>Base </a:t>
            </a:r>
            <a:r>
              <a:rPr lang="en-US" sz="2400" dirty="0" err="1"/>
              <a:t>obj</a:t>
            </a:r>
            <a:r>
              <a:rPr lang="en-US" sz="2400" dirty="0"/>
              <a:t> = new Base()</a:t>
            </a:r>
            <a:r>
              <a:rPr lang="bg-BG" sz="2400" dirty="0"/>
              <a:t>;</a:t>
            </a:r>
            <a:endParaRPr lang="en-US" sz="2400" dirty="0"/>
          </a:p>
          <a:p>
            <a:endParaRPr lang="bg-BG" sz="1100" dirty="0"/>
          </a:p>
          <a:p>
            <a:r>
              <a:rPr lang="en-US" sz="2400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  </a:t>
            </a:r>
            <a:r>
              <a:rPr lang="bg-BG" sz="2400" b="1" dirty="0">
                <a:solidFill>
                  <a:srgbClr val="FF0000"/>
                </a:solidFill>
              </a:rPr>
              <a:t>    </a:t>
            </a:r>
            <a:r>
              <a:rPr lang="en-US" sz="2400" dirty="0" err="1"/>
              <a:t>obj.print</a:t>
            </a:r>
            <a:r>
              <a:rPr lang="en-US" sz="2400" dirty="0"/>
              <a:t>(10);</a:t>
            </a:r>
            <a:r>
              <a:rPr lang="bg-BG" sz="2400" dirty="0"/>
              <a:t>	// </a:t>
            </a:r>
            <a:r>
              <a:rPr lang="bg-BG" sz="2400" b="1" dirty="0">
                <a:solidFill>
                  <a:srgbClr val="FF0000"/>
                </a:solidFill>
              </a:rPr>
              <a:t>а=10</a:t>
            </a:r>
            <a:r>
              <a:rPr lang="en-US" sz="2400" dirty="0"/>
              <a:t>, b=2</a:t>
            </a:r>
          </a:p>
          <a:p>
            <a:endParaRPr lang="en-US" sz="1100" dirty="0"/>
          </a:p>
          <a:p>
            <a:r>
              <a:rPr lang="en-US" sz="2400" dirty="0"/>
              <a:t>            </a:t>
            </a:r>
            <a:r>
              <a:rPr lang="bg-BG" sz="2400" dirty="0"/>
              <a:t>	      </a:t>
            </a:r>
            <a:r>
              <a:rPr lang="en-US" sz="2400" dirty="0" err="1"/>
              <a:t>obj.print</a:t>
            </a:r>
            <a:r>
              <a:rPr lang="en-US" sz="2400" dirty="0"/>
              <a:t>(b: 15);</a:t>
            </a:r>
            <a:r>
              <a:rPr lang="bg-BG" sz="2400" dirty="0"/>
              <a:t>	// </a:t>
            </a:r>
            <a:r>
              <a:rPr lang="en-US" sz="2400" dirty="0"/>
              <a:t>a=1, </a:t>
            </a:r>
            <a:r>
              <a:rPr lang="en-US" sz="2400" b="1" dirty="0">
                <a:solidFill>
                  <a:srgbClr val="FF0000"/>
                </a:solidFill>
              </a:rPr>
              <a:t>b=15</a:t>
            </a:r>
          </a:p>
          <a:p>
            <a:r>
              <a:rPr lang="en-US" sz="2400" dirty="0"/>
              <a:t>        }</a:t>
            </a:r>
          </a:p>
          <a:p>
            <a:r>
              <a:rPr lang="en-US" sz="24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815009" y="2871794"/>
            <a:ext cx="38098" cy="3826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849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65125"/>
            <a:ext cx="11215687" cy="1325563"/>
          </a:xfrm>
        </p:spPr>
        <p:txBody>
          <a:bodyPr/>
          <a:lstStyle/>
          <a:p>
            <a:r>
              <a:rPr lang="bg-BG" dirty="0"/>
              <a:t>Свойства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4549"/>
            <a:ext cx="10515600" cy="4062413"/>
          </a:xfrm>
        </p:spPr>
        <p:txBody>
          <a:bodyPr>
            <a:normAutofit/>
          </a:bodyPr>
          <a:lstStyle/>
          <a:p>
            <a:r>
              <a:rPr lang="bg-BG" sz="2400" dirty="0"/>
              <a:t>Освен </a:t>
            </a:r>
            <a:r>
              <a:rPr lang="bg-BG" sz="2400" dirty="0">
                <a:solidFill>
                  <a:srgbClr val="FF0000"/>
                </a:solidFill>
              </a:rPr>
              <a:t>методи</a:t>
            </a:r>
            <a:r>
              <a:rPr lang="bg-BG" sz="2400" dirty="0"/>
              <a:t> и </a:t>
            </a:r>
            <a:r>
              <a:rPr lang="bg-BG" sz="2400" dirty="0">
                <a:solidFill>
                  <a:srgbClr val="FF0000"/>
                </a:solidFill>
              </a:rPr>
              <a:t>полета</a:t>
            </a:r>
            <a:r>
              <a:rPr lang="bg-BG" sz="2400" dirty="0"/>
              <a:t> (променливи) средата за изпълнение на общия език </a:t>
            </a:r>
            <a:r>
              <a:rPr lang="en-US" sz="2400" dirty="0"/>
              <a:t>(CLR)</a:t>
            </a:r>
            <a:r>
              <a:rPr lang="bg-BG" sz="2400" dirty="0"/>
              <a:t> въвежда и </a:t>
            </a:r>
            <a:r>
              <a:rPr lang="bg-BG" sz="2400" dirty="0">
                <a:solidFill>
                  <a:srgbClr val="FF0000"/>
                </a:solidFill>
              </a:rPr>
              <a:t>свойствата</a:t>
            </a:r>
            <a:r>
              <a:rPr lang="bg-BG" sz="2400" dirty="0"/>
              <a:t>.</a:t>
            </a:r>
          </a:p>
          <a:p>
            <a:endParaRPr lang="bg-BG" sz="2400" dirty="0"/>
          </a:p>
          <a:p>
            <a:r>
              <a:rPr lang="bg-BG" sz="2400" dirty="0"/>
              <a:t>Съществуват няколко вида свойства:</a:t>
            </a:r>
          </a:p>
          <a:p>
            <a:pPr lvl="1"/>
            <a:r>
              <a:rPr lang="bg-BG" dirty="0" err="1"/>
              <a:t>Безпараметърни</a:t>
            </a:r>
            <a:r>
              <a:rPr lang="bg-BG" dirty="0"/>
              <a:t> свойства – наричани само </a:t>
            </a:r>
            <a:r>
              <a:rPr lang="bg-BG" b="1" dirty="0">
                <a:solidFill>
                  <a:srgbClr val="FF0000"/>
                </a:solidFill>
              </a:rPr>
              <a:t>свойства</a:t>
            </a:r>
          </a:p>
          <a:p>
            <a:pPr lvl="1"/>
            <a:r>
              <a:rPr lang="bg-BG" dirty="0" err="1"/>
              <a:t>Параметърни</a:t>
            </a:r>
            <a:r>
              <a:rPr lang="bg-BG" dirty="0"/>
              <a:t> свойства – В С</a:t>
            </a:r>
            <a:r>
              <a:rPr lang="en-US" dirty="0"/>
              <a:t>#</a:t>
            </a:r>
            <a:r>
              <a:rPr lang="bg-BG" dirty="0"/>
              <a:t> се наричат </a:t>
            </a:r>
            <a:r>
              <a:rPr lang="bg-BG" b="1" dirty="0" err="1">
                <a:solidFill>
                  <a:srgbClr val="FF0000"/>
                </a:solidFill>
              </a:rPr>
              <a:t>индексатори</a:t>
            </a:r>
            <a:endParaRPr lang="bg-B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623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Свойства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174" y="1825625"/>
            <a:ext cx="9953625" cy="4351338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Свойствата позволяват извикването на методи с опростен синтаксис</a:t>
            </a:r>
          </a:p>
          <a:p>
            <a:endParaRPr lang="bg-BG" dirty="0"/>
          </a:p>
          <a:p>
            <a:r>
              <a:rPr lang="bg-BG" dirty="0"/>
              <a:t>Свойствата притежават </a:t>
            </a:r>
            <a:r>
              <a:rPr lang="en-US" dirty="0"/>
              <a:t>get</a:t>
            </a:r>
            <a:r>
              <a:rPr lang="bg-BG" dirty="0"/>
              <a:t> и </a:t>
            </a:r>
            <a:r>
              <a:rPr lang="en-US" dirty="0"/>
              <a:t>set </a:t>
            </a:r>
            <a:r>
              <a:rPr lang="bg-BG" dirty="0"/>
              <a:t>методи за достъп или наричани още </a:t>
            </a:r>
            <a:r>
              <a:rPr lang="bg-BG" dirty="0" err="1"/>
              <a:t>аксесори</a:t>
            </a:r>
            <a:r>
              <a:rPr lang="bg-BG" dirty="0"/>
              <a:t> (от </a:t>
            </a:r>
            <a:r>
              <a:rPr lang="bg-BG" dirty="0" err="1"/>
              <a:t>анг</a:t>
            </a:r>
            <a:r>
              <a:rPr lang="bg-BG" dirty="0"/>
              <a:t>. </a:t>
            </a:r>
            <a:r>
              <a:rPr lang="en-US" dirty="0" err="1"/>
              <a:t>accessor</a:t>
            </a:r>
            <a:r>
              <a:rPr lang="en-US" dirty="0"/>
              <a:t>). get </a:t>
            </a:r>
            <a:r>
              <a:rPr lang="bg-BG" dirty="0" err="1"/>
              <a:t>аксесора</a:t>
            </a:r>
            <a:r>
              <a:rPr lang="bg-BG" dirty="0"/>
              <a:t> позволява да бъде извлечена стойността на свойството, а </a:t>
            </a:r>
            <a:r>
              <a:rPr lang="en-US" dirty="0"/>
              <a:t>set</a:t>
            </a:r>
            <a:r>
              <a:rPr lang="bg-BG" dirty="0"/>
              <a:t> </a:t>
            </a:r>
            <a:r>
              <a:rPr lang="bg-BG" dirty="0" err="1"/>
              <a:t>аксесора</a:t>
            </a:r>
            <a:r>
              <a:rPr lang="bg-BG" dirty="0"/>
              <a:t> да му бъде зададена нова стойност.</a:t>
            </a:r>
          </a:p>
          <a:p>
            <a:endParaRPr lang="bg-BG" dirty="0"/>
          </a:p>
          <a:p>
            <a:r>
              <a:rPr lang="en-US" dirty="0"/>
              <a:t>set </a:t>
            </a:r>
            <a:r>
              <a:rPr lang="bg-BG" dirty="0"/>
              <a:t>притежава ключовата дума </a:t>
            </a:r>
            <a:r>
              <a:rPr lang="en-US" dirty="0"/>
              <a:t>value</a:t>
            </a:r>
            <a:r>
              <a:rPr lang="bg-BG" dirty="0"/>
              <a:t>, която показва стойността предавана през </a:t>
            </a:r>
            <a:r>
              <a:rPr lang="en-US" dirty="0"/>
              <a:t>set</a:t>
            </a:r>
            <a:r>
              <a:rPr lang="bg-BG" dirty="0"/>
              <a:t> </a:t>
            </a:r>
            <a:r>
              <a:rPr lang="bg-BG" dirty="0" err="1"/>
              <a:t>аксесора</a:t>
            </a:r>
            <a:endParaRPr lang="bg-BG" dirty="0"/>
          </a:p>
          <a:p>
            <a:endParaRPr lang="bg-BG" dirty="0"/>
          </a:p>
          <a:p>
            <a:r>
              <a:rPr lang="bg-BG" dirty="0"/>
              <a:t>Не е задължително свойствата да имплементират и двата </a:t>
            </a:r>
            <a:r>
              <a:rPr lang="bg-BG" dirty="0" err="1"/>
              <a:t>аксесора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22690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Свойства (</a:t>
            </a:r>
            <a:r>
              <a:rPr lang="bg-BG" dirty="0" err="1"/>
              <a:t>Безпараметърни</a:t>
            </a:r>
            <a:r>
              <a:rPr lang="bg-BG" dirty="0"/>
              <a:t> свойства)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44716"/>
            <a:ext cx="10748963" cy="5041822"/>
          </a:xfrm>
        </p:spPr>
        <p:txBody>
          <a:bodyPr>
            <a:normAutofit fontScale="92500"/>
          </a:bodyPr>
          <a:lstStyle/>
          <a:p>
            <a:r>
              <a:rPr lang="bg-BG" dirty="0"/>
              <a:t>За външния свят свойствата изглеждат като полета (променливи), но вътрешно съдържат логика като методи.</a:t>
            </a:r>
          </a:p>
          <a:p>
            <a:endParaRPr lang="bg-BG" dirty="0"/>
          </a:p>
          <a:p>
            <a:r>
              <a:rPr lang="bg-BG" dirty="0"/>
              <a:t>Когато няма нужда от допълнителна логика при </a:t>
            </a:r>
            <a:r>
              <a:rPr lang="en-US" dirty="0"/>
              <a:t>get</a:t>
            </a:r>
            <a:r>
              <a:rPr lang="bg-BG" dirty="0"/>
              <a:t> и </a:t>
            </a:r>
            <a:r>
              <a:rPr lang="en-US" dirty="0"/>
              <a:t>set</a:t>
            </a:r>
            <a:r>
              <a:rPr lang="bg-BG" dirty="0"/>
              <a:t> </a:t>
            </a:r>
            <a:r>
              <a:rPr lang="bg-BG" dirty="0" err="1"/>
              <a:t>аксесорите</a:t>
            </a:r>
            <a:r>
              <a:rPr lang="bg-BG" dirty="0"/>
              <a:t>, може да се използва и съкратен вариант на записване на свойството:</a:t>
            </a:r>
          </a:p>
          <a:p>
            <a:endParaRPr lang="bg-BG" dirty="0"/>
          </a:p>
          <a:p>
            <a:pPr marL="457200" lvl="1" indent="0">
              <a:buNone/>
            </a:pPr>
            <a:r>
              <a:rPr lang="en-US" sz="2600" dirty="0"/>
              <a:t>class Human</a:t>
            </a:r>
          </a:p>
          <a:p>
            <a:pPr marL="457200" lvl="1" indent="0">
              <a:buNone/>
            </a:pPr>
            <a:r>
              <a:rPr lang="en-US" sz="2600" dirty="0"/>
              <a:t>{</a:t>
            </a:r>
          </a:p>
          <a:p>
            <a:pPr marL="914400" lvl="2" indent="0">
              <a:buNone/>
            </a:pPr>
            <a:r>
              <a:rPr lang="en-US" sz="2600" dirty="0"/>
              <a:t> public  String  Name  {  get;  }    </a:t>
            </a:r>
          </a:p>
          <a:p>
            <a:pPr marL="914400" lvl="2" indent="0">
              <a:buNone/>
            </a:pPr>
            <a:endParaRPr lang="en-US" sz="2600" dirty="0"/>
          </a:p>
          <a:p>
            <a:pPr marL="914400" lvl="2" indent="0">
              <a:buNone/>
            </a:pPr>
            <a:r>
              <a:rPr lang="en-US" sz="2600" dirty="0"/>
              <a:t> public  </a:t>
            </a:r>
            <a:r>
              <a:rPr lang="en-US" sz="2600" dirty="0" err="1"/>
              <a:t>int</a:t>
            </a:r>
            <a:r>
              <a:rPr lang="en-US" sz="2600" dirty="0"/>
              <a:t>  Age  {  get;   set;   }</a:t>
            </a:r>
          </a:p>
          <a:p>
            <a:pPr marL="457200" lvl="1" indent="0">
              <a:buNone/>
            </a:pPr>
            <a:r>
              <a:rPr lang="en-US" sz="2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814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16" y="365125"/>
            <a:ext cx="10515600" cy="1325563"/>
          </a:xfrm>
        </p:spPr>
        <p:txBody>
          <a:bodyPr/>
          <a:lstStyle/>
          <a:p>
            <a:r>
              <a:rPr lang="bg-BG" dirty="0"/>
              <a:t>Свойства (</a:t>
            </a:r>
            <a:r>
              <a:rPr lang="bg-BG" dirty="0" err="1"/>
              <a:t>Безпараметърни</a:t>
            </a:r>
            <a:r>
              <a:rPr lang="bg-BG" dirty="0"/>
              <a:t> свойства)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434" y="1825625"/>
            <a:ext cx="5176838" cy="4351338"/>
          </a:xfrm>
        </p:spPr>
        <p:txBody>
          <a:bodyPr>
            <a:normAutofit/>
          </a:bodyPr>
          <a:lstStyle/>
          <a:p>
            <a:r>
              <a:rPr lang="bg-BG" dirty="0"/>
              <a:t>Пример:</a:t>
            </a:r>
            <a:endParaRPr lang="en-US" dirty="0"/>
          </a:p>
          <a:p>
            <a:endParaRPr lang="bg-BG" sz="1400" dirty="0"/>
          </a:p>
          <a:p>
            <a:pPr marL="457200" lvl="1" indent="0">
              <a:buNone/>
            </a:pPr>
            <a:r>
              <a:rPr lang="en-US" dirty="0"/>
              <a:t>Base b = new Base();</a:t>
            </a:r>
          </a:p>
          <a:p>
            <a:pPr marL="457200" lvl="1" indent="0">
              <a:buNone/>
            </a:pPr>
            <a:r>
              <a:rPr lang="en-US" dirty="0"/>
              <a:t>A=</a:t>
            </a:r>
            <a:r>
              <a:rPr lang="en-US" dirty="0" err="1"/>
              <a:t>b.Hour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 err="1"/>
              <a:t>b.Hour</a:t>
            </a:r>
            <a:r>
              <a:rPr lang="en-US" dirty="0"/>
              <a:t> = 10;</a:t>
            </a:r>
          </a:p>
          <a:p>
            <a:pPr lvl="0"/>
            <a:endParaRPr lang="bg-BG" dirty="0">
              <a:solidFill>
                <a:prstClr val="black"/>
              </a:solidFill>
            </a:endParaRPr>
          </a:p>
          <a:p>
            <a:pPr lvl="0"/>
            <a:r>
              <a:rPr lang="bg-BG" dirty="0">
                <a:solidFill>
                  <a:prstClr val="black"/>
                </a:solidFill>
              </a:rPr>
              <a:t>Свойството се декларира като метод, но със </a:t>
            </a:r>
            <a:r>
              <a:rPr lang="en-US" dirty="0">
                <a:solidFill>
                  <a:prstClr val="black"/>
                </a:solidFill>
              </a:rPr>
              <a:t>get/set </a:t>
            </a:r>
            <a:r>
              <a:rPr lang="bg-BG" dirty="0">
                <a:solidFill>
                  <a:prstClr val="black"/>
                </a:solidFill>
              </a:rPr>
              <a:t>блокове</a:t>
            </a:r>
            <a:endParaRPr lang="en-US" dirty="0">
              <a:solidFill>
                <a:prstClr val="black"/>
              </a:solidFill>
            </a:endParaRP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endParaRPr lang="bg-BG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00725" y="2014538"/>
            <a:ext cx="6229343" cy="37856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Base</a:t>
            </a:r>
          </a:p>
          <a:p>
            <a:r>
              <a:rPr lang="en-US" sz="2400" dirty="0"/>
              <a:t>{</a:t>
            </a:r>
          </a:p>
          <a:p>
            <a:pPr lvl="1"/>
            <a:r>
              <a:rPr lang="en-US" sz="2400" dirty="0"/>
              <a:t>    private   </a:t>
            </a:r>
            <a:r>
              <a:rPr lang="en-US" sz="2400" dirty="0" err="1"/>
              <a:t>int</a:t>
            </a:r>
            <a:r>
              <a:rPr lang="en-US" sz="2400" dirty="0"/>
              <a:t>   seconds;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    public </a:t>
            </a:r>
            <a:r>
              <a:rPr lang="en-US" sz="2400" dirty="0" err="1"/>
              <a:t>int</a:t>
            </a:r>
            <a:r>
              <a:rPr lang="en-US" sz="2400" dirty="0"/>
              <a:t> Hour</a:t>
            </a:r>
          </a:p>
          <a:p>
            <a:pPr lvl="1"/>
            <a:r>
              <a:rPr lang="en-US" sz="2400" dirty="0"/>
              <a:t>    {</a:t>
            </a:r>
          </a:p>
          <a:p>
            <a:pPr lvl="1"/>
            <a:r>
              <a:rPr lang="en-US" sz="2400" dirty="0"/>
              <a:t>             get { return   seconds / 360; }</a:t>
            </a:r>
          </a:p>
          <a:p>
            <a:pPr lvl="1"/>
            <a:r>
              <a:rPr lang="en-US" sz="2400" dirty="0"/>
              <a:t>             </a:t>
            </a:r>
            <a:r>
              <a:rPr lang="en-US" sz="2400" dirty="0">
                <a:solidFill>
                  <a:srgbClr val="FF0000"/>
                </a:solidFill>
              </a:rPr>
              <a:t>public </a:t>
            </a:r>
            <a:r>
              <a:rPr lang="en-US" sz="2400" dirty="0"/>
              <a:t>set { seconds  =  value * 360; </a:t>
            </a:r>
            <a:r>
              <a:rPr lang="bg-BG" sz="2400" dirty="0"/>
              <a:t> </a:t>
            </a:r>
            <a:r>
              <a:rPr lang="en-US" sz="2400" dirty="0"/>
              <a:t>}</a:t>
            </a:r>
          </a:p>
          <a:p>
            <a:pPr lvl="1"/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  <a:endParaRPr lang="en-US" sz="22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13503" y="1629841"/>
            <a:ext cx="43846" cy="4555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780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bg-BG" dirty="0" err="1"/>
              <a:t>Индексатори</a:t>
            </a:r>
            <a:r>
              <a:rPr lang="bg-BG" dirty="0"/>
              <a:t> (Свойства с параметри)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0188"/>
            <a:ext cx="10515600" cy="5033963"/>
          </a:xfrm>
        </p:spPr>
        <p:txBody>
          <a:bodyPr>
            <a:normAutofit fontScale="77500" lnSpcReduction="20000"/>
          </a:bodyPr>
          <a:lstStyle/>
          <a:p>
            <a:r>
              <a:rPr lang="bg-BG" sz="3600" dirty="0" err="1"/>
              <a:t>Индексаторите</a:t>
            </a:r>
            <a:r>
              <a:rPr lang="bg-BG" sz="3600" dirty="0"/>
              <a:t> позволяват на разработчиците да </a:t>
            </a:r>
            <a:r>
              <a:rPr lang="bg-BG" sz="3600" dirty="0" err="1"/>
              <a:t>предифинират</a:t>
            </a:r>
            <a:r>
              <a:rPr lang="bg-BG" sz="3600" dirty="0"/>
              <a:t> оператора </a:t>
            </a:r>
            <a:r>
              <a:rPr lang="en-US" sz="3600" b="1" dirty="0">
                <a:solidFill>
                  <a:srgbClr val="FF0000"/>
                </a:solidFill>
              </a:rPr>
              <a:t>[ ]</a:t>
            </a:r>
          </a:p>
          <a:p>
            <a:endParaRPr lang="en-US" sz="1500" b="1" dirty="0">
              <a:solidFill>
                <a:srgbClr val="FF0000"/>
              </a:solidFill>
            </a:endParaRPr>
          </a:p>
          <a:p>
            <a:endParaRPr lang="en-US" sz="15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class Base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nb-NO" dirty="0"/>
              <a:t>    </a:t>
            </a:r>
            <a:r>
              <a:rPr lang="nb-NO" sz="2800" dirty="0"/>
              <a:t>private int[] data = {1, 2, 3, 4};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r>
              <a:rPr lang="en-US" sz="2800" dirty="0"/>
              <a:t>    public </a:t>
            </a:r>
            <a:r>
              <a:rPr lang="en-US" sz="2800" dirty="0" err="1"/>
              <a:t>int</a:t>
            </a:r>
            <a:r>
              <a:rPr lang="en-US" sz="2800" dirty="0"/>
              <a:t> this [</a:t>
            </a: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</a:p>
          <a:p>
            <a:pPr marL="457200" lvl="1" indent="0">
              <a:buNone/>
            </a:pPr>
            <a:r>
              <a:rPr lang="en-US" sz="2800" dirty="0"/>
              <a:t>    {</a:t>
            </a:r>
          </a:p>
          <a:p>
            <a:pPr marL="914400" lvl="2" indent="0">
              <a:buNone/>
            </a:pPr>
            <a:r>
              <a:rPr lang="en-US" sz="2100" dirty="0"/>
              <a:t>        </a:t>
            </a:r>
            <a:r>
              <a:rPr lang="en-US" sz="2800" dirty="0"/>
              <a:t>get </a:t>
            </a:r>
          </a:p>
          <a:p>
            <a:pPr marL="914400" lvl="2" indent="0">
              <a:buNone/>
            </a:pPr>
            <a:r>
              <a:rPr lang="en-US" sz="2800" dirty="0"/>
              <a:t>        {</a:t>
            </a:r>
          </a:p>
          <a:p>
            <a:pPr marL="914400" lvl="2" indent="0">
              <a:buNone/>
            </a:pPr>
            <a:r>
              <a:rPr lang="en-US" sz="2800" dirty="0"/>
              <a:t>            return data[</a:t>
            </a:r>
            <a:r>
              <a:rPr lang="en-US" sz="2800" dirty="0" err="1"/>
              <a:t>i</a:t>
            </a:r>
            <a:r>
              <a:rPr lang="en-US" sz="2800" dirty="0"/>
              <a:t>];</a:t>
            </a:r>
          </a:p>
          <a:p>
            <a:pPr marL="914400" lvl="2" indent="0">
              <a:buNone/>
            </a:pPr>
            <a:r>
              <a:rPr lang="en-US" sz="2800" dirty="0"/>
              <a:t>        }</a:t>
            </a:r>
          </a:p>
          <a:p>
            <a:pPr marL="457200" lvl="1" indent="0">
              <a:buNone/>
            </a:pPr>
            <a:r>
              <a:rPr lang="en-US" sz="2800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58171" y="2671766"/>
            <a:ext cx="5386380" cy="32624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Program</a:t>
            </a:r>
          </a:p>
          <a:p>
            <a:r>
              <a:rPr lang="en-US" sz="2400" dirty="0"/>
              <a:t>    {</a:t>
            </a:r>
          </a:p>
          <a:p>
            <a:pPr lvl="1"/>
            <a:r>
              <a:rPr lang="en-US" sz="2400" dirty="0"/>
              <a:t>        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        {</a:t>
            </a:r>
          </a:p>
          <a:p>
            <a:pPr lvl="2"/>
            <a:r>
              <a:rPr lang="en-US" sz="2400" dirty="0"/>
              <a:t>            Base </a:t>
            </a:r>
            <a:r>
              <a:rPr lang="en-US" sz="2400" dirty="0" err="1"/>
              <a:t>obj</a:t>
            </a:r>
            <a:r>
              <a:rPr lang="en-US" sz="2400" dirty="0"/>
              <a:t> = new Base();</a:t>
            </a:r>
          </a:p>
          <a:p>
            <a:pPr lvl="2"/>
            <a:endParaRPr lang="en-US" sz="1200" dirty="0"/>
          </a:p>
          <a:p>
            <a:pPr lvl="2"/>
            <a:r>
              <a:rPr lang="en-US" sz="2400" dirty="0"/>
              <a:t>            </a:t>
            </a:r>
            <a:r>
              <a:rPr lang="en-US" sz="2400" dirty="0" err="1"/>
              <a:t>int</a:t>
            </a:r>
            <a:r>
              <a:rPr lang="en-US" sz="2400" dirty="0"/>
              <a:t> a = </a:t>
            </a:r>
            <a:r>
              <a:rPr lang="en-US" sz="2400" b="1" dirty="0" err="1">
                <a:solidFill>
                  <a:srgbClr val="FF0000"/>
                </a:solidFill>
              </a:rPr>
              <a:t>obj</a:t>
            </a:r>
            <a:r>
              <a:rPr lang="en-US" sz="2400" b="1" dirty="0">
                <a:solidFill>
                  <a:srgbClr val="FF0000"/>
                </a:solidFill>
              </a:rPr>
              <a:t>[0];</a:t>
            </a:r>
            <a:r>
              <a:rPr lang="en-US" sz="2400" b="1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// a=1</a:t>
            </a:r>
          </a:p>
          <a:p>
            <a:pPr lvl="2"/>
            <a:r>
              <a:rPr lang="en-US" sz="2400" dirty="0"/>
              <a:t>}</a:t>
            </a:r>
          </a:p>
          <a:p>
            <a:r>
              <a:rPr lang="en-US" sz="2400" dirty="0"/>
              <a:t>    }</a:t>
            </a:r>
            <a:endParaRPr lang="en-US" sz="22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590641" y="2571750"/>
            <a:ext cx="38141" cy="39624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054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6" y="365125"/>
            <a:ext cx="10868024" cy="1325563"/>
          </a:xfrm>
        </p:spPr>
        <p:txBody>
          <a:bodyPr/>
          <a:lstStyle/>
          <a:p>
            <a:r>
              <a:rPr lang="bg-BG" dirty="0"/>
              <a:t>Модификатори на Свойствата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76" y="2386013"/>
            <a:ext cx="11501438" cy="4071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Свойствата позволяват следните модификатори:</a:t>
            </a:r>
          </a:p>
          <a:p>
            <a:endParaRPr lang="bg-BG" sz="1100" dirty="0"/>
          </a:p>
          <a:p>
            <a:pPr lvl="1"/>
            <a:r>
              <a:rPr lang="bg-BG" sz="2800" dirty="0"/>
              <a:t>Статичен модификатор – </a:t>
            </a:r>
            <a:r>
              <a:rPr lang="en-US" sz="2800" dirty="0"/>
              <a:t>static</a:t>
            </a:r>
            <a:endParaRPr lang="bg-BG" sz="2800" dirty="0"/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Модификатори за достъп –</a:t>
            </a:r>
            <a:r>
              <a:rPr lang="en-US" sz="2800" dirty="0"/>
              <a:t> public</a:t>
            </a:r>
            <a:r>
              <a:rPr lang="bg-BG" sz="2800" dirty="0"/>
              <a:t>,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internal</a:t>
            </a:r>
            <a:r>
              <a:rPr lang="bg-BG" sz="2800" dirty="0"/>
              <a:t>,</a:t>
            </a:r>
            <a:r>
              <a:rPr lang="en-US" sz="2800" dirty="0"/>
              <a:t> private</a:t>
            </a:r>
            <a:r>
              <a:rPr lang="bg-BG" sz="2800" dirty="0"/>
              <a:t>,</a:t>
            </a:r>
            <a:r>
              <a:rPr lang="en-US" sz="2800" dirty="0"/>
              <a:t> protected</a:t>
            </a:r>
            <a:endParaRPr lang="bg-BG" sz="2800" dirty="0"/>
          </a:p>
          <a:p>
            <a:pPr lvl="1"/>
            <a:endParaRPr lang="en-US" sz="1100" dirty="0"/>
          </a:p>
          <a:p>
            <a:pPr lvl="1"/>
            <a:r>
              <a:rPr lang="bg-BG" sz="2800" dirty="0"/>
              <a:t>Модификатор за наследяване –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new</a:t>
            </a:r>
            <a:r>
              <a:rPr lang="bg-BG" sz="2800" dirty="0"/>
              <a:t>,</a:t>
            </a:r>
            <a:r>
              <a:rPr lang="bg-BG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virtual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abstract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override</a:t>
            </a:r>
            <a:r>
              <a:rPr lang="bg-BG" sz="2800" dirty="0"/>
              <a:t>,</a:t>
            </a:r>
            <a:r>
              <a:rPr lang="en-US" sz="2800" b="1" dirty="0">
                <a:solidFill>
                  <a:srgbClr val="00B050"/>
                </a:solidFill>
              </a:rPr>
              <a:t> sealed</a:t>
            </a:r>
            <a:endParaRPr lang="bg-BG" sz="2800" b="1" dirty="0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en-US" sz="1200" dirty="0"/>
          </a:p>
          <a:p>
            <a:pPr lvl="1"/>
            <a:r>
              <a:rPr lang="bg-BG" sz="2800" dirty="0"/>
              <a:t>Модификатори за неуправляем код –</a:t>
            </a:r>
            <a:r>
              <a:rPr lang="en-US" sz="2800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readonly</a:t>
            </a:r>
            <a:r>
              <a:rPr lang="bg-BG" sz="2800" dirty="0"/>
              <a:t>,</a:t>
            </a:r>
            <a:r>
              <a:rPr lang="bg-BG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extern</a:t>
            </a:r>
            <a:endParaRPr lang="bg-BG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869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Интерфейси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90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413"/>
          </a:xfrm>
        </p:spPr>
        <p:txBody>
          <a:bodyPr>
            <a:normAutofit fontScale="90000"/>
          </a:bodyPr>
          <a:lstStyle/>
          <a:p>
            <a:r>
              <a:rPr lang="bg-BG" dirty="0"/>
              <a:t>Интерфейси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3155"/>
            <a:ext cx="10515600" cy="4357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 Player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	</a:t>
            </a:r>
            <a:r>
              <a:rPr lang="en-US" sz="2400" dirty="0"/>
              <a:t>public </a:t>
            </a:r>
            <a:r>
              <a:rPr lang="en-US" sz="2400" dirty="0" err="1"/>
              <a:t>int</a:t>
            </a:r>
            <a:r>
              <a:rPr lang="en-US" sz="2400" dirty="0"/>
              <a:t> points=10;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interface </a:t>
            </a:r>
            <a:r>
              <a:rPr lang="en-US" sz="2400" dirty="0" err="1"/>
              <a:t>CanFly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bg-BG" sz="2400" dirty="0"/>
              <a:t>	</a:t>
            </a:r>
            <a:r>
              <a:rPr lang="en-US" sz="2400" dirty="0"/>
              <a:t>void fly();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8171" y="1685932"/>
            <a:ext cx="5386380" cy="48936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class Human : Player, </a:t>
            </a:r>
            <a:r>
              <a:rPr lang="en-US" sz="2400" dirty="0" err="1"/>
              <a:t>CanFly</a:t>
            </a:r>
            <a:endParaRPr lang="en-US" sz="2400" dirty="0"/>
          </a:p>
          <a:p>
            <a:r>
              <a:rPr lang="en-US" sz="2400" dirty="0"/>
              <a:t>{</a:t>
            </a:r>
          </a:p>
          <a:p>
            <a:pPr lvl="1"/>
            <a:r>
              <a:rPr lang="en-US" sz="2400" dirty="0"/>
              <a:t>    public void fly()</a:t>
            </a:r>
          </a:p>
          <a:p>
            <a:pPr lvl="1"/>
            <a:r>
              <a:rPr lang="en-US" sz="2400" dirty="0"/>
              <a:t>    {</a:t>
            </a:r>
          </a:p>
          <a:p>
            <a:pPr lvl="1"/>
            <a:r>
              <a:rPr lang="en-US" sz="2400" dirty="0"/>
              <a:t>        </a:t>
            </a:r>
            <a:r>
              <a:rPr lang="bg-BG" sz="2400" dirty="0"/>
              <a:t>	</a:t>
            </a:r>
            <a:r>
              <a:rPr lang="en-US" sz="2400" dirty="0" err="1"/>
              <a:t>Console.Write</a:t>
            </a:r>
            <a:r>
              <a:rPr lang="en-US" sz="2400" dirty="0"/>
              <a:t>("fly");</a:t>
            </a:r>
          </a:p>
          <a:p>
            <a:pPr lvl="1"/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  <a:endParaRPr lang="bg-BG" sz="2400" dirty="0"/>
          </a:p>
          <a:p>
            <a:r>
              <a:rPr lang="bg-BG" sz="2400" dirty="0"/>
              <a:t>………………………………………….</a:t>
            </a:r>
          </a:p>
          <a:p>
            <a:r>
              <a:rPr lang="en-US" sz="2400" dirty="0"/>
              <a:t>static void Main(string[] </a:t>
            </a:r>
            <a:r>
              <a:rPr lang="en-US" sz="2400" dirty="0" err="1"/>
              <a:t>args</a:t>
            </a:r>
            <a:r>
              <a:rPr lang="en-US" sz="2400" dirty="0"/>
              <a:t>)</a:t>
            </a:r>
          </a:p>
          <a:p>
            <a:r>
              <a:rPr lang="en-US" sz="2400" dirty="0"/>
              <a:t>{</a:t>
            </a:r>
            <a:endParaRPr lang="bg-BG" sz="2400" dirty="0"/>
          </a:p>
          <a:p>
            <a:r>
              <a:rPr lang="en-US" sz="2400" dirty="0"/>
              <a:t> 	Human h = new Human ();</a:t>
            </a:r>
          </a:p>
          <a:p>
            <a:r>
              <a:rPr lang="en-US" sz="2400" dirty="0"/>
              <a:t>            	</a:t>
            </a:r>
            <a:r>
              <a:rPr lang="en-US" sz="2400" dirty="0" err="1"/>
              <a:t>h.fly</a:t>
            </a:r>
            <a:r>
              <a:rPr lang="en-US" sz="2400" dirty="0"/>
              <a:t>();</a:t>
            </a:r>
          </a:p>
          <a:p>
            <a:r>
              <a:rPr lang="en-US" sz="2400" dirty="0"/>
              <a:t>}</a:t>
            </a:r>
            <a:endParaRPr lang="bg-BG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582114" y="1731360"/>
            <a:ext cx="46668" cy="48482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20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Наследяване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42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"/>
          </a:xfrm>
        </p:spPr>
        <p:txBody>
          <a:bodyPr>
            <a:normAutofit fontScale="90000"/>
          </a:bodyPr>
          <a:lstStyle/>
          <a:p>
            <a:r>
              <a:rPr lang="bg-BG" dirty="0"/>
              <a:t>Оператора </a:t>
            </a:r>
            <a:r>
              <a:rPr lang="en-US" dirty="0"/>
              <a:t>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Оператора се използва за преобразуване, най-често надолу (</a:t>
            </a:r>
            <a:r>
              <a:rPr lang="en-US" dirty="0"/>
              <a:t>downcast)</a:t>
            </a:r>
          </a:p>
          <a:p>
            <a:r>
              <a:rPr lang="bg-BG" dirty="0"/>
              <a:t>При невъзможност за преобразуване оператора връща </a:t>
            </a:r>
            <a:r>
              <a:rPr lang="en-US" dirty="0"/>
              <a:t>null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class Player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	 </a:t>
            </a:r>
            <a:r>
              <a:rPr lang="en-US" sz="2400" dirty="0" err="1"/>
              <a:t>int</a:t>
            </a:r>
            <a:r>
              <a:rPr lang="en-US" sz="2400" dirty="0"/>
              <a:t> points;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class Elf : Player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8171" y="2243156"/>
            <a:ext cx="5386380" cy="43165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class Program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    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{</a:t>
            </a:r>
          </a:p>
          <a:p>
            <a:r>
              <a:rPr lang="en-US" sz="2200" dirty="0"/>
              <a:t>                 Player p = new Elf();</a:t>
            </a:r>
          </a:p>
          <a:p>
            <a:r>
              <a:rPr lang="pt-BR" sz="2200" dirty="0"/>
              <a:t>                 Elf e = p </a:t>
            </a:r>
            <a:r>
              <a:rPr lang="pt-BR" sz="2200" dirty="0">
                <a:solidFill>
                  <a:srgbClr val="FF0000"/>
                </a:solidFill>
              </a:rPr>
              <a:t>as</a:t>
            </a:r>
            <a:r>
              <a:rPr lang="pt-BR" sz="2200" dirty="0"/>
              <a:t> Elf;</a:t>
            </a:r>
          </a:p>
          <a:p>
            <a:r>
              <a:rPr lang="en-US" sz="2200" dirty="0"/>
              <a:t>                 </a:t>
            </a:r>
            <a:r>
              <a:rPr lang="en-US" sz="2200" dirty="0" err="1"/>
              <a:t>Console.WriteLine</a:t>
            </a:r>
            <a:r>
              <a:rPr lang="en-US" sz="2200" dirty="0"/>
              <a:t>(</a:t>
            </a:r>
            <a:r>
              <a:rPr lang="en-US" sz="2200" dirty="0" err="1"/>
              <a:t>e.points</a:t>
            </a:r>
            <a:r>
              <a:rPr lang="en-US" sz="2200" dirty="0"/>
              <a:t>);  // 10</a:t>
            </a:r>
          </a:p>
          <a:p>
            <a:endParaRPr lang="en-US" sz="1050" dirty="0"/>
          </a:p>
          <a:p>
            <a:r>
              <a:rPr lang="en-US" sz="2200" dirty="0"/>
              <a:t>                 Player p2 = null;</a:t>
            </a:r>
          </a:p>
          <a:p>
            <a:r>
              <a:rPr lang="pt-BR" sz="2200" dirty="0"/>
              <a:t>                 Elf e2 = p2 </a:t>
            </a:r>
            <a:r>
              <a:rPr lang="pt-BR" sz="2200" dirty="0">
                <a:solidFill>
                  <a:srgbClr val="FF0000"/>
                </a:solidFill>
              </a:rPr>
              <a:t>as</a:t>
            </a:r>
            <a:r>
              <a:rPr lang="pt-BR" sz="2200" dirty="0"/>
              <a:t> Elf;</a:t>
            </a:r>
          </a:p>
          <a:p>
            <a:r>
              <a:rPr lang="en-US" sz="2200" dirty="0"/>
              <a:t>	   </a:t>
            </a:r>
            <a:r>
              <a:rPr lang="en-US" sz="2200" dirty="0" err="1"/>
              <a:t>Console.WriteLine</a:t>
            </a:r>
            <a:r>
              <a:rPr lang="en-US" sz="2200" dirty="0"/>
              <a:t>(e2==null);</a:t>
            </a:r>
          </a:p>
          <a:p>
            <a:r>
              <a:rPr lang="en-US" sz="2200" dirty="0"/>
              <a:t>        }</a:t>
            </a:r>
          </a:p>
          <a:p>
            <a:r>
              <a:rPr lang="en-US" sz="22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587478" y="2243156"/>
            <a:ext cx="41304" cy="42909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752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987"/>
          </a:xfrm>
        </p:spPr>
        <p:txBody>
          <a:bodyPr>
            <a:normAutofit fontScale="90000"/>
          </a:bodyPr>
          <a:lstStyle/>
          <a:p>
            <a:r>
              <a:rPr lang="bg-BG" dirty="0"/>
              <a:t>Оператора </a:t>
            </a:r>
            <a:r>
              <a:rPr lang="en-US" dirty="0"/>
              <a:t>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/>
          </a:bodyPr>
          <a:lstStyle/>
          <a:p>
            <a:r>
              <a:rPr lang="bg-BG" dirty="0"/>
              <a:t>Оператора </a:t>
            </a:r>
            <a:r>
              <a:rPr lang="en-US" dirty="0"/>
              <a:t>is</a:t>
            </a:r>
            <a:r>
              <a:rPr lang="bg-BG" dirty="0"/>
              <a:t> проверява дали даден обект може да се преобразува до конкретен тип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class Player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	 </a:t>
            </a:r>
            <a:r>
              <a:rPr lang="en-US" sz="2400" dirty="0" err="1"/>
              <a:t>int</a:t>
            </a:r>
            <a:r>
              <a:rPr lang="en-US" sz="2400" dirty="0"/>
              <a:t> points;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class Elf : Player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8171" y="2114564"/>
            <a:ext cx="5386380" cy="44935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class Program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        static void Main(string[] </a:t>
            </a:r>
            <a:r>
              <a:rPr lang="en-US" sz="2200" dirty="0" err="1"/>
              <a:t>args</a:t>
            </a:r>
            <a:r>
              <a:rPr lang="en-US" sz="2200" dirty="0"/>
              <a:t>)</a:t>
            </a:r>
          </a:p>
          <a:p>
            <a:r>
              <a:rPr lang="en-US" sz="2200" dirty="0"/>
              <a:t>        {</a:t>
            </a:r>
          </a:p>
          <a:p>
            <a:r>
              <a:rPr lang="en-US" sz="2200" dirty="0"/>
              <a:t>                 Player p = new Elf();</a:t>
            </a:r>
          </a:p>
          <a:p>
            <a:r>
              <a:rPr lang="en-US" sz="2200" dirty="0"/>
              <a:t>	   </a:t>
            </a:r>
          </a:p>
          <a:p>
            <a:r>
              <a:rPr lang="en-US" sz="2200" dirty="0"/>
              <a:t>	    if( p </a:t>
            </a:r>
            <a:r>
              <a:rPr lang="en-US" sz="2200" b="1" dirty="0">
                <a:solidFill>
                  <a:srgbClr val="FF0000"/>
                </a:solidFill>
              </a:rPr>
              <a:t>is</a:t>
            </a:r>
            <a:r>
              <a:rPr lang="en-US" sz="2200" dirty="0"/>
              <a:t> Elf )</a:t>
            </a:r>
          </a:p>
          <a:p>
            <a:r>
              <a:rPr lang="en-US" sz="2200" dirty="0"/>
              <a:t>	    {</a:t>
            </a:r>
          </a:p>
          <a:p>
            <a:r>
              <a:rPr lang="en-US" sz="2200" dirty="0"/>
              <a:t>		</a:t>
            </a:r>
            <a:r>
              <a:rPr lang="pt-BR" sz="2200" dirty="0"/>
              <a:t> Elf e = p as Elf;</a:t>
            </a:r>
          </a:p>
          <a:p>
            <a:r>
              <a:rPr lang="pt-BR" sz="2200" dirty="0"/>
              <a:t>		 Elf e = (Elf)p;</a:t>
            </a:r>
            <a:endParaRPr lang="en-US" sz="2200" dirty="0"/>
          </a:p>
          <a:p>
            <a:r>
              <a:rPr lang="en-US" sz="2200" dirty="0"/>
              <a:t>	     }</a:t>
            </a:r>
          </a:p>
          <a:p>
            <a:r>
              <a:rPr lang="en-US" sz="2200" dirty="0"/>
              <a:t>         }</a:t>
            </a:r>
          </a:p>
          <a:p>
            <a:r>
              <a:rPr lang="en-US" sz="2200" dirty="0"/>
              <a:t>}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587478" y="2243156"/>
            <a:ext cx="41304" cy="42909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09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3416</TotalTime>
  <Words>2553</Words>
  <Application>Microsoft Office PowerPoint</Application>
  <PresentationFormat>Widescreen</PresentationFormat>
  <Paragraphs>576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Особености на типовете, дефинирани, чрез class и struct в .Net и C#</vt:lpstr>
      <vt:lpstr>PowerPoint Presentation</vt:lpstr>
      <vt:lpstr>Полета</vt:lpstr>
      <vt:lpstr>Модификатори на полета</vt:lpstr>
      <vt:lpstr>Модификатори за достъп</vt:lpstr>
      <vt:lpstr>new модификатор</vt:lpstr>
      <vt:lpstr>readonly модификатор</vt:lpstr>
      <vt:lpstr>Инициализация на полетата</vt:lpstr>
      <vt:lpstr>Методи</vt:lpstr>
      <vt:lpstr>Модификатори за наследяване - virtual и override</vt:lpstr>
      <vt:lpstr>Модификатор за наследяване - sealed</vt:lpstr>
      <vt:lpstr>Модификатор за частично деклариране – partial</vt:lpstr>
      <vt:lpstr>Предаване на данни по стойност и по референция</vt:lpstr>
      <vt:lpstr>Предаване на данни по стойност от предефинирани типове</vt:lpstr>
      <vt:lpstr>Предаване на данни по референцията ref от предефинирани типове</vt:lpstr>
      <vt:lpstr>Предаване на данни по референцията out от предефинираните типове</vt:lpstr>
      <vt:lpstr>Предаване на референтни типове (class) по стойност и по референция</vt:lpstr>
      <vt:lpstr>Предаване на референтни типове по стойност</vt:lpstr>
      <vt:lpstr>Предаване на референтни типове по стойност</vt:lpstr>
      <vt:lpstr>Предаване на референтни типове по референция</vt:lpstr>
      <vt:lpstr>Предаване на референтни типове по референция</vt:lpstr>
      <vt:lpstr>Предаване на неограничен брой параметри към метод</vt:lpstr>
      <vt:lpstr>Предаване на неограничен брой параметри към метод</vt:lpstr>
      <vt:lpstr>Предаване на неограничен брой параметри към метод</vt:lpstr>
      <vt:lpstr>Параметри по подразбиране</vt:lpstr>
      <vt:lpstr>Свойства</vt:lpstr>
      <vt:lpstr>Свойства</vt:lpstr>
      <vt:lpstr>Свойства (Безпараметърни свойства)</vt:lpstr>
      <vt:lpstr>Свойства (Безпараметърни свойства)</vt:lpstr>
      <vt:lpstr>Индексатори (Свойства с параметри)</vt:lpstr>
      <vt:lpstr>Модификатори на Свойствата</vt:lpstr>
      <vt:lpstr>Интерфейси</vt:lpstr>
      <vt:lpstr>Интерфейси</vt:lpstr>
      <vt:lpstr>Наследяване</vt:lpstr>
      <vt:lpstr>Оператора as</vt:lpstr>
      <vt:lpstr>Оператора 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на типове</dc:title>
  <dc:creator>Metodi Dimitrov</dc:creator>
  <cp:lastModifiedBy>user</cp:lastModifiedBy>
  <cp:revision>167</cp:revision>
  <dcterms:created xsi:type="dcterms:W3CDTF">2013-09-28T14:29:27Z</dcterms:created>
  <dcterms:modified xsi:type="dcterms:W3CDTF">2022-09-30T12:07:00Z</dcterms:modified>
</cp:coreProperties>
</file>