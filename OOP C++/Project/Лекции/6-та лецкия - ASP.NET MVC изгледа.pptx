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69" r:id="rId4"/>
    <p:sldId id="270" r:id="rId5"/>
    <p:sldId id="257" r:id="rId6"/>
    <p:sldId id="271" r:id="rId7"/>
    <p:sldId id="262" r:id="rId8"/>
    <p:sldId id="264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5" r:id="rId17"/>
    <p:sldId id="279" r:id="rId18"/>
    <p:sldId id="280" r:id="rId19"/>
    <p:sldId id="266" r:id="rId20"/>
    <p:sldId id="281" r:id="rId21"/>
    <p:sldId id="282" r:id="rId22"/>
    <p:sldId id="283" r:id="rId23"/>
    <p:sldId id="268" r:id="rId24"/>
    <p:sldId id="267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0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4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3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6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6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19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8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02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1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5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6BA9A-56FC-4455-8E22-495D9973925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1381D-AE2A-4EE2-965B-D07442561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9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ASP.NET  MVC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8000" dirty="0"/>
              <a:t>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6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04C2-5AB5-46BE-9447-4A7DCA3E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изгледи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12BFF-B9BC-437E-9EF7-0DBE2D7A8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133"/>
            <a:ext cx="10515600" cy="48138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dirty="0"/>
              <a:t>За да добавим изглед</a:t>
            </a:r>
            <a:r>
              <a:rPr lang="en-US" dirty="0"/>
              <a:t>, </a:t>
            </a:r>
            <a:r>
              <a:rPr lang="bg-BG" dirty="0"/>
              <a:t>щракваме с дясното копче върху папката с името на контролера, намираща се в папката </a:t>
            </a:r>
            <a:r>
              <a:rPr lang="en-US" dirty="0"/>
              <a:t>“Views”</a:t>
            </a:r>
            <a:endParaRPr lang="bg-BG" dirty="0"/>
          </a:p>
          <a:p>
            <a:pPr lvl="1"/>
            <a:r>
              <a:rPr lang="bg-BG" sz="2800" dirty="0"/>
              <a:t>Записваме името на изгледа. То трябва да е същото, както името на метода (намиращ се в контролера), за който създаваме изглед.</a:t>
            </a:r>
          </a:p>
          <a:p>
            <a:pPr lvl="1"/>
            <a:r>
              <a:rPr lang="bg-BG" sz="2800" dirty="0"/>
              <a:t>За </a:t>
            </a:r>
            <a:r>
              <a:rPr lang="en-US" sz="2800" dirty="0"/>
              <a:t>Template</a:t>
            </a:r>
            <a:r>
              <a:rPr lang="bg-BG" sz="2800" dirty="0"/>
              <a:t> избираме „</a:t>
            </a:r>
            <a:r>
              <a:rPr lang="en-US" sz="2800" dirty="0"/>
              <a:t>Empty </a:t>
            </a:r>
            <a:r>
              <a:rPr lang="bg-BG" sz="2800" dirty="0"/>
              <a:t>(</a:t>
            </a:r>
            <a:r>
              <a:rPr lang="en-US" sz="2800" dirty="0" err="1"/>
              <a:t>withought</a:t>
            </a:r>
            <a:r>
              <a:rPr lang="en-US" sz="2800" dirty="0"/>
              <a:t> model</a:t>
            </a:r>
            <a:r>
              <a:rPr lang="bg-BG" sz="2800" dirty="0"/>
              <a:t>)“</a:t>
            </a:r>
            <a:endParaRPr lang="en-US" sz="2800" dirty="0"/>
          </a:p>
          <a:p>
            <a:pPr lvl="1"/>
            <a:r>
              <a:rPr lang="bg-BG" sz="2800" dirty="0"/>
              <a:t>Махаме всички отметки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bg-BG" sz="3200" dirty="0"/>
              <a:t>В метода на контролера, носещ името на изгледа, записваме:</a:t>
            </a:r>
          </a:p>
          <a:p>
            <a:pPr marL="457200" lvl="1" indent="0">
              <a:buNone/>
            </a:pPr>
            <a:r>
              <a:rPr lang="en-US" sz="3300" dirty="0">
                <a:solidFill>
                  <a:srgbClr val="FF0000"/>
                </a:solidFill>
              </a:rPr>
              <a:t>return View();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bg-BG" sz="3200" dirty="0"/>
              <a:t>Може да заредим и друг изглед (</a:t>
            </a:r>
            <a:r>
              <a:rPr lang="en-US" sz="3200" dirty="0" err="1"/>
              <a:t>cshtml</a:t>
            </a:r>
            <a:r>
              <a:rPr lang="bg-BG" sz="3200" dirty="0"/>
              <a:t> файл), ако подадем името му във </a:t>
            </a:r>
            <a:r>
              <a:rPr lang="en-US" sz="3200" dirty="0"/>
              <a:t>View():</a:t>
            </a:r>
          </a:p>
          <a:p>
            <a:pPr marL="457200" lvl="1" indent="0">
              <a:buNone/>
            </a:pPr>
            <a:r>
              <a:rPr lang="en-US" sz="3300" dirty="0">
                <a:solidFill>
                  <a:srgbClr val="FF0000"/>
                </a:solidFill>
              </a:rPr>
              <a:t>return View(“Error”);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996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Предаване на данни с помощта на </a:t>
            </a:r>
            <a:r>
              <a:rPr lang="en-US" dirty="0" err="1"/>
              <a:t>ViewBag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3149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bg-BG" sz="2600" dirty="0"/>
          </a:p>
          <a:p>
            <a:pPr marL="514350" indent="-514350">
              <a:buAutoNum type="arabicPeriod"/>
            </a:pPr>
            <a:r>
              <a:rPr lang="bg-BG" sz="2600" dirty="0"/>
              <a:t>В контролера се декларират променливи по следният начин:</a:t>
            </a:r>
          </a:p>
          <a:p>
            <a:pPr marL="0" indent="0">
              <a:buNone/>
            </a:pPr>
            <a:endParaRPr lang="bg-BG" sz="2600" dirty="0"/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ViewBag.address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Русе 7000"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ViewBag.country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България"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bg-BG" sz="2600" dirty="0"/>
          </a:p>
          <a:p>
            <a:pPr marL="0" indent="0">
              <a:buNone/>
            </a:pPr>
            <a:endParaRPr lang="bg-BG" sz="2600" dirty="0"/>
          </a:p>
          <a:p>
            <a:pPr marL="0" indent="0">
              <a:buNone/>
            </a:pPr>
            <a:r>
              <a:rPr lang="bg-BG" sz="2600" dirty="0"/>
              <a:t>2 Данните се извличат във изгледа, по следният начин: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@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ViewBag.address</a:t>
            </a:r>
            <a:endParaRPr lang="bg-BG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@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ViewBag.country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6458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3238" cy="1325563"/>
          </a:xfrm>
        </p:spPr>
        <p:txBody>
          <a:bodyPr/>
          <a:lstStyle/>
          <a:p>
            <a:r>
              <a:rPr lang="bg-BG" dirty="0"/>
              <a:t>Предаване на данни с помощта на </a:t>
            </a:r>
            <a:r>
              <a:rPr lang="en-US" dirty="0" err="1"/>
              <a:t>ViewData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6727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bg-BG" sz="2600" dirty="0"/>
              <a:t>Различава се т </a:t>
            </a:r>
            <a:r>
              <a:rPr lang="en-US" sz="2600" dirty="0" err="1"/>
              <a:t>ViewBag</a:t>
            </a:r>
            <a:r>
              <a:rPr lang="bg-BG" sz="2600" dirty="0"/>
              <a:t>, основно по синтаксиса:</a:t>
            </a:r>
          </a:p>
          <a:p>
            <a:pPr marL="0" indent="0">
              <a:buNone/>
            </a:pPr>
            <a:endParaRPr lang="bg-BG" sz="2600" dirty="0"/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ViewData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"phone"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“+359 123 5813</a:t>
            </a:r>
            <a:r>
              <a:rPr lang="bg-BG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bg-BG" sz="2600" dirty="0"/>
          </a:p>
          <a:p>
            <a:pPr marL="0" indent="0">
              <a:buNone/>
            </a:pPr>
            <a:endParaRPr lang="bg-BG" sz="2600" dirty="0"/>
          </a:p>
          <a:p>
            <a:pPr marL="0" indent="0">
              <a:buNone/>
            </a:pPr>
            <a:r>
              <a:rPr lang="bg-BG" sz="2600" dirty="0"/>
              <a:t>2 Данните се извличат във изгледа, по следният начин: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ViewData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"phone"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68691" y="3244334"/>
            <a:ext cx="4454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/>
              <a:t>Предаване на данни с помощта на </a:t>
            </a:r>
            <a:r>
              <a:rPr lang="en-US" dirty="0" err="1"/>
              <a:t>ViewBag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55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Razor Viewing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bg-BG" dirty="0"/>
          </a:p>
          <a:p>
            <a:r>
              <a:rPr lang="en-US" b="1" dirty="0"/>
              <a:t>View engine </a:t>
            </a:r>
            <a:r>
              <a:rPr lang="en-US" dirty="0"/>
              <a:t>– </a:t>
            </a:r>
            <a:r>
              <a:rPr lang="bg-BG" dirty="0"/>
              <a:t>Синтаксис, използван за създаването на динамични страници, чрез смесване</a:t>
            </a:r>
            <a:r>
              <a:rPr lang="en-US" dirty="0"/>
              <a:t> (</a:t>
            </a:r>
            <a:r>
              <a:rPr lang="bg-BG" dirty="0"/>
              <a:t>вграждане) на сървърен (</a:t>
            </a:r>
            <a:r>
              <a:rPr lang="en-US" dirty="0"/>
              <a:t>C#</a:t>
            </a:r>
            <a:r>
              <a:rPr lang="bg-BG" dirty="0"/>
              <a:t>) и </a:t>
            </a:r>
            <a:r>
              <a:rPr lang="en-US" dirty="0"/>
              <a:t>HTML</a:t>
            </a:r>
            <a:r>
              <a:rPr lang="bg-BG" dirty="0"/>
              <a:t> код.</a:t>
            </a:r>
            <a:endParaRPr lang="en-US" dirty="0"/>
          </a:p>
          <a:p>
            <a:endParaRPr lang="bg-BG" dirty="0"/>
          </a:p>
          <a:p>
            <a:r>
              <a:rPr lang="en-US" b="1" dirty="0"/>
              <a:t>View engines:</a:t>
            </a:r>
            <a:endParaRPr lang="bg-BG" b="1" dirty="0"/>
          </a:p>
          <a:p>
            <a:r>
              <a:rPr lang="en-US" b="1" dirty="0">
                <a:solidFill>
                  <a:srgbClr val="FF0000"/>
                </a:solidFill>
              </a:rPr>
              <a:t>Razor</a:t>
            </a:r>
            <a:r>
              <a:rPr lang="en-US" dirty="0"/>
              <a:t> </a:t>
            </a:r>
            <a:r>
              <a:rPr lang="bg-BG" dirty="0"/>
              <a:t>(в употреба от 2011 г, с </a:t>
            </a:r>
            <a:r>
              <a:rPr lang="en-US" dirty="0"/>
              <a:t>MVC 3</a:t>
            </a:r>
            <a:r>
              <a:rPr lang="bg-BG" dirty="0"/>
              <a:t>) </a:t>
            </a:r>
            <a:r>
              <a:rPr lang="en-US" dirty="0"/>
              <a:t>– </a:t>
            </a:r>
            <a:r>
              <a:rPr lang="bg-BG" dirty="0"/>
              <a:t>последният </a:t>
            </a:r>
            <a:r>
              <a:rPr lang="en-US" dirty="0"/>
              <a:t>view engine</a:t>
            </a:r>
            <a:r>
              <a:rPr lang="bg-BG" dirty="0"/>
              <a:t>, използващ опростен синтаксис. Файловете са с разширение .</a:t>
            </a:r>
            <a:r>
              <a:rPr lang="en-US" dirty="0" err="1"/>
              <a:t>cshtml</a:t>
            </a:r>
            <a:endParaRPr lang="en-US" dirty="0"/>
          </a:p>
          <a:p>
            <a:pPr marL="457200" lvl="1" indent="0">
              <a:buNone/>
            </a:pPr>
            <a:r>
              <a:rPr lang="en-US" sz="2800" dirty="0"/>
              <a:t>	@{      var total = 7;      }</a:t>
            </a:r>
          </a:p>
        </p:txBody>
      </p:sp>
    </p:spTree>
    <p:extLst>
      <p:ext uri="{BB962C8B-B14F-4D97-AF65-F5344CB8AC3E}">
        <p14:creationId xmlns:p14="http://schemas.microsoft.com/office/powerpoint/2010/main" val="393980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Razor </a:t>
            </a:r>
            <a:r>
              <a:rPr lang="bg-BG" dirty="0"/>
              <a:t>синтаксис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Razor</a:t>
            </a:r>
            <a:r>
              <a:rPr lang="bg-BG" dirty="0"/>
              <a:t> </a:t>
            </a:r>
            <a:r>
              <a:rPr lang="en-US" dirty="0"/>
              <a:t>uses </a:t>
            </a:r>
            <a:r>
              <a:rPr lang="bg-BG" dirty="0"/>
              <a:t>символа </a:t>
            </a:r>
            <a:r>
              <a:rPr lang="en-US" dirty="0"/>
              <a:t>@ </a:t>
            </a:r>
            <a:r>
              <a:rPr lang="bg-BG" dirty="0"/>
              <a:t>за да направи прехода от </a:t>
            </a:r>
            <a:r>
              <a:rPr lang="en-US" dirty="0"/>
              <a:t>HTML </a:t>
            </a:r>
            <a:r>
              <a:rPr lang="bg-BG" dirty="0"/>
              <a:t>към </a:t>
            </a:r>
            <a:r>
              <a:rPr lang="en-US" dirty="0"/>
              <a:t>C#. Razor </a:t>
            </a:r>
            <a:r>
              <a:rPr lang="bg-BG" dirty="0"/>
              <a:t>оценява изразите, записани в </a:t>
            </a:r>
            <a:r>
              <a:rPr lang="en-US" dirty="0"/>
              <a:t>C#</a:t>
            </a:r>
            <a:r>
              <a:rPr lang="bg-BG" dirty="0"/>
              <a:t>, след което, на базата на тях, отпечатва </a:t>
            </a:r>
            <a:r>
              <a:rPr lang="en-US" dirty="0"/>
              <a:t>HTML.</a:t>
            </a:r>
            <a:endParaRPr lang="bg-BG" dirty="0"/>
          </a:p>
          <a:p>
            <a:endParaRPr lang="en-US" dirty="0"/>
          </a:p>
          <a:p>
            <a:r>
              <a:rPr lang="bg-BG" dirty="0"/>
              <a:t>За да се отпечата </a:t>
            </a:r>
            <a:r>
              <a:rPr lang="en-US" dirty="0"/>
              <a:t>@</a:t>
            </a:r>
            <a:r>
              <a:rPr lang="bg-BG" dirty="0"/>
              <a:t> се използват два символа - @@</a:t>
            </a:r>
            <a:r>
              <a:rPr lang="en-US" dirty="0"/>
              <a:t>: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Razor (.</a:t>
            </a:r>
            <a:r>
              <a:rPr lang="en-US" dirty="0" err="1"/>
              <a:t>cshtml</a:t>
            </a:r>
            <a:r>
              <a:rPr lang="en-US" dirty="0"/>
              <a:t>):	&lt;p&gt;</a:t>
            </a:r>
            <a:r>
              <a:rPr lang="en-US" dirty="0">
                <a:solidFill>
                  <a:srgbClr val="FF0000"/>
                </a:solidFill>
              </a:rPr>
              <a:t>@@Username</a:t>
            </a:r>
            <a:r>
              <a:rPr lang="en-US" dirty="0"/>
              <a:t>&lt;/p&gt;</a:t>
            </a:r>
          </a:p>
          <a:p>
            <a:pPr marL="0" indent="0">
              <a:buNone/>
            </a:pPr>
            <a:r>
              <a:rPr lang="en-US" dirty="0"/>
              <a:t>Html:			&lt;p</a:t>
            </a:r>
            <a:r>
              <a:rPr lang="en-US" dirty="0">
                <a:solidFill>
                  <a:srgbClr val="FF0000"/>
                </a:solidFill>
              </a:rPr>
              <a:t>&gt;@Username</a:t>
            </a:r>
            <a:r>
              <a:rPr lang="en-US" dirty="0"/>
              <a:t>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Razor</a:t>
            </a:r>
            <a:r>
              <a:rPr lang="bg-BG" dirty="0"/>
              <a:t> разпознава имейл адресите. Затова, няма нужда при тях да се ползва</a:t>
            </a:r>
            <a:r>
              <a:rPr lang="bg-BG" dirty="0">
                <a:solidFill>
                  <a:srgbClr val="FF0000"/>
                </a:solidFill>
              </a:rPr>
              <a:t> @@</a:t>
            </a:r>
            <a:r>
              <a:rPr lang="bg-BG" dirty="0"/>
              <a:t>: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pt-BR" dirty="0"/>
              <a:t>&lt;a href="mailto:</a:t>
            </a:r>
            <a:r>
              <a:rPr lang="en-US" dirty="0">
                <a:solidFill>
                  <a:srgbClr val="FF0000"/>
                </a:solidFill>
              </a:rPr>
              <a:t>email</a:t>
            </a:r>
            <a:r>
              <a:rPr lang="pt-BR" dirty="0">
                <a:solidFill>
                  <a:srgbClr val="FF0000"/>
                </a:solidFill>
              </a:rPr>
              <a:t>@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pt-BR" dirty="0">
                <a:solidFill>
                  <a:srgbClr val="FF0000"/>
                </a:solidFill>
              </a:rPr>
              <a:t>.com</a:t>
            </a:r>
            <a:r>
              <a:rPr lang="pt-BR" dirty="0"/>
              <a:t>"&gt;</a:t>
            </a:r>
            <a:r>
              <a:rPr lang="en-US" dirty="0">
                <a:solidFill>
                  <a:srgbClr val="FF0000"/>
                </a:solidFill>
              </a:rPr>
              <a:t>email</a:t>
            </a:r>
            <a:r>
              <a:rPr lang="pt-BR" dirty="0">
                <a:solidFill>
                  <a:srgbClr val="FF0000"/>
                </a:solidFill>
              </a:rPr>
              <a:t>@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pt-BR" dirty="0">
                <a:solidFill>
                  <a:srgbClr val="FF0000"/>
                </a:solidFill>
              </a:rPr>
              <a:t>.com</a:t>
            </a:r>
            <a:r>
              <a:rPr lang="pt-BR" dirty="0"/>
              <a:t>&lt;/a&gt;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Деклариране и отпечатване на променлива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bg-BG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Блок с код --&gt;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msg1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Здравей"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Отпечатване не променлива --&gt;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ru-RU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ru-RU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Стойността на msg1 e: </a:t>
            </a:r>
            <a:r>
              <a:rPr lang="ru-RU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msg1</a:t>
            </a:r>
            <a:r>
              <a:rPr lang="ru-RU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ru-RU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ru-RU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0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Деклариране и отпечатване на променлива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Блок с код --&gt;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greeting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Добре дошъл!"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date =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.Now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message = greeting +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днес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е: 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date;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bg-BG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Отпечатване не променлива --&gt;</a:t>
            </a: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message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56156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Деклариране и отпечатване на променлива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2325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sz="32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Блок с код --&gt;</a:t>
            </a:r>
            <a:endParaRPr lang="bg-BG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msg1 = </a:t>
            </a:r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Здравей"</a:t>
            </a:r>
            <a:r>
              <a:rPr lang="bg-BG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bg-BG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bg-BG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bg-BG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bg-BG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sz="32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&lt;!-- Отпечатване не променлива --&gt;</a:t>
            </a:r>
            <a:endParaRPr lang="bg-BG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ru-RU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ru-RU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ru-RU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msg1</a:t>
            </a:r>
            <a:endParaRPr lang="en-US" sz="32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457200" lvl="1" indent="0">
              <a:buNone/>
            </a:pPr>
            <a:endParaRPr lang="en-US" sz="32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sz="32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&lt;b&gt;</a:t>
            </a:r>
            <a:r>
              <a:rPr lang="ru-RU" sz="3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ru-RU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msg1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&lt;/b&gt;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en-US" sz="3200" dirty="0"/>
          </a:p>
          <a:p>
            <a:pPr marL="457200" lvl="1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15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Бързо пресмятане на израз с </a:t>
            </a:r>
            <a:r>
              <a:rPr lang="en-US" dirty="0"/>
              <a:t>@()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613"/>
          </a:xfrm>
        </p:spPr>
        <p:txBody>
          <a:bodyPr>
            <a:normAutofit/>
          </a:bodyPr>
          <a:lstStyle/>
          <a:p>
            <a:r>
              <a:rPr lang="en-US" dirty="0"/>
              <a:t>@() </a:t>
            </a:r>
            <a:r>
              <a:rPr lang="bg-BG" dirty="0"/>
              <a:t>ни позволява да оценим даден израз, след което да изведем резултата от операцията.</a:t>
            </a:r>
          </a:p>
          <a:p>
            <a:endParaRPr lang="bg-BG" dirty="0"/>
          </a:p>
          <a:p>
            <a:r>
              <a:rPr lang="bg-BG" dirty="0"/>
              <a:t>Следния израз ще изведе 3: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&lt;p&gt;</a:t>
            </a:r>
            <a:r>
              <a:rPr lang="bg-BG" dirty="0"/>
              <a:t>резултата е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@(5-2)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bg-BG" dirty="0"/>
              <a:t>Следния израз ще изведе времето преди 1на седмица: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&lt;p&gt;</a:t>
            </a:r>
            <a:r>
              <a:rPr lang="bg-BG" dirty="0"/>
              <a:t>Една седмица назад</a:t>
            </a:r>
            <a:r>
              <a:rPr lang="en-US" dirty="0"/>
              <a:t>:</a:t>
            </a:r>
            <a:r>
              <a:rPr lang="bg-BG" dirty="0"/>
              <a:t> </a:t>
            </a:r>
            <a:r>
              <a:rPr lang="en-US" dirty="0">
                <a:solidFill>
                  <a:srgbClr val="FF0000"/>
                </a:solidFill>
              </a:rPr>
              <a:t>@(</a:t>
            </a:r>
            <a:r>
              <a:rPr lang="en-US" dirty="0" err="1">
                <a:solidFill>
                  <a:srgbClr val="FF0000"/>
                </a:solidFill>
              </a:rPr>
              <a:t>DateTime</a:t>
            </a:r>
            <a:r>
              <a:rPr lang="en-US" err="1">
                <a:solidFill>
                  <a:srgbClr val="FF0000"/>
                </a:solidFill>
              </a:rPr>
              <a:t>.</a:t>
            </a:r>
            <a:r>
              <a:rPr lang="en-US">
                <a:solidFill>
                  <a:srgbClr val="FF0000"/>
                </a:solidFill>
              </a:rPr>
              <a:t>Now-TimeSpan</a:t>
            </a:r>
            <a:r>
              <a:rPr lang="en-US" dirty="0" err="1">
                <a:solidFill>
                  <a:srgbClr val="FF0000"/>
                </a:solidFill>
              </a:rPr>
              <a:t>.FromDays</a:t>
            </a:r>
            <a:r>
              <a:rPr lang="en-US" dirty="0">
                <a:solidFill>
                  <a:srgbClr val="FF0000"/>
                </a:solidFill>
              </a:rPr>
              <a:t>(7))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21274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@() за конкатенация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8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@()</a:t>
            </a:r>
            <a:r>
              <a:rPr lang="bg-BG" dirty="0"/>
              <a:t> може да се използва за да се избегне ефекта на имел адреса при следната ситуация:</a:t>
            </a:r>
          </a:p>
          <a:p>
            <a:endParaRPr lang="bg-BG" dirty="0"/>
          </a:p>
          <a:p>
            <a:pPr marL="0" indent="0">
              <a:buNone/>
            </a:pPr>
            <a:r>
              <a:rPr lang="en-US" dirty="0"/>
              <a:t>@{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viki</a:t>
            </a:r>
            <a:r>
              <a:rPr lang="en-US" dirty="0"/>
              <a:t> = new </a:t>
            </a:r>
            <a:r>
              <a:rPr lang="en-US" dirty="0">
                <a:solidFill>
                  <a:srgbClr val="FF0000"/>
                </a:solidFill>
              </a:rPr>
              <a:t>Player(“Viki“, 10)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&lt;p&gt;Age</a:t>
            </a:r>
            <a:r>
              <a:rPr lang="en-US" dirty="0">
                <a:solidFill>
                  <a:srgbClr val="FF0000"/>
                </a:solidFill>
              </a:rPr>
              <a:t>@(</a:t>
            </a:r>
            <a:r>
              <a:rPr lang="en-US" dirty="0" err="1">
                <a:solidFill>
                  <a:srgbClr val="FF0000"/>
                </a:solidFill>
              </a:rPr>
              <a:t>viki.points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&lt;/p&gt;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Без @(), ще се получи </a:t>
            </a:r>
            <a:r>
              <a:rPr lang="en-US" dirty="0">
                <a:solidFill>
                  <a:srgbClr val="FF0000"/>
                </a:solidFill>
              </a:rPr>
              <a:t>Age@viki.points</a:t>
            </a:r>
            <a:r>
              <a:rPr lang="en-US" dirty="0"/>
              <a:t>, </a:t>
            </a:r>
            <a:r>
              <a:rPr lang="bg-BG" dirty="0"/>
              <a:t>което ще се приема като имел адрес и няма да се обработи.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13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@() </a:t>
            </a:r>
            <a:r>
              <a:rPr lang="bg-BG" dirty="0"/>
              <a:t>при извеждане на текст и </a:t>
            </a:r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9489"/>
          </a:xfrm>
        </p:spPr>
        <p:txBody>
          <a:bodyPr>
            <a:normAutofit/>
          </a:bodyPr>
          <a:lstStyle/>
          <a:p>
            <a:r>
              <a:rPr lang="en-US" dirty="0"/>
              <a:t>@() </a:t>
            </a:r>
            <a:r>
              <a:rPr lang="bg-BG" dirty="0"/>
              <a:t>извежда текста, който е записан в него</a:t>
            </a:r>
          </a:p>
          <a:p>
            <a:pPr marL="0" indent="0">
              <a:buNone/>
            </a:pPr>
            <a:r>
              <a:rPr lang="bg-BG" dirty="0"/>
              <a:t>	Кодът 		</a:t>
            </a:r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bg-BG" dirty="0"/>
              <a:t>(</a:t>
            </a:r>
            <a:r>
              <a:rPr lang="bg-BG" dirty="0">
                <a:solidFill>
                  <a:srgbClr val="FF0000"/>
                </a:solidFill>
              </a:rPr>
              <a:t>"Здравей :)"</a:t>
            </a:r>
            <a:r>
              <a:rPr lang="bg-BG" dirty="0"/>
              <a:t>)</a:t>
            </a:r>
          </a:p>
          <a:p>
            <a:pPr marL="0" indent="0">
              <a:buNone/>
            </a:pPr>
            <a:r>
              <a:rPr lang="bg-BG" dirty="0"/>
              <a:t>	Ще изведе:	 	</a:t>
            </a:r>
            <a:r>
              <a:rPr lang="bg-BG" dirty="0">
                <a:solidFill>
                  <a:srgbClr val="FF0000"/>
                </a:solidFill>
              </a:rPr>
              <a:t>Здравей :)</a:t>
            </a:r>
            <a:endParaRPr lang="bg-BG" dirty="0"/>
          </a:p>
          <a:p>
            <a:endParaRPr lang="bg-BG" dirty="0"/>
          </a:p>
          <a:p>
            <a:r>
              <a:rPr lang="en-US" dirty="0"/>
              <a:t>HTML </a:t>
            </a:r>
            <a:r>
              <a:rPr lang="bg-BG" dirty="0"/>
              <a:t>кода се обработка		</a:t>
            </a:r>
            <a:endParaRPr lang="en-US" dirty="0"/>
          </a:p>
          <a:p>
            <a:pPr marL="0" indent="0">
              <a:buNone/>
            </a:pPr>
            <a:r>
              <a:rPr lang="bg-BG" dirty="0"/>
              <a:t>	Кодът 	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"&lt;span&gt;</a:t>
            </a:r>
            <a:r>
              <a:rPr lang="bg-BG" dirty="0">
                <a:solidFill>
                  <a:srgbClr val="FF0000"/>
                </a:solidFill>
              </a:rPr>
              <a:t>Здравей :)&lt;/</a:t>
            </a:r>
            <a:r>
              <a:rPr lang="en-US" dirty="0">
                <a:solidFill>
                  <a:srgbClr val="FF0000"/>
                </a:solidFill>
              </a:rPr>
              <a:t>span&gt;"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bg-BG" dirty="0"/>
              <a:t>	Ще изведе:	 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&amp;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lt;span&amp;gt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r>
              <a:rPr lang="bg-BG" dirty="0">
                <a:solidFill>
                  <a:srgbClr val="FF0000"/>
                </a:solidFill>
              </a:rPr>
              <a:t>Здравей :)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&amp;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;/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span&amp;gt</a:t>
            </a:r>
            <a:r>
              <a:rPr lang="en-US" dirty="0"/>
              <a:t>;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	Което ще се отпечата като:	</a:t>
            </a:r>
            <a:r>
              <a:rPr lang="en-US" dirty="0">
                <a:solidFill>
                  <a:srgbClr val="FF0000"/>
                </a:solidFill>
              </a:rPr>
              <a:t>&lt;span&gt;</a:t>
            </a:r>
            <a:r>
              <a:rPr lang="bg-BG" dirty="0">
                <a:solidFill>
                  <a:srgbClr val="FF0000"/>
                </a:solidFill>
              </a:rPr>
              <a:t>Здравей :)&lt;/</a:t>
            </a:r>
            <a:r>
              <a:rPr lang="en-US" dirty="0">
                <a:solidFill>
                  <a:srgbClr val="FF0000"/>
                </a:solidFill>
              </a:rPr>
              <a:t>span&gt;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93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@() е сигурен, при потребителски данни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Когато данните в </a:t>
            </a:r>
            <a:r>
              <a:rPr lang="en-US" dirty="0"/>
              <a:t>@()</a:t>
            </a:r>
            <a:r>
              <a:rPr lang="bg-BG" dirty="0"/>
              <a:t> идват например от форма, дори да има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bg-BG" dirty="0"/>
              <a:t>код, той няма да бъда изпълнен:</a:t>
            </a:r>
          </a:p>
          <a:p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@{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code</a:t>
            </a:r>
            <a:r>
              <a:rPr lang="en-US" dirty="0"/>
              <a:t> = </a:t>
            </a:r>
            <a:r>
              <a:rPr lang="en-US" dirty="0">
                <a:solidFill>
                  <a:srgbClr val="00B050"/>
                </a:solidFill>
              </a:rPr>
              <a:t>"&lt;span&gt;</a:t>
            </a:r>
            <a:r>
              <a:rPr lang="bg-BG" dirty="0">
                <a:solidFill>
                  <a:srgbClr val="00B050"/>
                </a:solidFill>
              </a:rPr>
              <a:t>Здравей :)</a:t>
            </a:r>
            <a:r>
              <a:rPr lang="en-US" dirty="0">
                <a:solidFill>
                  <a:srgbClr val="00B050"/>
                </a:solidFill>
              </a:rPr>
              <a:t>p&lt;/span&gt;"</a:t>
            </a:r>
            <a:r>
              <a:rPr lang="en-US" dirty="0"/>
              <a:t>;</a:t>
            </a:r>
            <a:r>
              <a:rPr lang="bg-BG" dirty="0"/>
              <a:t>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@(</a:t>
            </a:r>
            <a:r>
              <a:rPr lang="en-US" dirty="0">
                <a:solidFill>
                  <a:srgbClr val="FF0000"/>
                </a:solidFill>
              </a:rPr>
              <a:t>code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64449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Html.Raw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Html.Raw</a:t>
            </a:r>
            <a:r>
              <a:rPr lang="en-US" dirty="0"/>
              <a:t>(), </a:t>
            </a:r>
            <a:r>
              <a:rPr lang="bg-BG" dirty="0"/>
              <a:t>за разлика от @() не променя текста. Затова кода, съдържащ се като текст ще бъде изпълнен.</a:t>
            </a:r>
          </a:p>
          <a:p>
            <a:endParaRPr lang="bg-BG" dirty="0"/>
          </a:p>
          <a:p>
            <a:pPr marL="0" indent="0">
              <a:buNone/>
            </a:pPr>
            <a:r>
              <a:rPr lang="bg-BG" dirty="0"/>
              <a:t>Кодът			</a:t>
            </a:r>
            <a:r>
              <a:rPr lang="en-US" dirty="0"/>
              <a:t>@</a:t>
            </a:r>
            <a:r>
              <a:rPr lang="en-US" dirty="0" err="1"/>
              <a:t>Html.Raw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"&lt;b&gt;</a:t>
            </a:r>
            <a:r>
              <a:rPr lang="bg-BG" dirty="0">
                <a:solidFill>
                  <a:srgbClr val="FF0000"/>
                </a:solidFill>
              </a:rPr>
              <a:t>Как си?</a:t>
            </a:r>
            <a:r>
              <a:rPr lang="en-US" dirty="0">
                <a:solidFill>
                  <a:srgbClr val="FF0000"/>
                </a:solidFill>
              </a:rPr>
              <a:t>&lt;/b&gt;"</a:t>
            </a:r>
            <a:r>
              <a:rPr lang="en-US" dirty="0"/>
              <a:t>)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Ще се отпечата:	</a:t>
            </a:r>
            <a:r>
              <a:rPr lang="en-US" dirty="0">
                <a:solidFill>
                  <a:srgbClr val="FF0000"/>
                </a:solidFill>
              </a:rPr>
              <a:t>&lt;b&gt;</a:t>
            </a:r>
            <a:r>
              <a:rPr lang="bg-BG" dirty="0">
                <a:solidFill>
                  <a:srgbClr val="FF0000"/>
                </a:solidFill>
              </a:rPr>
              <a:t>Как си?</a:t>
            </a:r>
            <a:r>
              <a:rPr lang="en-US" dirty="0">
                <a:solidFill>
                  <a:srgbClr val="FF0000"/>
                </a:solidFill>
              </a:rPr>
              <a:t>&lt;/b&gt;</a:t>
            </a:r>
            <a:endParaRPr lang="bg-B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Което ще доведе до изписване на удебелено </a:t>
            </a:r>
            <a:r>
              <a:rPr lang="en-US" dirty="0"/>
              <a:t>“</a:t>
            </a:r>
            <a:r>
              <a:rPr lang="bg-BG" dirty="0">
                <a:solidFill>
                  <a:srgbClr val="FF0000"/>
                </a:solidFill>
              </a:rPr>
              <a:t>Как си</a:t>
            </a:r>
            <a:r>
              <a:rPr lang="en-US" dirty="0">
                <a:solidFill>
                  <a:srgbClr val="FF0000"/>
                </a:solidFill>
              </a:rPr>
              <a:t>?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646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bg-BG" dirty="0"/>
              <a:t>и С</a:t>
            </a:r>
            <a:r>
              <a:rPr lang="en-US" dirty="0"/>
              <a:t># </a:t>
            </a:r>
            <a:r>
              <a:rPr lang="bg-BG" dirty="0"/>
              <a:t>в блокове с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bg-BG" dirty="0" err="1"/>
              <a:t>Про</a:t>
            </a:r>
            <a:r>
              <a:rPr lang="bg-BG" dirty="0"/>
              <a:t> блоковете с код, може да се лесно да се преминава от </a:t>
            </a:r>
            <a:r>
              <a:rPr lang="en-US" dirty="0"/>
              <a:t>html </a:t>
            </a:r>
            <a:r>
              <a:rPr lang="bg-BG" dirty="0"/>
              <a:t>в С</a:t>
            </a:r>
            <a:r>
              <a:rPr lang="en-US" dirty="0"/>
              <a:t># </a:t>
            </a:r>
            <a:r>
              <a:rPr lang="bg-BG" dirty="0"/>
              <a:t>и обратно. Необходимо е само </a:t>
            </a:r>
            <a:r>
              <a:rPr lang="en-US" dirty="0"/>
              <a:t>html </a:t>
            </a:r>
            <a:r>
              <a:rPr lang="bg-BG" dirty="0"/>
              <a:t>кода да бъде ограден от тагове.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en-US" dirty="0"/>
              <a:t>@{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name = "</a:t>
            </a:r>
            <a:r>
              <a:rPr lang="bg-BG" dirty="0"/>
              <a:t>Вики";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&lt;p&gt;</a:t>
            </a:r>
            <a:r>
              <a:rPr lang="bg-BG" dirty="0">
                <a:solidFill>
                  <a:srgbClr val="FF0000"/>
                </a:solidFill>
              </a:rPr>
              <a:t>Здравей @</a:t>
            </a:r>
            <a:r>
              <a:rPr lang="en-US" dirty="0">
                <a:solidFill>
                  <a:srgbClr val="FF0000"/>
                </a:solidFill>
              </a:rPr>
              <a:t>name&lt;/p&gt;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var</a:t>
            </a:r>
            <a:r>
              <a:rPr lang="en-US" dirty="0"/>
              <a:t> points = 21;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>
                <a:solidFill>
                  <a:srgbClr val="FF0000"/>
                </a:solidFill>
              </a:rPr>
              <a:t>&lt;p&gt;Вашите точки са: @points&lt;/p&gt;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370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</a:t>
            </a:r>
            <a:r>
              <a:rPr lang="bg-BG" dirty="0"/>
              <a:t>-</a:t>
            </a:r>
            <a:r>
              <a:rPr lang="en-US" dirty="0"/>
              <a:t>else</a:t>
            </a:r>
            <a:r>
              <a:rPr lang="bg-BG" dirty="0"/>
              <a:t> оператор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214938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greeting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.Now.Date.Hour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12)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greeting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Добро утро!"</a:t>
            </a: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greeting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Добър ден!"</a:t>
            </a: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greeting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17523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</a:t>
            </a:r>
            <a:r>
              <a:rPr lang="en-US" dirty="0"/>
              <a:t>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214938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greeting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.Now.Date.Hour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12)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greeting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Добро утро!"</a:t>
            </a: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greeting = </a:t>
            </a:r>
            <a:r>
              <a:rPr lang="en-US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Добър ден!"</a:t>
            </a: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greeting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8444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</a:t>
            </a:r>
            <a:r>
              <a:rPr lang="en-US" dirty="0"/>
              <a:t>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String greeting;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if(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DateTime.Now.Date.Hour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12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greeting =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000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Добро утро!"</a:t>
            </a:r>
            <a:r>
              <a:rPr lang="bg-BG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else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greeting =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bg-BG" sz="2000" dirty="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Добър ден!"</a:t>
            </a:r>
            <a:r>
              <a:rPr lang="bg-BG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&lt;p&gt;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greeting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3159724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 </a:t>
            </a:r>
            <a:r>
              <a:rPr lang="en-US" dirty="0"/>
              <a:t>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2149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n-NO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nn-NO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72879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 </a:t>
            </a:r>
            <a:r>
              <a:rPr lang="en-US" dirty="0"/>
              <a:t>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@{</a:t>
            </a:r>
          </a:p>
          <a:p>
            <a:pPr marL="0" indent="0">
              <a:buNone/>
            </a:pPr>
            <a:r>
              <a:rPr lang="en-US" dirty="0"/>
              <a:t>       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msg</a:t>
            </a:r>
            <a:r>
              <a:rPr lang="en-US" dirty="0"/>
              <a:t> = "";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nn-NO" dirty="0"/>
              <a:t> </a:t>
            </a:r>
            <a:r>
              <a:rPr lang="nn-NO" dirty="0">
                <a:solidFill>
                  <a:srgbClr val="FF0000"/>
                </a:solidFill>
              </a:rPr>
              <a:t>@for</a:t>
            </a:r>
            <a:r>
              <a:rPr lang="nn-NO" dirty="0"/>
              <a:t> (int i = 0; i &lt; 10; i++)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msg</a:t>
            </a:r>
            <a:r>
              <a:rPr lang="en-US" dirty="0"/>
              <a:t> += </a:t>
            </a:r>
            <a:r>
              <a:rPr lang="en-US" dirty="0" err="1"/>
              <a:t>i</a:t>
            </a:r>
            <a:r>
              <a:rPr lang="en-US" dirty="0"/>
              <a:t> + </a:t>
            </a:r>
            <a:r>
              <a:rPr lang="en-US" dirty="0">
                <a:solidFill>
                  <a:srgbClr val="00B050"/>
                </a:solidFill>
              </a:rPr>
              <a:t>","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@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msg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78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Смесване на </a:t>
            </a:r>
            <a:r>
              <a:rPr lang="en-US" dirty="0"/>
              <a:t>HTML</a:t>
            </a:r>
            <a:r>
              <a:rPr lang="bg-BG" dirty="0"/>
              <a:t> с </a:t>
            </a:r>
            <a:r>
              <a:rPr lang="en-US" dirty="0"/>
              <a:t>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5999"/>
            <a:ext cx="10515600" cy="38909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"Name"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Family"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&lt;text&gt;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Име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&lt;/text&gt;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36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&lt;text&gt; </a:t>
            </a:r>
            <a:r>
              <a:rPr lang="bg-BG" sz="3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се разпознава от 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razor </a:t>
            </a:r>
            <a:r>
              <a:rPr lang="bg-BG" sz="3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и се игнорира.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675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Смесване на </a:t>
            </a:r>
            <a:r>
              <a:rPr lang="en-US" dirty="0"/>
              <a:t>HTML</a:t>
            </a:r>
            <a:r>
              <a:rPr lang="bg-BG" dirty="0"/>
              <a:t> с </a:t>
            </a:r>
            <a:r>
              <a:rPr lang="en-US" dirty="0"/>
              <a:t>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5999"/>
            <a:ext cx="10515600" cy="38909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@: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отпечатва целия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ред до края като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"Name"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Family"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bg-BG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@: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Име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/&gt;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4858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bg-BG" dirty="0"/>
              <a:t>оператор и </a:t>
            </a:r>
            <a:r>
              <a:rPr lang="en-US" dirty="0" err="1"/>
              <a:t>Html.Raw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2149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bg-BG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@{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  for</a:t>
            </a:r>
            <a:r>
              <a:rPr lang="nn-NO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Html.Raw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"&lt;b&gt;"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"&lt;b&gt;"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43708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Постепенна промяна на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цвета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текст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31495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@{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blue = 25 *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blueHex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blue.ToString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"X2"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color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"#00FF"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blueHex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"&lt;span style='color:"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color +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"'&gt;A&lt;/span&gt;"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 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Html.Raw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468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Оператора </a:t>
            </a:r>
            <a:r>
              <a:rPr lang="en-US" dirty="0"/>
              <a:t>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@switch (value)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case 1:</a:t>
            </a:r>
          </a:p>
          <a:p>
            <a:pPr marL="0" indent="0">
              <a:buNone/>
            </a:pPr>
            <a:r>
              <a:rPr lang="en-US" dirty="0"/>
              <a:t>        		&lt;p&gt;</a:t>
            </a:r>
            <a:r>
              <a:rPr lang="bg-BG" dirty="0"/>
              <a:t>Стойността е </a:t>
            </a:r>
            <a:r>
              <a:rPr lang="en-US" dirty="0"/>
              <a:t>1!&lt;/p&gt;</a:t>
            </a:r>
          </a:p>
          <a:p>
            <a:pPr marL="0" indent="0">
              <a:buNone/>
            </a:pPr>
            <a:r>
              <a:rPr lang="en-US" dirty="0"/>
              <a:t>        		break;</a:t>
            </a:r>
          </a:p>
          <a:p>
            <a:pPr marL="0" indent="0">
              <a:buNone/>
            </a:pPr>
            <a:r>
              <a:rPr lang="en-US" dirty="0"/>
              <a:t>      case 2:</a:t>
            </a:r>
          </a:p>
          <a:p>
            <a:pPr marL="0" indent="0">
              <a:buNone/>
            </a:pPr>
            <a:r>
              <a:rPr lang="en-US" dirty="0"/>
              <a:t>        		&lt;p&gt;</a:t>
            </a:r>
            <a:r>
              <a:rPr lang="bg-BG" dirty="0"/>
              <a:t>Стойността е 2</a:t>
            </a:r>
            <a:r>
              <a:rPr lang="en-US" dirty="0"/>
              <a:t>&lt;/p&gt;</a:t>
            </a:r>
          </a:p>
          <a:p>
            <a:pPr marL="0" indent="0">
              <a:buNone/>
            </a:pPr>
            <a:r>
              <a:rPr lang="en-US" dirty="0"/>
              <a:t>        		break;</a:t>
            </a:r>
          </a:p>
          <a:p>
            <a:pPr marL="0" indent="0">
              <a:buNone/>
            </a:pPr>
            <a:r>
              <a:rPr lang="en-US" dirty="0"/>
              <a:t>      default:</a:t>
            </a:r>
          </a:p>
          <a:p>
            <a:pPr marL="0" indent="0">
              <a:buNone/>
            </a:pPr>
            <a:r>
              <a:rPr lang="en-US" dirty="0"/>
              <a:t>        		&lt;p&gt;</a:t>
            </a:r>
            <a:r>
              <a:rPr lang="bg-BG" dirty="0"/>
              <a:t>@</a:t>
            </a:r>
            <a:r>
              <a:rPr lang="en-US" dirty="0"/>
              <a:t>value&lt;/p&gt;</a:t>
            </a:r>
          </a:p>
          <a:p>
            <a:pPr marL="0" indent="0">
              <a:buNone/>
            </a:pPr>
            <a:r>
              <a:rPr lang="en-US" dirty="0"/>
              <a:t>        		break;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4236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Операторите </a:t>
            </a:r>
            <a:r>
              <a:rPr lang="en-US" dirty="0"/>
              <a:t>while</a:t>
            </a:r>
            <a:r>
              <a:rPr lang="bg-BG" dirty="0"/>
              <a:t> и </a:t>
            </a:r>
            <a:r>
              <a:rPr lang="en-US" dirty="0"/>
              <a:t>do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@while (</a:t>
            </a:r>
            <a:r>
              <a:rPr lang="en-US" dirty="0" err="1"/>
              <a:t>i</a:t>
            </a:r>
            <a:r>
              <a:rPr lang="en-US" dirty="0"/>
              <a:t>&lt;100)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@do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} while (</a:t>
            </a:r>
            <a:r>
              <a:rPr lang="en-US" dirty="0" err="1"/>
              <a:t>i</a:t>
            </a:r>
            <a:r>
              <a:rPr lang="en-US" dirty="0"/>
              <a:t>&lt;100);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487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Razor </a:t>
            </a:r>
            <a:r>
              <a:rPr lang="bg-BG" dirty="0"/>
              <a:t>коментари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881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За да коментираме даден код, с помощта на </a:t>
            </a:r>
            <a:r>
              <a:rPr lang="en-US" dirty="0"/>
              <a:t>razor</a:t>
            </a:r>
            <a:r>
              <a:rPr lang="bg-BG" dirty="0"/>
              <a:t>, използваме</a:t>
            </a:r>
            <a:r>
              <a:rPr lang="bg-BG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@*</a:t>
            </a:r>
            <a:r>
              <a:rPr lang="en-US" dirty="0"/>
              <a:t>  </a:t>
            </a:r>
            <a:r>
              <a:rPr lang="bg-BG" dirty="0"/>
              <a:t>и  </a:t>
            </a:r>
            <a:r>
              <a:rPr lang="en-US" dirty="0">
                <a:solidFill>
                  <a:srgbClr val="FF0000"/>
                </a:solidFill>
              </a:rPr>
              <a:t>*@</a:t>
            </a:r>
            <a:r>
              <a:rPr lang="bg-BG" dirty="0"/>
              <a:t>:</a:t>
            </a:r>
          </a:p>
          <a:p>
            <a:endParaRPr lang="bg-BG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@*</a:t>
            </a:r>
          </a:p>
          <a:p>
            <a:pPr marL="0" indent="0">
              <a:buNone/>
            </a:pPr>
            <a:r>
              <a:rPr lang="en-US" dirty="0"/>
              <a:t>    @while(</a:t>
            </a:r>
            <a:r>
              <a:rPr lang="en-US" dirty="0" err="1"/>
              <a:t>i</a:t>
            </a:r>
            <a:r>
              <a:rPr lang="en-US" dirty="0"/>
              <a:t>&lt;10)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bg-BG" dirty="0"/>
              <a:t>	</a:t>
            </a:r>
            <a:r>
              <a:rPr lang="en-US" dirty="0"/>
              <a:t>/* C# </a:t>
            </a:r>
            <a:r>
              <a:rPr lang="bg-BG" dirty="0"/>
              <a:t>коментар </a:t>
            </a:r>
            <a:r>
              <a:rPr lang="en-US" dirty="0"/>
              <a:t>*/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bg-BG" dirty="0"/>
              <a:t>	</a:t>
            </a:r>
            <a:r>
              <a:rPr lang="en-US" dirty="0"/>
              <a:t>// C# </a:t>
            </a:r>
            <a:r>
              <a:rPr lang="bg-BG" dirty="0"/>
              <a:t>коментар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}</a:t>
            </a:r>
            <a:endParaRPr lang="bg-B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	</a:t>
            </a:r>
            <a:r>
              <a:rPr lang="en-US" dirty="0"/>
              <a:t>&lt;!-- HTML </a:t>
            </a:r>
            <a:r>
              <a:rPr lang="bg-BG" dirty="0"/>
              <a:t>коментар</a:t>
            </a:r>
            <a:r>
              <a:rPr lang="en-US" dirty="0"/>
              <a:t>--&gt;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*@</a:t>
            </a:r>
          </a:p>
        </p:txBody>
      </p:sp>
    </p:spTree>
    <p:extLst>
      <p:ext uri="{BB962C8B-B14F-4D97-AF65-F5344CB8AC3E}">
        <p14:creationId xmlns:p14="http://schemas.microsoft.com/office/powerpoint/2010/main" val="583853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Директиви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@using</a:t>
            </a:r>
            <a:r>
              <a:rPr lang="bg-BG" dirty="0"/>
              <a:t> –Включва </a:t>
            </a:r>
            <a:r>
              <a:rPr lang="bg-BG"/>
              <a:t>библиотека в </a:t>
            </a:r>
            <a:r>
              <a:rPr lang="en-US" dirty="0" err="1"/>
              <a:t>cshtml</a:t>
            </a:r>
            <a:r>
              <a:rPr lang="en-US" dirty="0"/>
              <a:t> </a:t>
            </a:r>
            <a:r>
              <a:rPr lang="bg-BG" dirty="0"/>
              <a:t>страницата: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@using System.IO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r>
              <a:rPr lang="en-US" dirty="0"/>
              <a:t>@model</a:t>
            </a:r>
            <a:r>
              <a:rPr lang="bg-BG" dirty="0"/>
              <a:t> – Задава модела, който се приема от изгледа:</a:t>
            </a:r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/>
              <a:t>@model </a:t>
            </a:r>
            <a:r>
              <a:rPr lang="en-US" dirty="0" err="1"/>
              <a:t>MyClass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bg-BG" dirty="0"/>
              <a:t>Други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25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</TotalTime>
  <Words>1638</Words>
  <Application>Microsoft Office PowerPoint</Application>
  <PresentationFormat>Widescreen</PresentationFormat>
  <Paragraphs>289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Times New Roman</vt:lpstr>
      <vt:lpstr>Office Theme</vt:lpstr>
      <vt:lpstr>ASP.NET  MVC</vt:lpstr>
      <vt:lpstr>Добавяне на изгледи</vt:lpstr>
      <vt:lpstr>Предаване на данни с помощта на ViewBag</vt:lpstr>
      <vt:lpstr>Предаване на данни с помощта на ViewData</vt:lpstr>
      <vt:lpstr>Razor Viewing Engine</vt:lpstr>
      <vt:lpstr>Razor синтаксис</vt:lpstr>
      <vt:lpstr>Деклариране и отпечатване на променлива</vt:lpstr>
      <vt:lpstr>Деклариране и отпечатване на променлива</vt:lpstr>
      <vt:lpstr>Деклариране и отпечатване на променлива</vt:lpstr>
      <vt:lpstr>Бързо пресмятане на израз с @()</vt:lpstr>
      <vt:lpstr>@() за конкатенация</vt:lpstr>
      <vt:lpstr>@() при извеждане на текст и html</vt:lpstr>
      <vt:lpstr>@() е сигурен, при потребителски данни</vt:lpstr>
      <vt:lpstr>Html.Raw()</vt:lpstr>
      <vt:lpstr>HTML и С# в блокове с код</vt:lpstr>
      <vt:lpstr>if-else оператор</vt:lpstr>
      <vt:lpstr>Оператор if</vt:lpstr>
      <vt:lpstr>Оператор if</vt:lpstr>
      <vt:lpstr>Оператор for</vt:lpstr>
      <vt:lpstr>Оператор for</vt:lpstr>
      <vt:lpstr>Смесване на HTML с C#</vt:lpstr>
      <vt:lpstr>Смесване на HTML с C#</vt:lpstr>
      <vt:lpstr>for оператор и Html.Raw</vt:lpstr>
      <vt:lpstr>Постепенна промяна на цвета текст</vt:lpstr>
      <vt:lpstr>Оператора Switch</vt:lpstr>
      <vt:lpstr>Операторите while и do while</vt:lpstr>
      <vt:lpstr>Razor коментари</vt:lpstr>
      <vt:lpstr>Директиви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 MVC</dc:title>
  <dc:creator>Metodi Dimitrov</dc:creator>
  <cp:lastModifiedBy>Методи Димитров</cp:lastModifiedBy>
  <cp:revision>165</cp:revision>
  <dcterms:created xsi:type="dcterms:W3CDTF">2013-10-21T16:14:51Z</dcterms:created>
  <dcterms:modified xsi:type="dcterms:W3CDTF">2025-09-27T10:41:38Z</dcterms:modified>
</cp:coreProperties>
</file>