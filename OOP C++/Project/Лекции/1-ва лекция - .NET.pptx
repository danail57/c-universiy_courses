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74" r:id="rId3"/>
    <p:sldId id="270" r:id="rId4"/>
    <p:sldId id="286" r:id="rId5"/>
    <p:sldId id="278" r:id="rId6"/>
    <p:sldId id="258" r:id="rId7"/>
    <p:sldId id="263" r:id="rId8"/>
    <p:sldId id="285" r:id="rId9"/>
    <p:sldId id="275" r:id="rId10"/>
    <p:sldId id="281" r:id="rId11"/>
    <p:sldId id="282" r:id="rId12"/>
    <p:sldId id="283" r:id="rId13"/>
    <p:sldId id="284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434" autoAdjust="0"/>
  </p:normalViewPr>
  <p:slideViewPr>
    <p:cSldViewPr snapToGrid="0">
      <p:cViewPr varScale="1">
        <p:scale>
          <a:sx n="121" d="100"/>
          <a:sy n="121" d="100"/>
        </p:scale>
        <p:origin x="108" y="3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F570FA-8D2F-4572-B6AF-FB9DF86DACEB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9E2C3-7D3F-4930-AB26-72A67CC33D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449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Автоматично управление на ресурсите - .NET Framework управлява автоматично ресурсите като файлове, памет, мрежови връзки и бази от данни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F9E2C3-7D3F-4930-AB26-72A67CC33D4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41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39BD-8B2A-4AFF-8D2D-CAB00BD5E7B2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39DD6-F435-4034-9628-0F1F82C0C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049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39BD-8B2A-4AFF-8D2D-CAB00BD5E7B2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39DD6-F435-4034-9628-0F1F82C0C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096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39BD-8B2A-4AFF-8D2D-CAB00BD5E7B2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39DD6-F435-4034-9628-0F1F82C0C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407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39BD-8B2A-4AFF-8D2D-CAB00BD5E7B2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39DD6-F435-4034-9628-0F1F82C0C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560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39BD-8B2A-4AFF-8D2D-CAB00BD5E7B2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39DD6-F435-4034-9628-0F1F82C0C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744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39BD-8B2A-4AFF-8D2D-CAB00BD5E7B2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39DD6-F435-4034-9628-0F1F82C0C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545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39BD-8B2A-4AFF-8D2D-CAB00BD5E7B2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39DD6-F435-4034-9628-0F1F82C0C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758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39BD-8B2A-4AFF-8D2D-CAB00BD5E7B2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39DD6-F435-4034-9628-0F1F82C0C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078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39BD-8B2A-4AFF-8D2D-CAB00BD5E7B2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39DD6-F435-4034-9628-0F1F82C0C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597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39BD-8B2A-4AFF-8D2D-CAB00BD5E7B2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39DD6-F435-4034-9628-0F1F82C0C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918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39BD-8B2A-4AFF-8D2D-CAB00BD5E7B2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39DD6-F435-4034-9628-0F1F82C0C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671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A339BD-8B2A-4AFF-8D2D-CAB00BD5E7B2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539DD6-F435-4034-9628-0F1F82C0C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551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core/introduction" TargetMode="External"/><Relationship Id="rId2" Type="http://schemas.openxmlformats.org/officeDocument/2006/relationships/hyperlink" Target="https://learn.microsoft.com/bg-bg/dotnet/fundamental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translate.google.com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7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Microsoft .NET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be-BY" sz="3200" dirty="0"/>
              <a:t>Програмиране за интернет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73883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Microsoft .NET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.NET </a:t>
            </a:r>
            <a:r>
              <a:rPr lang="bg-BG" b="1" dirty="0"/>
              <a:t>е платформа за разработка на приложения, </a:t>
            </a:r>
          </a:p>
          <a:p>
            <a:pPr marL="0" indent="0">
              <a:buNone/>
            </a:pPr>
            <a:r>
              <a:rPr lang="bg-BG" b="1" dirty="0"/>
              <a:t>която позволява изграждането на:</a:t>
            </a:r>
          </a:p>
          <a:p>
            <a:pPr lvl="1"/>
            <a:r>
              <a:rPr lang="bg-BG" sz="2800" b="1" dirty="0"/>
              <a:t>Настолни приложения (</a:t>
            </a:r>
            <a:r>
              <a:rPr lang="en-US" sz="2800" b="1" dirty="0"/>
              <a:t>desktop)</a:t>
            </a:r>
            <a:r>
              <a:rPr lang="bg-BG" sz="2800" b="1" dirty="0"/>
              <a:t> – конзолни или </a:t>
            </a:r>
            <a:r>
              <a:rPr lang="en-US" sz="2800" b="1" dirty="0"/>
              <a:t>win32/win64</a:t>
            </a:r>
          </a:p>
          <a:p>
            <a:pPr lvl="1"/>
            <a:r>
              <a:rPr lang="bg-BG" sz="2800" b="1" dirty="0"/>
              <a:t>Уеб приложения</a:t>
            </a:r>
          </a:p>
          <a:p>
            <a:pPr lvl="1"/>
            <a:r>
              <a:rPr lang="bg-BG" sz="2800" b="1" dirty="0"/>
              <a:t>Мобилни приложения</a:t>
            </a:r>
            <a:endParaRPr lang="en-US" sz="2800" b="1" dirty="0"/>
          </a:p>
          <a:p>
            <a:pPr lvl="1"/>
            <a:r>
              <a:rPr lang="bg-BG" sz="2800" b="1" dirty="0"/>
              <a:t>други</a:t>
            </a:r>
            <a:r>
              <a:rPr lang="en-US" sz="2800" b="1" dirty="0"/>
              <a:t>;</a:t>
            </a:r>
            <a:endParaRPr lang="bg-BG" sz="2800" b="1" dirty="0"/>
          </a:p>
          <a:p>
            <a:pPr marL="0" indent="0">
              <a:buNone/>
            </a:pPr>
            <a:endParaRPr lang="bg-BG" b="1" dirty="0"/>
          </a:p>
          <a:p>
            <a:pPr marL="0" indent="0">
              <a:buNone/>
            </a:pPr>
            <a:r>
              <a:rPr lang="bg-BG" b="1" dirty="0"/>
              <a:t>Можем да я съпоставим с </a:t>
            </a:r>
            <a:r>
              <a:rPr lang="en-US" b="1" dirty="0"/>
              <a:t>JAVA </a:t>
            </a:r>
            <a:r>
              <a:rPr lang="bg-BG" b="1" dirty="0"/>
              <a:t>платформата.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875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Microsoft .NET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54776"/>
          <a:stretch/>
        </p:blipFill>
        <p:spPr>
          <a:xfrm>
            <a:off x="6501467" y="1690688"/>
            <a:ext cx="3839503" cy="480883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7D8453A-4EDF-430B-B8A3-32C75673BDEC}"/>
              </a:ext>
            </a:extLst>
          </p:cNvPr>
          <p:cNvSpPr/>
          <p:nvPr/>
        </p:nvSpPr>
        <p:spPr>
          <a:xfrm>
            <a:off x="1308681" y="5261634"/>
            <a:ext cx="3755614" cy="1231241"/>
          </a:xfrm>
          <a:prstGeom prst="rect">
            <a:avLst/>
          </a:prstGeom>
          <a:solidFill>
            <a:srgbClr val="9999FF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C, C++ </a:t>
            </a:r>
            <a:r>
              <a:rPr lang="bg-BG" sz="3200" dirty="0">
                <a:solidFill>
                  <a:schemeClr val="bg1"/>
                </a:solidFill>
              </a:rPr>
              <a:t>код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E24435-AA56-4421-9FE7-3C5C17129CAA}"/>
              </a:ext>
            </a:extLst>
          </p:cNvPr>
          <p:cNvSpPr/>
          <p:nvPr/>
        </p:nvSpPr>
        <p:spPr>
          <a:xfrm>
            <a:off x="1308681" y="3492836"/>
            <a:ext cx="3755614" cy="1231241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Native </a:t>
            </a:r>
            <a:r>
              <a:rPr lang="bg-BG" sz="3200" dirty="0">
                <a:solidFill>
                  <a:schemeClr val="tx1"/>
                </a:solidFill>
              </a:rPr>
              <a:t>код</a:t>
            </a:r>
            <a:endParaRPr lang="en-US" sz="3200" dirty="0">
              <a:solidFill>
                <a:schemeClr val="tx1"/>
              </a:solidFill>
            </a:endParaRPr>
          </a:p>
          <a:p>
            <a:pPr algn="ctr"/>
            <a:r>
              <a:rPr lang="en-US" sz="3200" dirty="0">
                <a:solidFill>
                  <a:schemeClr val="tx1"/>
                </a:solidFill>
              </a:rPr>
              <a:t>(exe </a:t>
            </a:r>
            <a:r>
              <a:rPr lang="bg-BG" sz="3200" dirty="0">
                <a:solidFill>
                  <a:schemeClr val="tx1"/>
                </a:solidFill>
              </a:rPr>
              <a:t>или </a:t>
            </a:r>
            <a:r>
              <a:rPr lang="en-US" sz="3200" dirty="0" err="1">
                <a:solidFill>
                  <a:schemeClr val="tx1"/>
                </a:solidFill>
              </a:rPr>
              <a:t>dll</a:t>
            </a:r>
            <a:r>
              <a:rPr lang="en-US" sz="3200" dirty="0">
                <a:solidFill>
                  <a:schemeClr val="tx1"/>
                </a:solidFill>
              </a:rPr>
              <a:t>)</a:t>
            </a:r>
            <a:endParaRPr lang="bg-BG" sz="3200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E38DEE0-A516-43E2-AFE2-E6FC15666F11}"/>
              </a:ext>
            </a:extLst>
          </p:cNvPr>
          <p:cNvCxnSpPr>
            <a:stCxn id="5" idx="0"/>
            <a:endCxn id="6" idx="2"/>
          </p:cNvCxnSpPr>
          <p:nvPr/>
        </p:nvCxnSpPr>
        <p:spPr>
          <a:xfrm flipV="1">
            <a:off x="3186488" y="4724077"/>
            <a:ext cx="0" cy="537557"/>
          </a:xfrm>
          <a:prstGeom prst="straightConnector1">
            <a:avLst/>
          </a:prstGeom>
          <a:ln w="50800" cap="flat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3015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981635"/>
          </a:xfrm>
        </p:spPr>
        <p:txBody>
          <a:bodyPr/>
          <a:lstStyle/>
          <a:p>
            <a:r>
              <a:rPr lang="en-US" dirty="0"/>
              <a:t>JIT </a:t>
            </a:r>
            <a:r>
              <a:rPr lang="bg-BG" dirty="0"/>
              <a:t>Компилатор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926" y="1475517"/>
            <a:ext cx="7923574" cy="51130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765" y="2221891"/>
            <a:ext cx="2578687" cy="3620325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8727141" y="1250576"/>
            <a:ext cx="40341" cy="544605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0898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CLR</a:t>
            </a:r>
            <a:r>
              <a:rPr lang="bg-BG" dirty="0"/>
              <a:t> (</a:t>
            </a:r>
            <a:r>
              <a:rPr lang="en-US" dirty="0"/>
              <a:t>Common Language Runtime)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59736"/>
          </a:xfrm>
        </p:spPr>
        <p:txBody>
          <a:bodyPr>
            <a:noAutofit/>
          </a:bodyPr>
          <a:lstStyle/>
          <a:p>
            <a:r>
              <a:rPr lang="bg-BG" sz="3200" dirty="0"/>
              <a:t>Представлява среда за изпълнение на кода – виртуална машина (може да си го представим като програма, която изпълнява друга програма)</a:t>
            </a:r>
          </a:p>
          <a:p>
            <a:endParaRPr lang="en-US" sz="700" dirty="0"/>
          </a:p>
          <a:p>
            <a:r>
              <a:rPr lang="bg-BG" sz="3200" dirty="0"/>
              <a:t>Съдържа функционалност за управление на:</a:t>
            </a:r>
          </a:p>
          <a:p>
            <a:pPr lvl="1"/>
            <a:endParaRPr lang="bg-BG" sz="2000" dirty="0"/>
          </a:p>
          <a:p>
            <a:pPr lvl="2"/>
            <a:r>
              <a:rPr lang="bg-BG" sz="2800" dirty="0"/>
              <a:t>Паметта</a:t>
            </a:r>
          </a:p>
          <a:p>
            <a:pPr lvl="2"/>
            <a:r>
              <a:rPr lang="bg-BG" sz="2800" dirty="0"/>
              <a:t>Нишките</a:t>
            </a:r>
          </a:p>
          <a:p>
            <a:pPr lvl="2"/>
            <a:r>
              <a:rPr lang="bg-BG" sz="2800" dirty="0"/>
              <a:t>Живота на обектите</a:t>
            </a:r>
          </a:p>
          <a:p>
            <a:pPr lvl="2"/>
            <a:r>
              <a:rPr lang="bg-BG" sz="2800" dirty="0"/>
              <a:t>Други</a:t>
            </a:r>
          </a:p>
          <a:p>
            <a:pPr marL="914400" lvl="2" indent="0">
              <a:buNone/>
            </a:pPr>
            <a:endParaRPr lang="bg-BG" sz="700" dirty="0"/>
          </a:p>
          <a:p>
            <a:r>
              <a:rPr lang="bg-BG" sz="3200" dirty="0"/>
              <a:t>Притежава </a:t>
            </a:r>
            <a:r>
              <a:rPr lang="en-US" sz="3200" dirty="0"/>
              <a:t>Garbage Collector</a:t>
            </a:r>
            <a:endParaRPr lang="bg-BG" sz="3200" dirty="0"/>
          </a:p>
        </p:txBody>
      </p:sp>
    </p:spTree>
    <p:extLst>
      <p:ext uri="{BB962C8B-B14F-4D97-AF65-F5344CB8AC3E}">
        <p14:creationId xmlns:p14="http://schemas.microsoft.com/office/powerpoint/2010/main" val="3592412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/>
              <a:t>Многоезичност</a:t>
            </a:r>
            <a:r>
              <a:rPr lang="bg-BG" dirty="0"/>
              <a:t> на </a:t>
            </a:r>
            <a:r>
              <a:rPr lang="en-US" dirty="0"/>
              <a:t>.NET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416656" cy="4848130"/>
          </a:xfrm>
        </p:spPr>
        <p:txBody>
          <a:bodyPr>
            <a:normAutofit/>
          </a:bodyPr>
          <a:lstStyle/>
          <a:p>
            <a:r>
              <a:rPr lang="bg-BG" dirty="0"/>
              <a:t>Многоезикова поддръжка</a:t>
            </a:r>
            <a:endParaRPr lang="en-US" dirty="0"/>
          </a:p>
          <a:p>
            <a:pPr marL="268288" indent="0">
              <a:buNone/>
              <a:tabLst>
                <a:tab pos="268288" algn="l"/>
              </a:tabLst>
            </a:pPr>
            <a:r>
              <a:rPr lang="en-US" dirty="0"/>
              <a:t>Net </a:t>
            </a:r>
            <a:r>
              <a:rPr lang="bg-BG" dirty="0"/>
              <a:t>позволява да пишем приложения на множество езици като:</a:t>
            </a:r>
          </a:p>
          <a:p>
            <a:pPr marL="268288" indent="0">
              <a:buNone/>
              <a:tabLst>
                <a:tab pos="268288" algn="l"/>
              </a:tabLst>
            </a:pPr>
            <a:r>
              <a:rPr lang="en-US" dirty="0"/>
              <a:t>C#,  C++ (C++/CLI),  Visual Basic (VB.NET)</a:t>
            </a:r>
            <a:r>
              <a:rPr lang="bg-BG" dirty="0"/>
              <a:t>, </a:t>
            </a:r>
            <a:r>
              <a:rPr lang="en-US" dirty="0"/>
              <a:t>Python (</a:t>
            </a:r>
            <a:r>
              <a:rPr lang="en-US" dirty="0" err="1"/>
              <a:t>IronPython</a:t>
            </a:r>
            <a:r>
              <a:rPr lang="en-US" dirty="0"/>
              <a:t>) </a:t>
            </a:r>
            <a:r>
              <a:rPr lang="bg-BG" dirty="0"/>
              <a:t>и др.</a:t>
            </a:r>
            <a:endParaRPr lang="en-US" dirty="0"/>
          </a:p>
          <a:p>
            <a:endParaRPr lang="bg-BG" dirty="0"/>
          </a:p>
          <a:p>
            <a:r>
              <a:rPr lang="bg-BG" dirty="0" err="1"/>
              <a:t>Междуезикова</a:t>
            </a:r>
            <a:r>
              <a:rPr lang="bg-BG" dirty="0"/>
              <a:t> интеграция – позволява в едно и също приложение да бъде включен код, написан на различни езици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4856" y="1825624"/>
            <a:ext cx="3756999" cy="460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045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Някои понятия свързани с .</a:t>
            </a:r>
            <a:r>
              <a:rPr lang="en-US" dirty="0"/>
              <a:t>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214" y="1825625"/>
            <a:ext cx="7727576" cy="4669304"/>
          </a:xfrm>
        </p:spPr>
        <p:txBody>
          <a:bodyPr>
            <a:noAutofit/>
          </a:bodyPr>
          <a:lstStyle/>
          <a:p>
            <a:r>
              <a:rPr lang="en-US" sz="2400" dirty="0"/>
              <a:t>MSIL</a:t>
            </a:r>
            <a:r>
              <a:rPr lang="bg-BG" sz="2400" dirty="0"/>
              <a:t>/</a:t>
            </a:r>
            <a:r>
              <a:rPr lang="en-US" sz="2400" dirty="0"/>
              <a:t>IL (Microsoft Intermediate Language) – </a:t>
            </a:r>
            <a:r>
              <a:rPr lang="bg-BG" sz="2400" dirty="0"/>
              <a:t>междинен език на </a:t>
            </a:r>
            <a:r>
              <a:rPr lang="en-US" sz="2400" dirty="0"/>
              <a:t>Microsoft. </a:t>
            </a:r>
            <a:r>
              <a:rPr lang="bg-BG" sz="2400" dirty="0"/>
              <a:t>Подобен е на </a:t>
            </a:r>
            <a:r>
              <a:rPr lang="en-US" sz="2400" dirty="0"/>
              <a:t>byte code</a:t>
            </a:r>
            <a:r>
              <a:rPr lang="bg-BG" sz="2400" dirty="0"/>
              <a:t> в </a:t>
            </a:r>
            <a:r>
              <a:rPr lang="en-US" sz="2400" dirty="0"/>
              <a:t>JAVA.</a:t>
            </a:r>
          </a:p>
          <a:p>
            <a:endParaRPr lang="bg-BG" sz="1000" dirty="0"/>
          </a:p>
          <a:p>
            <a:r>
              <a:rPr lang="en-US" sz="2400" dirty="0"/>
              <a:t>CLS (Common Language Specification) – </a:t>
            </a:r>
            <a:r>
              <a:rPr lang="bg-BG" sz="2400" dirty="0"/>
              <a:t>Обща езикова спецификация</a:t>
            </a:r>
          </a:p>
          <a:p>
            <a:endParaRPr lang="bg-BG" sz="1000" dirty="0"/>
          </a:p>
          <a:p>
            <a:r>
              <a:rPr lang="en-US" sz="2400" dirty="0"/>
              <a:t>CTS (Common Type Specification) – </a:t>
            </a:r>
            <a:r>
              <a:rPr lang="bg-BG" sz="2400" dirty="0"/>
              <a:t>Обща система от типовете</a:t>
            </a:r>
          </a:p>
          <a:p>
            <a:endParaRPr lang="en-US" sz="1000" dirty="0"/>
          </a:p>
          <a:p>
            <a:r>
              <a:rPr lang="en-US" sz="2400" dirty="0"/>
              <a:t>JIT (Just In Time compiler) – </a:t>
            </a:r>
            <a:r>
              <a:rPr lang="bg-BG" sz="2400" dirty="0"/>
              <a:t>Компилиране при поискване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Garbage Collection </a:t>
            </a:r>
            <a:r>
              <a:rPr lang="bg-BG" sz="2400" dirty="0"/>
              <a:t>– събирач на боклука (излезли от употреба обекти)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0624" y="1825624"/>
            <a:ext cx="3661231" cy="448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044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4102"/>
            <a:ext cx="10515600" cy="1020891"/>
          </a:xfrm>
        </p:spPr>
        <p:txBody>
          <a:bodyPr>
            <a:normAutofit/>
          </a:bodyPr>
          <a:lstStyle/>
          <a:p>
            <a:r>
              <a:rPr lang="en-US" dirty="0"/>
              <a:t>CTS (Common Type Specification)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69" t="53620" r="10698" b="22075"/>
          <a:stretch/>
        </p:blipFill>
        <p:spPr>
          <a:xfrm>
            <a:off x="101040" y="1950818"/>
            <a:ext cx="5479490" cy="126864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85" t="15351" r="13607" b="5268"/>
          <a:stretch/>
        </p:blipFill>
        <p:spPr>
          <a:xfrm>
            <a:off x="5409977" y="1825626"/>
            <a:ext cx="6559960" cy="491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729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.NET</a:t>
            </a:r>
            <a:r>
              <a:rPr lang="bg-BG" dirty="0"/>
              <a:t> материали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54225"/>
            <a:ext cx="10968319" cy="4351338"/>
          </a:xfrm>
        </p:spPr>
        <p:txBody>
          <a:bodyPr>
            <a:normAutofit/>
          </a:bodyPr>
          <a:lstStyle/>
          <a:p>
            <a:r>
              <a:rPr lang="bg-BG" dirty="0"/>
              <a:t>Материали и Уроци, свързани с </a:t>
            </a:r>
            <a:r>
              <a:rPr lang="en-US" dirty="0"/>
              <a:t>.NET</a:t>
            </a:r>
            <a:r>
              <a:rPr lang="bg-BG" dirty="0"/>
              <a:t>:</a:t>
            </a:r>
            <a:endParaRPr lang="en-US" dirty="0"/>
          </a:p>
          <a:p>
            <a:pPr marL="457200" lvl="1" indent="0">
              <a:buNone/>
            </a:pPr>
            <a:r>
              <a:rPr lang="en-US" sz="2800" dirty="0">
                <a:solidFill>
                  <a:schemeClr val="accent5"/>
                </a:solidFill>
                <a:hlinkClick r:id="rId2"/>
              </a:rPr>
              <a:t>https://learn.microsoft.com/bg-bg/dotnet/fundamentals/</a:t>
            </a:r>
            <a:endParaRPr lang="en-US" sz="2800" dirty="0">
              <a:solidFill>
                <a:schemeClr val="accent5"/>
              </a:solidFill>
            </a:endParaRPr>
          </a:p>
          <a:p>
            <a:pPr marL="457200" lvl="1" indent="0">
              <a:buNone/>
            </a:pPr>
            <a:endParaRPr lang="en-US" sz="2800" dirty="0">
              <a:solidFill>
                <a:schemeClr val="accent5"/>
              </a:solidFill>
              <a:hlinkClick r:id="rId3"/>
            </a:endParaRPr>
          </a:p>
          <a:p>
            <a:pPr marL="457200" lvl="1" indent="0">
              <a:buNone/>
            </a:pPr>
            <a:r>
              <a:rPr lang="en-US" sz="2800" dirty="0">
                <a:solidFill>
                  <a:schemeClr val="accent5"/>
                </a:solidFill>
                <a:hlinkClick r:id="rId3"/>
              </a:rPr>
              <a:t>https://learn.microsoft.com/en-us/dotnet/core/introduction</a:t>
            </a:r>
            <a:endParaRPr lang="en-US" sz="2800" dirty="0">
              <a:solidFill>
                <a:schemeClr val="accent5"/>
              </a:solidFill>
            </a:endParaRPr>
          </a:p>
          <a:p>
            <a:pPr marL="457200" lvl="1" indent="0">
              <a:buNone/>
            </a:pPr>
            <a:endParaRPr lang="bg-BG" sz="2800" dirty="0">
              <a:solidFill>
                <a:schemeClr val="accent5"/>
              </a:solidFill>
            </a:endParaRPr>
          </a:p>
          <a:p>
            <a:pPr marL="457200" lvl="1" indent="0">
              <a:buNone/>
            </a:pPr>
            <a:endParaRPr lang="bg-BG" sz="2800" dirty="0">
              <a:solidFill>
                <a:schemeClr val="accent5"/>
              </a:solidFill>
            </a:endParaRPr>
          </a:p>
          <a:p>
            <a:pPr marL="457200" lvl="1" indent="0">
              <a:buNone/>
            </a:pPr>
            <a:r>
              <a:rPr lang="bg-BG" sz="2800" dirty="0"/>
              <a:t>Забележка:</a:t>
            </a:r>
            <a:r>
              <a:rPr lang="en-US" sz="2800" dirty="0"/>
              <a:t> </a:t>
            </a:r>
            <a:r>
              <a:rPr lang="bg-BG" sz="2800" dirty="0"/>
              <a:t>Могат да се преведат с</a:t>
            </a:r>
            <a:r>
              <a:rPr lang="en-US" sz="2800" dirty="0"/>
              <a:t> </a:t>
            </a:r>
            <a:r>
              <a:rPr lang="en-US" sz="2800" dirty="0">
                <a:hlinkClick r:id="rId4"/>
              </a:rPr>
              <a:t>http://translate.google.com/</a:t>
            </a:r>
            <a:endParaRPr lang="en-US" sz="2800" dirty="0"/>
          </a:p>
          <a:p>
            <a:pPr marL="457200" lvl="1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49672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0314"/>
            <a:ext cx="10515600" cy="804769"/>
          </a:xfrm>
        </p:spPr>
        <p:txBody>
          <a:bodyPr/>
          <a:lstStyle/>
          <a:p>
            <a:r>
              <a:rPr lang="bg-BG" dirty="0"/>
              <a:t>Асемблирани блокове (</a:t>
            </a:r>
            <a:r>
              <a:rPr lang="en-US" dirty="0"/>
              <a:t>Assemblies</a:t>
            </a:r>
            <a:r>
              <a:rPr lang="bg-BG" dirty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813" y="1116106"/>
            <a:ext cx="8646458" cy="54863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/>
              <a:t>Когато компилираме сорс код на .NET приложение се получаваме MSIL </a:t>
            </a:r>
            <a:r>
              <a:rPr lang="en-US" sz="2400" dirty="0"/>
              <a:t> </a:t>
            </a:r>
            <a:r>
              <a:rPr lang="ru-RU" sz="2400" dirty="0"/>
              <a:t>код.</a:t>
            </a:r>
            <a:r>
              <a:rPr lang="en-US" sz="2400" dirty="0"/>
              <a:t> </a:t>
            </a:r>
            <a:endParaRPr lang="bg-BG" sz="2400" dirty="0"/>
          </a:p>
          <a:p>
            <a:pPr marL="0" indent="0">
              <a:buNone/>
            </a:pPr>
            <a:endParaRPr lang="ru-RU" sz="700" dirty="0"/>
          </a:p>
          <a:p>
            <a:pPr marL="0" indent="0">
              <a:buNone/>
            </a:pPr>
            <a:r>
              <a:rPr lang="ru-RU" sz="2400" dirty="0"/>
              <a:t>MSIL  </a:t>
            </a:r>
            <a:r>
              <a:rPr lang="bg-BG" sz="2400" dirty="0"/>
              <a:t>се помества в т.н. асемблирани блокове, които представляват </a:t>
            </a:r>
            <a:r>
              <a:rPr lang="en-US" sz="2400" dirty="0">
                <a:solidFill>
                  <a:srgbClr val="FF0000"/>
                </a:solidFill>
              </a:rPr>
              <a:t>exe</a:t>
            </a:r>
            <a:r>
              <a:rPr lang="en-US" sz="2400" dirty="0"/>
              <a:t> </a:t>
            </a:r>
            <a:r>
              <a:rPr lang="bg-BG" sz="2400" dirty="0"/>
              <a:t>или </a:t>
            </a:r>
            <a:r>
              <a:rPr lang="en-US" sz="2400" dirty="0" err="1">
                <a:solidFill>
                  <a:srgbClr val="FF0000"/>
                </a:solidFill>
              </a:rPr>
              <a:t>dll</a:t>
            </a:r>
            <a:r>
              <a:rPr lang="bg-BG" sz="2400" dirty="0">
                <a:solidFill>
                  <a:srgbClr val="FF0000"/>
                </a:solidFill>
              </a:rPr>
              <a:t> </a:t>
            </a:r>
            <a:r>
              <a:rPr lang="bg-BG" sz="2400" dirty="0"/>
              <a:t>файлове.</a:t>
            </a:r>
            <a:endParaRPr lang="en-US" sz="2400" dirty="0"/>
          </a:p>
          <a:p>
            <a:pPr marL="0" indent="0">
              <a:buNone/>
            </a:pPr>
            <a:endParaRPr lang="en-US" sz="700" dirty="0"/>
          </a:p>
          <a:p>
            <a:r>
              <a:rPr lang="bg-BG" sz="2400" dirty="0"/>
              <a:t>Асемблираните блокове съдържат:</a:t>
            </a:r>
            <a:endParaRPr lang="en-US" sz="2400" dirty="0"/>
          </a:p>
          <a:p>
            <a:pPr lvl="1"/>
            <a:r>
              <a:rPr lang="en-US" sz="2800" dirty="0"/>
              <a:t>MSIL</a:t>
            </a:r>
            <a:r>
              <a:rPr lang="bg-BG" sz="2800" dirty="0"/>
              <a:t> код – код, готов за изпълнение от </a:t>
            </a:r>
            <a:r>
              <a:rPr lang="en-US" sz="2800" dirty="0"/>
              <a:t>CLR</a:t>
            </a:r>
            <a:endParaRPr lang="bg-BG" sz="2800" dirty="0"/>
          </a:p>
          <a:p>
            <a:endParaRPr lang="bg-BG" sz="600" dirty="0"/>
          </a:p>
          <a:p>
            <a:pPr lvl="1"/>
            <a:r>
              <a:rPr lang="bg-BG" dirty="0"/>
              <a:t>Манифест метаданни (</a:t>
            </a:r>
            <a:r>
              <a:rPr lang="en-US" dirty="0"/>
              <a:t>Manifest Metadata)</a:t>
            </a:r>
            <a:r>
              <a:rPr lang="bg-BG" dirty="0"/>
              <a:t>, съдържат:</a:t>
            </a:r>
          </a:p>
          <a:p>
            <a:pPr lvl="2"/>
            <a:r>
              <a:rPr lang="bg-BG" sz="2400" dirty="0"/>
              <a:t>Информация за номера на версията на блока;</a:t>
            </a:r>
          </a:p>
          <a:p>
            <a:pPr lvl="2"/>
            <a:r>
              <a:rPr lang="bg-BG" sz="2400" dirty="0"/>
              <a:t>Списък с всички файлове включени в блока;</a:t>
            </a:r>
            <a:endParaRPr lang="en-US" sz="2400" dirty="0"/>
          </a:p>
          <a:p>
            <a:pPr lvl="2"/>
            <a:r>
              <a:rPr lang="bg-BG" sz="2400" dirty="0"/>
              <a:t>Списък с </a:t>
            </a:r>
            <a:r>
              <a:rPr lang="bg-BG" sz="2400" dirty="0" err="1"/>
              <a:t>асемблитата</a:t>
            </a:r>
            <a:r>
              <a:rPr lang="bg-BG" sz="2400" dirty="0"/>
              <a:t>, от които зависи;</a:t>
            </a:r>
          </a:p>
          <a:p>
            <a:pPr lvl="2"/>
            <a:r>
              <a:rPr lang="bg-BG" sz="2400" dirty="0"/>
              <a:t>Други.</a:t>
            </a:r>
          </a:p>
          <a:p>
            <a:pPr marL="457200" lvl="1" indent="0">
              <a:buNone/>
            </a:pPr>
            <a:endParaRPr lang="en-US" sz="900" dirty="0"/>
          </a:p>
          <a:p>
            <a:pPr lvl="1"/>
            <a:r>
              <a:rPr lang="bg-BG" dirty="0"/>
              <a:t>Ресурси, като икони, изображения и </a:t>
            </a:r>
            <a:r>
              <a:rPr lang="bg-BG" dirty="0" err="1"/>
              <a:t>др</a:t>
            </a:r>
            <a:r>
              <a:rPr lang="en-US" dirty="0"/>
              <a:t>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886" y="2027331"/>
            <a:ext cx="3109310" cy="380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449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Съдържание на асемблираните блокове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/>
          </p:nvPr>
        </p:nvGraphicFramePr>
        <p:xfrm>
          <a:off x="2615453" y="1690688"/>
          <a:ext cx="6961094" cy="4800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CorelDRAW" r:id="rId3" imgW="8068426" imgH="5564454" progId="CorelDraw.Graphic.17">
                  <p:embed/>
                </p:oleObj>
              </mc:Choice>
              <mc:Fallback>
                <p:oleObj name="CorelDRAW" r:id="rId3" imgW="8068426" imgH="5564454" progId="CorelDraw.Graphic.17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15453" y="1690688"/>
                        <a:ext cx="6961094" cy="48009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83017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Асемблирани блокове (</a:t>
            </a:r>
            <a:r>
              <a:rPr lang="en-US" dirty="0"/>
              <a:t>Assemblies</a:t>
            </a:r>
            <a:r>
              <a:rPr lang="bg-BG" dirty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/>
              <a:t>Файл, получен в резултат на компилиране на едно приложение. Може да бъде изпълнен от </a:t>
            </a:r>
            <a:r>
              <a:rPr lang="en-US" dirty="0"/>
              <a:t>CLR</a:t>
            </a:r>
          </a:p>
          <a:p>
            <a:endParaRPr lang="en-US" dirty="0"/>
          </a:p>
          <a:p>
            <a:r>
              <a:rPr lang="bg-BG" dirty="0"/>
              <a:t>Асемблираният блок представлява най- малката градивна, изпълнима единица на .</a:t>
            </a:r>
            <a:r>
              <a:rPr lang="en-US" dirty="0"/>
              <a:t>NET </a:t>
            </a:r>
            <a:r>
              <a:rPr lang="bg-BG" dirty="0"/>
              <a:t>приложенията</a:t>
            </a:r>
          </a:p>
          <a:p>
            <a:pPr marL="0" indent="0">
              <a:buNone/>
            </a:pPr>
            <a:endParaRPr lang="en-US" dirty="0"/>
          </a:p>
          <a:p>
            <a:r>
              <a:rPr lang="bg-BG" dirty="0"/>
              <a:t>Асемблираните блоковете представляват градивните единици на приложенията за .</a:t>
            </a:r>
            <a:r>
              <a:rPr lang="en-US" dirty="0"/>
              <a:t>NET Framework</a:t>
            </a:r>
            <a:endParaRPr lang="bg-BG" dirty="0"/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658856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Portable Executable</a:t>
            </a:r>
            <a:r>
              <a:rPr lang="bg-BG" b="1" dirty="0"/>
              <a:t> Формат</a:t>
            </a:r>
            <a:br>
              <a:rPr lang="en-US" b="1" dirty="0"/>
            </a:br>
            <a:r>
              <a:rPr lang="bg-BG" b="1" dirty="0"/>
              <a:t>(32 </a:t>
            </a:r>
            <a:r>
              <a:rPr lang="en-US" b="1" dirty="0"/>
              <a:t>bit (PE32 </a:t>
            </a:r>
            <a:r>
              <a:rPr lang="bg-BG" b="1" dirty="0"/>
              <a:t>Формат</a:t>
            </a:r>
            <a:r>
              <a:rPr lang="en-US" b="1" dirty="0"/>
              <a:t>) </a:t>
            </a:r>
            <a:r>
              <a:rPr lang="bg-BG" b="1" dirty="0"/>
              <a:t>или 64</a:t>
            </a:r>
            <a:r>
              <a:rPr lang="en-US" b="1" dirty="0"/>
              <a:t> bit</a:t>
            </a:r>
            <a:r>
              <a:rPr lang="bg-BG" b="1" dirty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bg-BG" dirty="0"/>
              <a:t>На базата на този формат за </a:t>
            </a:r>
            <a:r>
              <a:rPr lang="bg-BG" dirty="0" err="1"/>
              <a:t>пострени</a:t>
            </a:r>
            <a:r>
              <a:rPr lang="bg-BG" dirty="0"/>
              <a:t>:</a:t>
            </a:r>
          </a:p>
          <a:p>
            <a:pPr lvl="1"/>
            <a:r>
              <a:rPr lang="en-US" sz="2800" dirty="0"/>
              <a:t>.exe, .</a:t>
            </a:r>
            <a:r>
              <a:rPr lang="en-US" sz="2800" dirty="0" err="1"/>
              <a:t>dll</a:t>
            </a:r>
            <a:r>
              <a:rPr lang="en-US" sz="2800" dirty="0"/>
              <a:t>, .</a:t>
            </a:r>
            <a:r>
              <a:rPr lang="en-US" sz="2800" dirty="0" err="1"/>
              <a:t>acm</a:t>
            </a:r>
            <a:r>
              <a:rPr lang="en-US" sz="2800" dirty="0"/>
              <a:t>, .ax, .</a:t>
            </a:r>
            <a:r>
              <a:rPr lang="en-US" sz="2800" dirty="0" err="1"/>
              <a:t>cpl</a:t>
            </a:r>
            <a:r>
              <a:rPr lang="en-US" sz="2800" dirty="0"/>
              <a:t>, .</a:t>
            </a:r>
            <a:r>
              <a:rPr lang="en-US" sz="2800" dirty="0" err="1"/>
              <a:t>drv</a:t>
            </a:r>
            <a:r>
              <a:rPr lang="en-US" sz="2800" dirty="0"/>
              <a:t>, .</a:t>
            </a:r>
            <a:r>
              <a:rPr lang="en-US" sz="2800" dirty="0" err="1"/>
              <a:t>efi</a:t>
            </a:r>
            <a:r>
              <a:rPr lang="en-US" sz="2800" dirty="0"/>
              <a:t>,, .</a:t>
            </a:r>
            <a:r>
              <a:rPr lang="en-US" sz="2800" dirty="0" err="1"/>
              <a:t>mui</a:t>
            </a:r>
            <a:r>
              <a:rPr lang="en-US" sz="2800" dirty="0"/>
              <a:t>, </a:t>
            </a:r>
          </a:p>
          <a:p>
            <a:pPr marL="0" indent="0">
              <a:buNone/>
            </a:pPr>
            <a:r>
              <a:rPr lang="en-US" dirty="0"/>
              <a:t>        .</a:t>
            </a:r>
            <a:r>
              <a:rPr lang="en-US" dirty="0" err="1"/>
              <a:t>ocx</a:t>
            </a:r>
            <a:r>
              <a:rPr lang="en-US" dirty="0"/>
              <a:t>, .</a:t>
            </a:r>
            <a:r>
              <a:rPr lang="en-US" dirty="0" err="1"/>
              <a:t>scr</a:t>
            </a:r>
            <a:r>
              <a:rPr lang="en-US" dirty="0"/>
              <a:t>, .sys, .tsp</a:t>
            </a:r>
          </a:p>
          <a:p>
            <a:pPr marL="0" indent="0">
              <a:buNone/>
            </a:pPr>
            <a:endParaRPr lang="en-US" dirty="0"/>
          </a:p>
          <a:p>
            <a:r>
              <a:rPr lang="bg-BG" dirty="0"/>
              <a:t>Файловете могат да съдържат вградени ресурси, </a:t>
            </a:r>
          </a:p>
          <a:p>
            <a:pPr marL="0" indent="0">
              <a:buNone/>
            </a:pPr>
            <a:r>
              <a:rPr lang="bg-BG" dirty="0"/>
              <a:t>   които могат да бъдат ползвани от кода във файла.</a:t>
            </a:r>
          </a:p>
          <a:p>
            <a:pPr marL="0" indent="0">
              <a:buNone/>
            </a:pPr>
            <a:endParaRPr lang="bg-BG" dirty="0"/>
          </a:p>
          <a:p>
            <a:r>
              <a:rPr lang="bg-BG" dirty="0"/>
              <a:t>Има малка разлика между обикновени </a:t>
            </a:r>
          </a:p>
          <a:p>
            <a:pPr marL="0" indent="0">
              <a:buNone/>
            </a:pPr>
            <a:r>
              <a:rPr lang="bg-BG" dirty="0"/>
              <a:t>   </a:t>
            </a:r>
            <a:r>
              <a:rPr lang="en-US" dirty="0"/>
              <a:t>exe</a:t>
            </a:r>
            <a:r>
              <a:rPr lang="bg-BG" dirty="0"/>
              <a:t> файлове и </a:t>
            </a:r>
            <a:r>
              <a:rPr lang="en-US" dirty="0"/>
              <a:t>.NET</a:t>
            </a:r>
            <a:r>
              <a:rPr lang="bg-BG" dirty="0"/>
              <a:t> ехе файлове.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1333" t="5853" r="18078"/>
          <a:stretch/>
        </p:blipFill>
        <p:spPr>
          <a:xfrm>
            <a:off x="8969188" y="148711"/>
            <a:ext cx="3052481" cy="654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435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Примерно пространство на имена</a:t>
            </a:r>
            <a:r>
              <a:rPr lang="en-US" dirty="0"/>
              <a:t> </a:t>
            </a:r>
            <a:r>
              <a:rPr lang="bg-BG" dirty="0"/>
              <a:t>при </a:t>
            </a:r>
            <a:r>
              <a:rPr lang="en-US" dirty="0"/>
              <a:t>.NET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52518"/>
            <a:ext cx="10515600" cy="480699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// </a:t>
            </a:r>
            <a:r>
              <a:rPr lang="bg-BG" dirty="0">
                <a:solidFill>
                  <a:schemeClr val="accent6"/>
                </a:solidFill>
              </a:rPr>
              <a:t>Включване на именно пространство</a:t>
            </a:r>
            <a:br>
              <a:rPr lang="en-US" dirty="0">
                <a:solidFill>
                  <a:schemeClr val="accent6"/>
                </a:solidFill>
              </a:rPr>
            </a:br>
            <a:r>
              <a:rPr lang="en-US" dirty="0">
                <a:solidFill>
                  <a:srgbClr val="00B0F0"/>
                </a:solidFill>
              </a:rPr>
              <a:t>using</a:t>
            </a:r>
            <a:r>
              <a:rPr lang="en-US" dirty="0"/>
              <a:t> System;</a:t>
            </a: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chemeClr val="accent6"/>
                </a:solidFill>
              </a:rPr>
              <a:t>// </a:t>
            </a:r>
            <a:r>
              <a:rPr lang="bg-BG" dirty="0">
                <a:solidFill>
                  <a:schemeClr val="accent6"/>
                </a:solidFill>
              </a:rPr>
              <a:t>деклариране на именно пространство в </a:t>
            </a:r>
            <a:r>
              <a:rPr lang="en-US" dirty="0">
                <a:solidFill>
                  <a:schemeClr val="accent6"/>
                </a:solidFill>
              </a:rPr>
              <a:t>C#</a:t>
            </a:r>
            <a:br>
              <a:rPr lang="en-US" dirty="0">
                <a:solidFill>
                  <a:schemeClr val="accent6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namespace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csharp_namescape</a:t>
            </a:r>
            <a:r>
              <a:rPr lang="en-US" dirty="0">
                <a:solidFill>
                  <a:srgbClr val="FF0000"/>
                </a:solidFill>
              </a:rPr>
              <a:t> 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{</a:t>
            </a:r>
            <a:br>
              <a:rPr lang="en-US" dirty="0"/>
            </a:br>
            <a:r>
              <a:rPr lang="en-US" dirty="0">
                <a:solidFill>
                  <a:schemeClr val="accent6"/>
                </a:solidFill>
              </a:rPr>
              <a:t>   </a:t>
            </a:r>
            <a:r>
              <a:rPr lang="bg-BG" dirty="0">
                <a:solidFill>
                  <a:schemeClr val="accent6"/>
                </a:solidFill>
              </a:rPr>
              <a:t>	</a:t>
            </a:r>
            <a:r>
              <a:rPr lang="en-US" dirty="0">
                <a:solidFill>
                  <a:schemeClr val="accent6"/>
                </a:solidFill>
              </a:rPr>
              <a:t> // </a:t>
            </a:r>
            <a:r>
              <a:rPr lang="bg-BG" dirty="0">
                <a:solidFill>
                  <a:schemeClr val="accent6"/>
                </a:solidFill>
              </a:rPr>
              <a:t>Деклариране на клас</a:t>
            </a:r>
            <a:br>
              <a:rPr lang="en-US" dirty="0">
                <a:solidFill>
                  <a:schemeClr val="accent6"/>
                </a:solidFill>
              </a:rPr>
            </a:br>
            <a:r>
              <a:rPr lang="en-US" dirty="0"/>
              <a:t>    </a:t>
            </a:r>
            <a:r>
              <a:rPr lang="bg-BG" dirty="0"/>
              <a:t>	</a:t>
            </a:r>
            <a:r>
              <a:rPr lang="en-US" dirty="0">
                <a:solidFill>
                  <a:srgbClr val="00B0F0"/>
                </a:solidFill>
              </a:rPr>
              <a:t>class </a:t>
            </a:r>
            <a:r>
              <a:rPr lang="en-US" dirty="0" err="1"/>
              <a:t>NamespaceClas</a:t>
            </a:r>
            <a:br>
              <a:rPr lang="en-US" dirty="0"/>
            </a:br>
            <a:r>
              <a:rPr lang="en-US" dirty="0"/>
              <a:t>    </a:t>
            </a:r>
            <a:r>
              <a:rPr lang="bg-BG" dirty="0"/>
              <a:t>	</a:t>
            </a: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        </a:t>
            </a:r>
            <a:r>
              <a:rPr lang="bg-BG" dirty="0"/>
              <a:t>		</a:t>
            </a:r>
            <a:r>
              <a:rPr lang="en-US" dirty="0">
                <a:solidFill>
                  <a:schemeClr val="accent6"/>
                </a:solidFill>
              </a:rPr>
              <a:t>// </a:t>
            </a:r>
            <a:r>
              <a:rPr lang="bg-BG" dirty="0">
                <a:solidFill>
                  <a:schemeClr val="accent6"/>
                </a:solidFill>
              </a:rPr>
              <a:t>Деклариране на метода </a:t>
            </a:r>
            <a:r>
              <a:rPr lang="en-US" dirty="0">
                <a:solidFill>
                  <a:schemeClr val="accent6"/>
                </a:solidFill>
              </a:rPr>
              <a:t>main</a:t>
            </a:r>
            <a:br>
              <a:rPr lang="en-US" dirty="0">
                <a:solidFill>
                  <a:schemeClr val="accent6"/>
                </a:solidFill>
              </a:rPr>
            </a:br>
            <a:r>
              <a:rPr lang="en-US" dirty="0"/>
              <a:t>        </a:t>
            </a:r>
            <a:r>
              <a:rPr lang="bg-BG" dirty="0"/>
              <a:t>		</a:t>
            </a:r>
            <a:r>
              <a:rPr lang="en-US" dirty="0">
                <a:solidFill>
                  <a:srgbClr val="00B0F0"/>
                </a:solidFill>
              </a:rPr>
              <a:t>public</a:t>
            </a:r>
            <a:r>
              <a:rPr lang="en-US" dirty="0"/>
              <a:t> </a:t>
            </a:r>
            <a:r>
              <a:rPr lang="en-US" dirty="0">
                <a:solidFill>
                  <a:srgbClr val="00B0F0"/>
                </a:solidFill>
              </a:rPr>
              <a:t>static</a:t>
            </a:r>
            <a:r>
              <a:rPr lang="en-US" dirty="0"/>
              <a:t> </a:t>
            </a:r>
            <a:r>
              <a:rPr lang="en-US" dirty="0">
                <a:solidFill>
                  <a:srgbClr val="00B0F0"/>
                </a:solidFill>
              </a:rPr>
              <a:t>void</a:t>
            </a:r>
            <a:r>
              <a:rPr lang="en-US" dirty="0"/>
              <a:t> Main() </a:t>
            </a:r>
            <a:br>
              <a:rPr lang="en-US" dirty="0"/>
            </a:br>
            <a:r>
              <a:rPr lang="en-US" dirty="0"/>
              <a:t>        </a:t>
            </a:r>
            <a:r>
              <a:rPr lang="bg-BG" dirty="0"/>
              <a:t>		</a:t>
            </a: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            </a:t>
            </a:r>
            <a:r>
              <a:rPr lang="bg-BG" dirty="0"/>
              <a:t>			</a:t>
            </a:r>
            <a:r>
              <a:rPr lang="en-US" dirty="0">
                <a:solidFill>
                  <a:schemeClr val="accent6"/>
                </a:solidFill>
              </a:rPr>
              <a:t>// </a:t>
            </a:r>
            <a:r>
              <a:rPr lang="bg-BG" dirty="0">
                <a:solidFill>
                  <a:schemeClr val="accent6"/>
                </a:solidFill>
              </a:rPr>
              <a:t>Отпечатване на съобщение в конзолата</a:t>
            </a:r>
            <a:r>
              <a:rPr lang="en-US" dirty="0"/>
              <a:t>            </a:t>
            </a:r>
            <a:r>
              <a:rPr lang="bg-BG" dirty="0"/>
              <a:t>		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Console.WriteLine</a:t>
            </a:r>
            <a:r>
              <a:rPr lang="en-US" dirty="0"/>
              <a:t>("This is the new C# Namespace."); </a:t>
            </a:r>
            <a:br>
              <a:rPr lang="en-US" dirty="0"/>
            </a:br>
            <a:r>
              <a:rPr lang="bg-BG" dirty="0">
                <a:solidFill>
                  <a:schemeClr val="accent6"/>
                </a:solidFill>
              </a:rPr>
              <a:t>			</a:t>
            </a: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			</a:t>
            </a:r>
            <a:r>
              <a:rPr lang="bg-BG" dirty="0">
                <a:solidFill>
                  <a:schemeClr val="accent6"/>
                </a:solidFill>
              </a:rPr>
              <a:t>//</a:t>
            </a:r>
            <a:r>
              <a:rPr lang="en-US" dirty="0" err="1">
                <a:solidFill>
                  <a:schemeClr val="accent6"/>
                </a:solidFill>
              </a:rPr>
              <a:t>System.Console.WriteLine</a:t>
            </a:r>
            <a:r>
              <a:rPr lang="en-US" dirty="0">
                <a:solidFill>
                  <a:schemeClr val="accent6"/>
                </a:solidFill>
              </a:rPr>
              <a:t>("This is the new C# Namespace.");</a:t>
            </a:r>
            <a:r>
              <a:rPr lang="en-US" dirty="0"/>
              <a:t> </a:t>
            </a:r>
            <a:endParaRPr lang="bg-BG" dirty="0"/>
          </a:p>
          <a:p>
            <a:pPr marL="0" indent="0">
              <a:buNone/>
            </a:pPr>
            <a:r>
              <a:rPr lang="en-US" dirty="0"/>
              <a:t>        </a:t>
            </a:r>
            <a:r>
              <a:rPr lang="bg-BG" dirty="0"/>
              <a:t>		</a:t>
            </a:r>
            <a:r>
              <a:rPr lang="en-US" dirty="0"/>
              <a:t>}</a:t>
            </a:r>
            <a:br>
              <a:rPr lang="en-US" dirty="0"/>
            </a:br>
            <a:r>
              <a:rPr lang="en-US" dirty="0"/>
              <a:t>    </a:t>
            </a:r>
            <a:r>
              <a:rPr lang="bg-BG" dirty="0"/>
              <a:t>	</a:t>
            </a:r>
            <a:r>
              <a:rPr lang="en-US" dirty="0"/>
              <a:t>}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}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06044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1819</TotalTime>
  <Words>756</Words>
  <Application>Microsoft Office PowerPoint</Application>
  <PresentationFormat>Widescreen</PresentationFormat>
  <Paragraphs>91</Paragraphs>
  <Slides>14</Slides>
  <Notes>1</Notes>
  <HiddenSlides>1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CorelDRAW</vt:lpstr>
      <vt:lpstr>Microsoft .NET</vt:lpstr>
      <vt:lpstr>Microsoft .NET</vt:lpstr>
      <vt:lpstr>Microsoft .NET</vt:lpstr>
      <vt:lpstr>JIT Компилатор</vt:lpstr>
      <vt:lpstr>CLR (Common Language Runtime)</vt:lpstr>
      <vt:lpstr>Многоезичност на .NET</vt:lpstr>
      <vt:lpstr>Някои понятия свързани с .NET</vt:lpstr>
      <vt:lpstr>CTS (Common Type Specification)</vt:lpstr>
      <vt:lpstr>.NET материали</vt:lpstr>
      <vt:lpstr>Асемблирани блокове (Assemblies)</vt:lpstr>
      <vt:lpstr>Съдържание на асемблираните блокове</vt:lpstr>
      <vt:lpstr>Асемблирани блокове (Assemblies)</vt:lpstr>
      <vt:lpstr>Portable Executable Формат (32 bit (PE32 Формат) или 64 bit)</vt:lpstr>
      <vt:lpstr>Примерно пространство на имена при .NET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.NET Framework</dc:title>
  <dc:creator>Metodi Dimitrov</dc:creator>
  <cp:lastModifiedBy>user</cp:lastModifiedBy>
  <cp:revision>213</cp:revision>
  <dcterms:created xsi:type="dcterms:W3CDTF">2013-09-16T15:43:31Z</dcterms:created>
  <dcterms:modified xsi:type="dcterms:W3CDTF">2024-10-05T06:36:33Z</dcterms:modified>
</cp:coreProperties>
</file>