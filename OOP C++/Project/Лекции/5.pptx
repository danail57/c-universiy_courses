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2" r:id="rId5"/>
    <p:sldId id="263" r:id="rId6"/>
    <p:sldId id="267" r:id="rId7"/>
    <p:sldId id="268" r:id="rId8"/>
    <p:sldId id="269" r:id="rId9"/>
    <p:sldId id="270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5F39-E30F-4053-B8F4-5012797A19FE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DC3C-22A0-43D0-A960-CFC8F7D3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4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5F39-E30F-4053-B8F4-5012797A19FE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DC3C-22A0-43D0-A960-CFC8F7D3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8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5F39-E30F-4053-B8F4-5012797A19FE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DC3C-22A0-43D0-A960-CFC8F7D3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8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5F39-E30F-4053-B8F4-5012797A19FE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DC3C-22A0-43D0-A960-CFC8F7D3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93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5F39-E30F-4053-B8F4-5012797A19FE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DC3C-22A0-43D0-A960-CFC8F7D3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9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5F39-E30F-4053-B8F4-5012797A19FE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DC3C-22A0-43D0-A960-CFC8F7D3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80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5F39-E30F-4053-B8F4-5012797A19FE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DC3C-22A0-43D0-A960-CFC8F7D3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3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5F39-E30F-4053-B8F4-5012797A19FE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DC3C-22A0-43D0-A960-CFC8F7D3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06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5F39-E30F-4053-B8F4-5012797A19FE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DC3C-22A0-43D0-A960-CFC8F7D3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1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5F39-E30F-4053-B8F4-5012797A19FE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DC3C-22A0-43D0-A960-CFC8F7D3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5F39-E30F-4053-B8F4-5012797A19FE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DC3C-22A0-43D0-A960-CFC8F7D3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6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F5F39-E30F-4053-B8F4-5012797A19FE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4DC3C-22A0-43D0-A960-CFC8F7D3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8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bg-bg/aspnet/core/blazor/?WT.mc_id=dotnet-35129-website&amp;view=aspnetcore-7.0" TargetMode="External"/><Relationship Id="rId2" Type="http://schemas.openxmlformats.org/officeDocument/2006/relationships/hyperlink" Target="https://learn.microsoft.com/en-us/aspnet/core/tutorials/choose-web-ui?view=aspnetcore-7.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aspnet/overview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ASP.NET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27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Обща информация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i="1" dirty="0"/>
              <a:t>ASP.NET </a:t>
            </a:r>
            <a:r>
              <a:rPr lang="bg-BG" i="1" dirty="0"/>
              <a:t>е платформа, позволяваща изграждането на уеб-приложения.</a:t>
            </a:r>
          </a:p>
          <a:p>
            <a:endParaRPr lang="bg-BG" i="1" dirty="0"/>
          </a:p>
          <a:p>
            <a:r>
              <a:rPr lang="bg-BG" i="1" dirty="0"/>
              <a:t>В началото са съществували два варианта на </a:t>
            </a:r>
            <a:r>
              <a:rPr lang="en-US" i="1" dirty="0"/>
              <a:t>.NET</a:t>
            </a:r>
            <a:r>
              <a:rPr lang="bg-BG" i="1" dirty="0"/>
              <a:t>, наречени </a:t>
            </a:r>
            <a:r>
              <a:rPr lang="en-US" i="1" dirty="0"/>
              <a:t>.NET Framework (</a:t>
            </a:r>
            <a:r>
              <a:rPr lang="bg-BG" i="1" dirty="0"/>
              <a:t>за </a:t>
            </a:r>
            <a:r>
              <a:rPr lang="en-US" i="1" dirty="0"/>
              <a:t>Windows) </a:t>
            </a:r>
            <a:r>
              <a:rPr lang="bg-BG" i="1" dirty="0"/>
              <a:t>и </a:t>
            </a:r>
            <a:r>
              <a:rPr lang="en-US" i="1" dirty="0"/>
              <a:t>.NET</a:t>
            </a:r>
            <a:r>
              <a:rPr lang="bg-BG" i="1" dirty="0"/>
              <a:t> </a:t>
            </a:r>
            <a:r>
              <a:rPr lang="en-US" i="1" dirty="0"/>
              <a:t>Core (</a:t>
            </a:r>
            <a:r>
              <a:rPr lang="bg-BG" i="1" dirty="0"/>
              <a:t>за </a:t>
            </a:r>
            <a:r>
              <a:rPr lang="en-US" i="1" dirty="0"/>
              <a:t>Windows </a:t>
            </a:r>
            <a:r>
              <a:rPr lang="bg-BG" i="1" dirty="0"/>
              <a:t>и </a:t>
            </a:r>
            <a:r>
              <a:rPr lang="en-US" i="1" dirty="0"/>
              <a:t>Linux). </a:t>
            </a:r>
            <a:r>
              <a:rPr lang="bg-BG" i="1" dirty="0"/>
              <a:t>В момента</a:t>
            </a:r>
            <a:r>
              <a:rPr lang="en-US" i="1" dirty="0"/>
              <a:t> </a:t>
            </a:r>
            <a:r>
              <a:rPr lang="bg-BG" i="1" dirty="0"/>
              <a:t>е разработва</a:t>
            </a:r>
            <a:r>
              <a:rPr lang="en-US" i="1" dirty="0"/>
              <a:t> </a:t>
            </a:r>
            <a:r>
              <a:rPr lang="bg-BG" i="1" dirty="0"/>
              <a:t>само </a:t>
            </a:r>
            <a:r>
              <a:rPr lang="en-US" i="1" dirty="0"/>
              <a:t>.NET Core, </a:t>
            </a:r>
            <a:r>
              <a:rPr lang="bg-BG" i="1" dirty="0"/>
              <a:t>под новото име .</a:t>
            </a:r>
            <a:r>
              <a:rPr lang="en-US" i="1" dirty="0"/>
              <a:t>Net. </a:t>
            </a:r>
          </a:p>
          <a:p>
            <a:endParaRPr lang="en-US" i="1" dirty="0"/>
          </a:p>
          <a:p>
            <a:r>
              <a:rPr lang="bg-BG" i="1" dirty="0"/>
              <a:t>За изграждането на </a:t>
            </a:r>
            <a:r>
              <a:rPr lang="en-US" i="1" dirty="0"/>
              <a:t>ASP</a:t>
            </a:r>
            <a:r>
              <a:rPr lang="bg-BG" i="1" dirty="0"/>
              <a:t>.</a:t>
            </a:r>
            <a:r>
              <a:rPr lang="en-US" i="1" dirty="0"/>
              <a:t>NET</a:t>
            </a:r>
            <a:r>
              <a:rPr lang="bg-BG" i="1" dirty="0"/>
              <a:t> приложения може да се използва всеки език съвместим с </a:t>
            </a:r>
            <a:r>
              <a:rPr lang="en-US" i="1" dirty="0"/>
              <a:t>CLR (common language runtime)</a:t>
            </a:r>
            <a:endParaRPr lang="bg-BG" i="1" dirty="0"/>
          </a:p>
          <a:p>
            <a:endParaRPr lang="bg-BG" i="1" dirty="0"/>
          </a:p>
          <a:p>
            <a:r>
              <a:rPr lang="bg-BG" i="1" dirty="0"/>
              <a:t>За изграждането на </a:t>
            </a:r>
            <a:r>
              <a:rPr lang="en-US" i="1" dirty="0"/>
              <a:t>ASP</a:t>
            </a:r>
            <a:r>
              <a:rPr lang="bg-BG" i="1" dirty="0"/>
              <a:t>.</a:t>
            </a:r>
            <a:r>
              <a:rPr lang="en-US" i="1" dirty="0"/>
              <a:t>NET</a:t>
            </a:r>
            <a:r>
              <a:rPr lang="bg-BG" i="1" dirty="0"/>
              <a:t> приложения може да се използва </a:t>
            </a:r>
            <a:r>
              <a:rPr lang="en-US" i="1" dirty="0"/>
              <a:t>Visual Studio</a:t>
            </a:r>
            <a:r>
              <a:rPr lang="bg-BG" i="1" dirty="0"/>
              <a:t>, както и други платени и безплатни среди за разработка на софтуер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541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Технологии за създаване на уеб страници с помощта на </a:t>
            </a:r>
            <a:r>
              <a:rPr lang="en-US" dirty="0"/>
              <a:t>ASP.NET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480" y="1690687"/>
            <a:ext cx="10590320" cy="5056341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bg-BG" sz="1700" dirty="0"/>
              <a:t>В момента, съществуват няколко технологии, лежащи на </a:t>
            </a:r>
            <a:r>
              <a:rPr lang="en-US" sz="1700" dirty="0"/>
              <a:t>ASP.NET</a:t>
            </a:r>
            <a:r>
              <a:rPr lang="bg-BG" sz="1700" dirty="0"/>
              <a:t> и позволяващи разработването на уеб страници.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bg-BG" sz="1700" dirty="0"/>
              <a:t>В момента активно се разработват и поддържат двата моделите на разработка на уеб приложения (</a:t>
            </a:r>
            <a:r>
              <a:rPr lang="en-US" sz="1700" dirty="0">
                <a:hlinkClick r:id="rId2"/>
              </a:rPr>
              <a:t>https://learn.microsoft.com/en-us/aspnet/core/tutorials/choose-web-ui?view=aspnetcore-7.0</a:t>
            </a:r>
            <a:r>
              <a:rPr lang="bg-BG" sz="1700" dirty="0"/>
              <a:t>):  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sz="1700" dirty="0">
                <a:solidFill>
                  <a:srgbClr val="FF0000"/>
                </a:solidFill>
              </a:rPr>
              <a:t>ASP.NET MVC</a:t>
            </a:r>
            <a:r>
              <a:rPr lang="bg-BG" sz="1700" dirty="0">
                <a:solidFill>
                  <a:srgbClr val="FF0000"/>
                </a:solidFill>
              </a:rPr>
              <a:t> – позволява разработката на уеб приложения, които следват шаблона </a:t>
            </a:r>
            <a:r>
              <a:rPr lang="en-US" sz="1700" dirty="0">
                <a:solidFill>
                  <a:srgbClr val="FF0000"/>
                </a:solidFill>
              </a:rPr>
              <a:t>MVC</a:t>
            </a:r>
            <a:r>
              <a:rPr lang="bg-BG" sz="1700" dirty="0"/>
              <a:t>. Кода в страниците се обработват от сървъра.</a:t>
            </a:r>
            <a:endParaRPr lang="bg-BG" sz="1700" dirty="0">
              <a:solidFill>
                <a:srgbClr val="FF0000"/>
              </a:solidFill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sz="1700" dirty="0"/>
              <a:t>Razor</a:t>
            </a:r>
            <a:r>
              <a:rPr lang="bg-BG" sz="1700" dirty="0"/>
              <a:t> страници – създават се страници, които смесват</a:t>
            </a:r>
            <a:r>
              <a:rPr lang="en-US" sz="1700" dirty="0"/>
              <a:t> C#</a:t>
            </a:r>
            <a:r>
              <a:rPr lang="bg-BG" sz="1700" dirty="0"/>
              <a:t> код с </a:t>
            </a:r>
            <a:r>
              <a:rPr lang="en-US" sz="1700" dirty="0"/>
              <a:t>HTML</a:t>
            </a:r>
            <a:r>
              <a:rPr lang="bg-BG" sz="1700" dirty="0"/>
              <a:t> код. Кода в страниците се обработват от сървъра.</a:t>
            </a:r>
            <a:endParaRPr lang="en-US" sz="1700" dirty="0"/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sz="1700" dirty="0" err="1"/>
              <a:t>Blazor</a:t>
            </a:r>
            <a:r>
              <a:rPr lang="en-US" sz="1700" dirty="0"/>
              <a:t> </a:t>
            </a:r>
            <a:r>
              <a:rPr lang="en-US" sz="1700" dirty="0">
                <a:hlinkClick r:id="rId3"/>
              </a:rPr>
              <a:t>–</a:t>
            </a:r>
            <a:r>
              <a:rPr lang="en-US" sz="1700" dirty="0"/>
              <a:t> </a:t>
            </a:r>
            <a:r>
              <a:rPr lang="bg-BG" sz="1700" dirty="0"/>
              <a:t>рамка за изграждане на уеб базирани приложения, в които кода от страна на сървъра и клиента се пише на </a:t>
            </a:r>
            <a:r>
              <a:rPr lang="en-US" sz="1700" dirty="0"/>
              <a:t>.NET (C#). </a:t>
            </a:r>
            <a:r>
              <a:rPr lang="bg-BG" sz="1700" dirty="0"/>
              <a:t>Няма нужда от употреба на </a:t>
            </a:r>
            <a:r>
              <a:rPr lang="en-US" sz="1700" dirty="0"/>
              <a:t>JavaScript</a:t>
            </a:r>
            <a:r>
              <a:rPr lang="bg-BG" sz="1700" dirty="0"/>
              <a:t>, защото вместо него се използва </a:t>
            </a:r>
            <a:r>
              <a:rPr lang="en-US" sz="1700" dirty="0"/>
              <a:t>C#</a:t>
            </a:r>
            <a:r>
              <a:rPr lang="bg-BG" sz="1700" dirty="0"/>
              <a:t>. Кода в страниците се обработват от клиента. Тази технология може да работи съвместно с някоя от горните. 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endParaRPr lang="bg-BG" sz="17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bg-BG" sz="1700" dirty="0"/>
              <a:t>Други две технологии на разработка са отпаднали от активна разработка, тъй като са част от .</a:t>
            </a:r>
            <a:r>
              <a:rPr lang="en-US" sz="1700" dirty="0"/>
              <a:t>NET</a:t>
            </a:r>
            <a:r>
              <a:rPr lang="bg-BG" sz="1700" dirty="0"/>
              <a:t> </a:t>
            </a:r>
            <a:r>
              <a:rPr lang="en-US" sz="1700" dirty="0"/>
              <a:t>Framework </a:t>
            </a:r>
            <a:r>
              <a:rPr lang="bg-BG" sz="1700" dirty="0"/>
              <a:t>и в момента само се поддържат (</a:t>
            </a:r>
            <a:r>
              <a:rPr lang="en-US" sz="1700" dirty="0">
                <a:hlinkClick r:id="rId4"/>
              </a:rPr>
              <a:t>https://learn.microsoft.com/en-us/aspnet/overview</a:t>
            </a:r>
            <a:r>
              <a:rPr lang="bg-BG" sz="1700" dirty="0"/>
              <a:t>):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sz="1700" dirty="0"/>
              <a:t>ASP.NET Web Forms  - </a:t>
            </a:r>
            <a:r>
              <a:rPr lang="bg-BG" sz="1700" dirty="0"/>
              <a:t>могат да се разработват динамични уеб приложения, използвайки влачене и пускане на контроли и обработка на събития.</a:t>
            </a:r>
            <a:endParaRPr lang="en-US" sz="1700" dirty="0"/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sz="1700" dirty="0"/>
              <a:t>ASP.NET Web Pages</a:t>
            </a:r>
          </a:p>
        </p:txBody>
      </p:sp>
    </p:spTree>
    <p:extLst>
      <p:ext uri="{BB962C8B-B14F-4D97-AF65-F5344CB8AC3E}">
        <p14:creationId xmlns:p14="http://schemas.microsoft.com/office/powerpoint/2010/main" val="2755736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ASP.NET MVC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011" t="33204" r="52908" b="25195"/>
          <a:stretch/>
        </p:blipFill>
        <p:spPr>
          <a:xfrm>
            <a:off x="7171381" y="1811045"/>
            <a:ext cx="4680686" cy="47430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85912"/>
            <a:ext cx="6601287" cy="511672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bg-BG" dirty="0"/>
              <a:t>С помощта на технологията</a:t>
            </a:r>
          </a:p>
          <a:p>
            <a:pPr marL="0" indent="0">
              <a:buNone/>
            </a:pPr>
            <a:r>
              <a:rPr lang="bg-BG" dirty="0"/>
              <a:t>се изграждат приложения следващи</a:t>
            </a:r>
          </a:p>
          <a:p>
            <a:pPr marL="0" indent="0">
              <a:buNone/>
            </a:pPr>
            <a:r>
              <a:rPr lang="bg-BG" dirty="0"/>
              <a:t>шаблона </a:t>
            </a:r>
            <a:r>
              <a:rPr lang="en-US" dirty="0"/>
              <a:t>MVC (model-view-controller)</a:t>
            </a:r>
            <a:r>
              <a:rPr lang="bg-BG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bg-BG" dirty="0"/>
              <a:t>При този шаблон, кода на приложението се разделя на 3 части:</a:t>
            </a:r>
          </a:p>
          <a:p>
            <a:r>
              <a:rPr lang="bg-BG" dirty="0"/>
              <a:t>Модел – съдържа </a:t>
            </a:r>
            <a:r>
              <a:rPr lang="en-US" dirty="0"/>
              <a:t>html</a:t>
            </a:r>
            <a:r>
              <a:rPr lang="bg-BG" dirty="0"/>
              <a:t> страници, отговорни за визуалното представяне на приложението</a:t>
            </a:r>
          </a:p>
          <a:p>
            <a:r>
              <a:rPr lang="bg-BG" dirty="0"/>
              <a:t>Модел – представлява </a:t>
            </a:r>
            <a:r>
              <a:rPr lang="en-US" dirty="0"/>
              <a:t>C#</a:t>
            </a:r>
            <a:r>
              <a:rPr lang="bg-BG" dirty="0"/>
              <a:t> класове, съдържащи бизнес логиката на приложението (напр. съдържа код за връзка с база данни, код за сложни пресмятания и други).</a:t>
            </a:r>
          </a:p>
          <a:p>
            <a:r>
              <a:rPr lang="bg-BG" dirty="0"/>
              <a:t>Контролер – представлява </a:t>
            </a:r>
            <a:r>
              <a:rPr lang="en-US" dirty="0"/>
              <a:t>C#</a:t>
            </a:r>
            <a:r>
              <a:rPr lang="bg-BG" dirty="0"/>
              <a:t> класове, приемащи потребителските заявки. Тези класове и методите в тях, решават как да обработят заявките и кой изглед да бъде показан на потребителя. Могат да извикват и бизнес логика от модела.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630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Някои предимства на </a:t>
            </a:r>
            <a:r>
              <a:rPr lang="en-US" dirty="0"/>
              <a:t>ASP.NET MVC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MVC </a:t>
            </a:r>
            <a:r>
              <a:rPr lang="bg-BG" dirty="0"/>
              <a:t>прави лесна поддръжката на големи и сложни приложения</a:t>
            </a:r>
          </a:p>
          <a:p>
            <a:endParaRPr lang="bg-BG" dirty="0"/>
          </a:p>
          <a:p>
            <a:r>
              <a:rPr lang="bg-BG" dirty="0"/>
              <a:t>Архитектурата позволява едновременната работата на много програмисти върху едно приложение</a:t>
            </a:r>
          </a:p>
          <a:p>
            <a:endParaRPr lang="bg-BG" dirty="0"/>
          </a:p>
          <a:p>
            <a:r>
              <a:rPr lang="en-US" dirty="0"/>
              <a:t>MVC</a:t>
            </a:r>
            <a:r>
              <a:rPr lang="bg-BG" dirty="0"/>
              <a:t> позволява на дизайнерите да се съсредоточат върху визуалната част, докато програмистите се съсредоточават върху бизнес логиката.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30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6BEE6-30DE-4DA0-B159-9AA73E558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</a:t>
            </a:r>
            <a:r>
              <a:rPr lang="en-US" dirty="0"/>
              <a:t>ASP.NET</a:t>
            </a:r>
            <a:r>
              <a:rPr lang="bg-BG" dirty="0"/>
              <a:t> </a:t>
            </a:r>
            <a:r>
              <a:rPr lang="en-US" dirty="0"/>
              <a:t>MVC</a:t>
            </a:r>
            <a:r>
              <a:rPr lang="bg-BG" dirty="0"/>
              <a:t> приложение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F2273-AA85-42BE-A475-6219A3464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7157"/>
            <a:ext cx="11353800" cy="4923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>
                <a:solidFill>
                  <a:srgbClr val="FF0000"/>
                </a:solidFill>
              </a:rPr>
              <a:t>С </a:t>
            </a:r>
            <a:r>
              <a:rPr lang="en-US" dirty="0">
                <a:solidFill>
                  <a:srgbClr val="FF0000"/>
                </a:solidFill>
              </a:rPr>
              <a:t>Visual Studio 2015</a:t>
            </a:r>
            <a:r>
              <a:rPr lang="bg-BG" dirty="0">
                <a:solidFill>
                  <a:srgbClr val="FF0000"/>
                </a:solidFill>
              </a:rPr>
              <a:t> и 2017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lvl="1"/>
            <a:r>
              <a:rPr lang="en-US" sz="2800" dirty="0"/>
              <a:t>File </a:t>
            </a:r>
            <a:r>
              <a:rPr lang="en-US" sz="2800" dirty="0">
                <a:sym typeface="Wingdings" panose="05000000000000000000" pitchFamily="2" charset="2"/>
              </a:rPr>
              <a:t> New Project</a:t>
            </a:r>
          </a:p>
          <a:p>
            <a:pPr lvl="1"/>
            <a:r>
              <a:rPr lang="en-US" sz="2800" dirty="0">
                <a:sym typeface="Wingdings" panose="05000000000000000000" pitchFamily="2" charset="2"/>
              </a:rPr>
              <a:t>Visual C#  Web  ASP.NET Web Application (</a:t>
            </a:r>
            <a:r>
              <a:rPr lang="en-US" sz="2800" dirty="0" err="1">
                <a:sym typeface="Wingdings" panose="05000000000000000000" pitchFamily="2" charset="2"/>
              </a:rPr>
              <a:t>.Net</a:t>
            </a:r>
            <a:r>
              <a:rPr lang="en-US" sz="2800" dirty="0">
                <a:sym typeface="Wingdings" panose="05000000000000000000" pitchFamily="2" charset="2"/>
              </a:rPr>
              <a:t> Framework)  OK</a:t>
            </a:r>
          </a:p>
          <a:p>
            <a:pPr lvl="1"/>
            <a:r>
              <a:rPr lang="bg-BG" sz="2800" dirty="0">
                <a:sym typeface="Wingdings" panose="05000000000000000000" pitchFamily="2" charset="2"/>
              </a:rPr>
              <a:t>Избираме </a:t>
            </a:r>
            <a:r>
              <a:rPr lang="en-US" sz="2800" dirty="0">
                <a:sym typeface="Wingdings" panose="05000000000000000000" pitchFamily="2" charset="2"/>
              </a:rPr>
              <a:t>Empty </a:t>
            </a:r>
            <a:r>
              <a:rPr lang="bg-BG" sz="2800" dirty="0">
                <a:sym typeface="Wingdings" panose="05000000000000000000" pitchFamily="2" charset="2"/>
              </a:rPr>
              <a:t>и </a:t>
            </a:r>
            <a:r>
              <a:rPr lang="en-US" sz="2800" dirty="0">
                <a:sym typeface="Wingdings" panose="05000000000000000000" pitchFamily="2" charset="2"/>
              </a:rPr>
              <a:t>MVC</a:t>
            </a:r>
            <a:endParaRPr lang="en-US" sz="2800" dirty="0"/>
          </a:p>
          <a:p>
            <a:endParaRPr lang="en-US" dirty="0"/>
          </a:p>
          <a:p>
            <a:pPr marL="0" indent="0">
              <a:buNone/>
            </a:pPr>
            <a:r>
              <a:rPr lang="bg-BG" dirty="0">
                <a:solidFill>
                  <a:srgbClr val="FF0000"/>
                </a:solidFill>
              </a:rPr>
              <a:t>С </a:t>
            </a:r>
            <a:r>
              <a:rPr lang="en-US" dirty="0">
                <a:solidFill>
                  <a:srgbClr val="FF0000"/>
                </a:solidFill>
              </a:rPr>
              <a:t>Visual Studio 2022:</a:t>
            </a:r>
          </a:p>
          <a:p>
            <a:pPr lvl="1"/>
            <a:r>
              <a:rPr lang="en-US" sz="2800" dirty="0"/>
              <a:t>Create new project:</a:t>
            </a:r>
          </a:p>
          <a:p>
            <a:pPr lvl="2"/>
            <a:r>
              <a:rPr lang="en-US" dirty="0"/>
              <a:t>Language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bg-BG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C#	;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Project type  Web</a:t>
            </a:r>
          </a:p>
          <a:p>
            <a:pPr lvl="1"/>
            <a:r>
              <a:rPr lang="en-US" sz="2800" dirty="0">
                <a:sym typeface="Wingdings" panose="05000000000000000000" pitchFamily="2" charset="2"/>
              </a:rPr>
              <a:t>ASP.NET Web Application (</a:t>
            </a:r>
            <a:r>
              <a:rPr lang="en-US" sz="2800" dirty="0" err="1">
                <a:sym typeface="Wingdings" panose="05000000000000000000" pitchFamily="2" charset="2"/>
              </a:rPr>
              <a:t>.Net</a:t>
            </a:r>
            <a:r>
              <a:rPr lang="en-US" sz="2800" dirty="0">
                <a:sym typeface="Wingdings" panose="05000000000000000000" pitchFamily="2" charset="2"/>
              </a:rPr>
              <a:t> Framework)</a:t>
            </a:r>
            <a:endParaRPr lang="bg-BG" sz="2800" dirty="0">
              <a:sym typeface="Wingdings" panose="05000000000000000000" pitchFamily="2" charset="2"/>
            </a:endParaRPr>
          </a:p>
          <a:p>
            <a:pPr lvl="1"/>
            <a:r>
              <a:rPr lang="bg-BG" sz="2800" dirty="0">
                <a:sym typeface="Wingdings" panose="05000000000000000000" pitchFamily="2" charset="2"/>
              </a:rPr>
              <a:t>Избираме </a:t>
            </a:r>
            <a:r>
              <a:rPr lang="en-US" sz="2800" dirty="0">
                <a:sym typeface="Wingdings" panose="05000000000000000000" pitchFamily="2" charset="2"/>
              </a:rPr>
              <a:t>Empty </a:t>
            </a:r>
            <a:r>
              <a:rPr lang="bg-BG" sz="2800" dirty="0">
                <a:sym typeface="Wingdings" panose="05000000000000000000" pitchFamily="2" charset="2"/>
              </a:rPr>
              <a:t>и </a:t>
            </a:r>
            <a:r>
              <a:rPr lang="en-US" sz="2800" dirty="0">
                <a:sym typeface="Wingdings" panose="05000000000000000000" pitchFamily="2" charset="2"/>
              </a:rPr>
              <a:t>MVC</a:t>
            </a:r>
            <a:r>
              <a:rPr lang="bg-BG" sz="2800" dirty="0">
                <a:sym typeface="Wingdings" panose="05000000000000000000" pitchFamily="2" charset="2"/>
              </a:rPr>
              <a:t> и махаме отметката на</a:t>
            </a:r>
            <a:r>
              <a:rPr lang="en-US" sz="2800" dirty="0">
                <a:sym typeface="Wingdings" panose="05000000000000000000" pitchFamily="2" charset="2"/>
              </a:rPr>
              <a:t> “Configure for</a:t>
            </a:r>
            <a:r>
              <a:rPr lang="bg-BG" sz="2800" dirty="0">
                <a:sym typeface="Wingdings" panose="05000000000000000000" pitchFamily="2" charset="2"/>
              </a:rPr>
              <a:t> </a:t>
            </a:r>
            <a:r>
              <a:rPr lang="en-US" sz="2800" dirty="0">
                <a:sym typeface="Wingdings" panose="05000000000000000000" pitchFamily="2" charset="2"/>
              </a:rPr>
              <a:t>HTTPS”</a:t>
            </a:r>
            <a:endParaRPr lang="en-US" sz="28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753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6BEE6-30DE-4DA0-B159-9AA73E558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контролер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F2273-AA85-42BE-A475-6219A3464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9920" cy="4351338"/>
          </a:xfrm>
        </p:spPr>
        <p:txBody>
          <a:bodyPr/>
          <a:lstStyle/>
          <a:p>
            <a:r>
              <a:rPr lang="bg-BG" dirty="0"/>
              <a:t>За да добавите контролер:</a:t>
            </a:r>
          </a:p>
          <a:p>
            <a:r>
              <a:rPr lang="bg-BG" dirty="0"/>
              <a:t>Щракнете с дясното копче върху</a:t>
            </a:r>
            <a:r>
              <a:rPr lang="en-US" dirty="0"/>
              <a:t> </a:t>
            </a:r>
            <a:r>
              <a:rPr lang="bg-BG" dirty="0"/>
              <a:t>папката </a:t>
            </a:r>
            <a:r>
              <a:rPr lang="en-US" dirty="0" err="1"/>
              <a:t>Controler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   и изберете </a:t>
            </a:r>
            <a:r>
              <a:rPr lang="en-US" dirty="0"/>
              <a:t>Add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bg-BG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Controller.</a:t>
            </a:r>
            <a:endParaRPr lang="bg-BG" dirty="0">
              <a:sym typeface="Wingdings" panose="05000000000000000000" pitchFamily="2" charset="2"/>
            </a:endParaRPr>
          </a:p>
          <a:p>
            <a:r>
              <a:rPr lang="bg-BG" dirty="0">
                <a:sym typeface="Wingdings" panose="05000000000000000000" pitchFamily="2" charset="2"/>
              </a:rPr>
              <a:t>От появилият се диалог, изберете „</a:t>
            </a:r>
            <a:r>
              <a:rPr lang="en-US" dirty="0">
                <a:sym typeface="Wingdings" panose="05000000000000000000" pitchFamily="2" charset="2"/>
              </a:rPr>
              <a:t>MVC 5 Controller - Empty</a:t>
            </a:r>
            <a:r>
              <a:rPr lang="bg-BG" dirty="0">
                <a:sym typeface="Wingdings" panose="05000000000000000000" pitchFamily="2" charset="2"/>
              </a:rPr>
              <a:t>“</a:t>
            </a:r>
            <a:r>
              <a:rPr lang="bg-BG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bg-BG" dirty="0">
                <a:sym typeface="Wingdings" panose="05000000000000000000" pitchFamily="2" charset="2"/>
              </a:rPr>
              <a:t>ОК</a:t>
            </a:r>
          </a:p>
          <a:p>
            <a:r>
              <a:rPr lang="bg-BG" dirty="0">
                <a:sym typeface="Wingdings" panose="05000000000000000000" pitchFamily="2" charset="2"/>
              </a:rPr>
              <a:t>Запишете име на контролер. Името трябва да завършва </a:t>
            </a:r>
          </a:p>
          <a:p>
            <a:pPr marL="0" indent="0">
              <a:buNone/>
            </a:pPr>
            <a:r>
              <a:rPr lang="bg-BG" dirty="0">
                <a:sym typeface="Wingdings" panose="05000000000000000000" pitchFamily="2" charset="2"/>
              </a:rPr>
              <a:t>   на </a:t>
            </a:r>
            <a:r>
              <a:rPr lang="en-US" dirty="0">
                <a:sym typeface="Wingdings" panose="05000000000000000000" pitchFamily="2" charset="2"/>
              </a:rPr>
              <a:t>Controller – </a:t>
            </a:r>
            <a:r>
              <a:rPr lang="bg-BG" dirty="0">
                <a:sym typeface="Wingdings" panose="05000000000000000000" pitchFamily="2" charset="2"/>
              </a:rPr>
              <a:t>напр. </a:t>
            </a:r>
            <a:r>
              <a:rPr lang="en-US" dirty="0">
                <a:sym typeface="Wingdings" panose="05000000000000000000" pitchFamily="2" charset="2"/>
              </a:rPr>
              <a:t>“</a:t>
            </a:r>
            <a:r>
              <a:rPr lang="en-US" dirty="0" err="1">
                <a:sym typeface="Wingdings" panose="05000000000000000000" pitchFamily="2" charset="2"/>
              </a:rPr>
              <a:t>HomeController</a:t>
            </a:r>
            <a:r>
              <a:rPr lang="en-US" dirty="0">
                <a:sym typeface="Wingdings" panose="05000000000000000000" pitchFamily="2" charset="2"/>
              </a:rPr>
              <a:t>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201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9229" y="2246049"/>
            <a:ext cx="11331388" cy="3102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F2273-AA85-42BE-A475-6219A3464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509203"/>
            <a:ext cx="11576957" cy="5246703"/>
          </a:xfrm>
        </p:spPr>
        <p:txBody>
          <a:bodyPr>
            <a:normAutofit fontScale="85000" lnSpcReduction="20000"/>
          </a:bodyPr>
          <a:lstStyle/>
          <a:p>
            <a:r>
              <a:rPr lang="bg-BG" dirty="0"/>
              <a:t>Всеки метод, в контролера представлява отделна страница.</a:t>
            </a:r>
          </a:p>
          <a:p>
            <a:r>
              <a:rPr lang="bg-BG" dirty="0"/>
              <a:t>Примерен метода</a:t>
            </a:r>
            <a:r>
              <a:rPr lang="en-US" dirty="0"/>
              <a:t> Index, </a:t>
            </a:r>
            <a:r>
              <a:rPr lang="bg-BG" dirty="0"/>
              <a:t>намиращ се в контролера </a:t>
            </a:r>
            <a:r>
              <a:rPr lang="en-US" dirty="0"/>
              <a:t>Home:</a:t>
            </a:r>
          </a:p>
          <a:p>
            <a:pPr marL="0" indent="0">
              <a:buNone/>
            </a:pPr>
            <a:r>
              <a:rPr lang="en-US" dirty="0"/>
              <a:t>public String Index()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bg-BG" dirty="0"/>
              <a:t>     </a:t>
            </a:r>
            <a:r>
              <a:rPr lang="en-US" dirty="0"/>
              <a:t>return @"&lt;html&gt;</a:t>
            </a:r>
          </a:p>
          <a:p>
            <a:pPr marL="0" indent="0">
              <a:buNone/>
            </a:pPr>
            <a:r>
              <a:rPr lang="en-US" dirty="0"/>
              <a:t>			&lt;body&gt;</a:t>
            </a:r>
          </a:p>
          <a:p>
            <a:pPr marL="0" indent="0">
              <a:buNone/>
            </a:pPr>
            <a:r>
              <a:rPr lang="en-US" dirty="0"/>
              <a:t>				&lt;h1&gt;</a:t>
            </a:r>
            <a:r>
              <a:rPr lang="en-US" dirty="0" err="1"/>
              <a:t>Здравей</a:t>
            </a:r>
            <a:r>
              <a:rPr lang="en-US" dirty="0"/>
              <a:t> :)&lt;/h1&gt;</a:t>
            </a:r>
          </a:p>
          <a:p>
            <a:pPr marL="0" indent="0">
              <a:buNone/>
            </a:pPr>
            <a:r>
              <a:rPr lang="en-US" dirty="0"/>
              <a:t>			&lt;/body&gt;</a:t>
            </a:r>
          </a:p>
          <a:p>
            <a:pPr marL="0" indent="0">
              <a:buNone/>
            </a:pPr>
            <a:r>
              <a:rPr lang="en-US" dirty="0"/>
              <a:t>	       &lt;/html&gt;";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}</a:t>
            </a:r>
            <a:endParaRPr lang="bg-BG" dirty="0"/>
          </a:p>
          <a:p>
            <a:pPr marL="0" indent="0">
              <a:buNone/>
            </a:pPr>
            <a:endParaRPr lang="bg-BG" dirty="0"/>
          </a:p>
          <a:p>
            <a:r>
              <a:rPr lang="bg-BG" dirty="0"/>
              <a:t>Горният метод</a:t>
            </a:r>
            <a:r>
              <a:rPr lang="en-US" dirty="0"/>
              <a:t> Index() </a:t>
            </a:r>
            <a:r>
              <a:rPr lang="bg-BG" dirty="0"/>
              <a:t>се зарежда</a:t>
            </a:r>
            <a:r>
              <a:rPr lang="en-US" dirty="0"/>
              <a:t> </a:t>
            </a:r>
            <a:r>
              <a:rPr lang="bg-BG" dirty="0"/>
              <a:t>в браузъра, като се напише името на контролера </a:t>
            </a:r>
            <a:r>
              <a:rPr lang="en-US" dirty="0"/>
              <a:t>Home</a:t>
            </a:r>
            <a:r>
              <a:rPr lang="bg-BG" dirty="0"/>
              <a:t>, последвано от името на метода. </a:t>
            </a:r>
            <a:r>
              <a:rPr lang="en-US" dirty="0"/>
              <a:t>URL</a:t>
            </a:r>
            <a:r>
              <a:rPr lang="bg-BG" dirty="0"/>
              <a:t> адреса</a:t>
            </a:r>
            <a:r>
              <a:rPr lang="en-US" dirty="0"/>
              <a:t> </a:t>
            </a:r>
            <a:r>
              <a:rPr lang="bg-BG" dirty="0"/>
              <a:t>трябва да изглежда така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http://localhost:</a:t>
            </a:r>
            <a:r>
              <a:rPr lang="bg-BG" dirty="0">
                <a:solidFill>
                  <a:srgbClr val="FF0000"/>
                </a:solidFill>
              </a:rPr>
              <a:t>ПОРТ</a:t>
            </a:r>
            <a:r>
              <a:rPr lang="bg-BG" dirty="0"/>
              <a:t>/</a:t>
            </a:r>
            <a:r>
              <a:rPr lang="en-US" dirty="0"/>
              <a:t>Home/Index</a:t>
            </a:r>
            <a:endParaRPr lang="bg-BG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6BEE6-30DE-4DA0-B159-9AA73E558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3244"/>
          </a:xfrm>
        </p:spPr>
        <p:txBody>
          <a:bodyPr/>
          <a:lstStyle/>
          <a:p>
            <a:r>
              <a:rPr lang="bg-BG" dirty="0"/>
              <a:t>Обработка на заявките и </a:t>
            </a:r>
            <a:r>
              <a:rPr lang="bg-BG" dirty="0" err="1"/>
              <a:t>маршрутизиране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199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447" y="2581836"/>
            <a:ext cx="11331388" cy="2106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6BEE6-30DE-4DA0-B159-9AA73E558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Обработка на заявките и </a:t>
            </a:r>
            <a:r>
              <a:rPr lang="bg-BG" dirty="0" err="1"/>
              <a:t>маршрутизиране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F2273-AA85-42BE-A475-6219A3464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586754"/>
            <a:ext cx="11576957" cy="5011270"/>
          </a:xfrm>
        </p:spPr>
        <p:txBody>
          <a:bodyPr>
            <a:normAutofit fontScale="92500" lnSpcReduction="10000"/>
          </a:bodyPr>
          <a:lstStyle/>
          <a:p>
            <a:r>
              <a:rPr lang="bg-BG" dirty="0"/>
              <a:t>Можем да заменим връщания тип с </a:t>
            </a:r>
            <a:r>
              <a:rPr lang="en-US" dirty="0" err="1"/>
              <a:t>ActionResult</a:t>
            </a:r>
            <a:r>
              <a:rPr lang="en-US" dirty="0"/>
              <a:t>. </a:t>
            </a:r>
            <a:r>
              <a:rPr lang="bg-BG" dirty="0"/>
              <a:t>Тогава, трябва да използваме метода </a:t>
            </a:r>
            <a:r>
              <a:rPr lang="en-US" dirty="0"/>
              <a:t>Content()</a:t>
            </a:r>
            <a:r>
              <a:rPr lang="bg-BG" dirty="0"/>
              <a:t>, за да конструираме кода, който да се изпрати към уеб браузъра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err="1"/>
              <a:t>ActionResult</a:t>
            </a:r>
            <a:r>
              <a:rPr lang="en-US" dirty="0"/>
              <a:t> Index()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bg-BG" dirty="0"/>
              <a:t>     </a:t>
            </a:r>
            <a:r>
              <a:rPr lang="en-US" dirty="0"/>
              <a:t>return Content("&lt;html&gt;&lt;body&gt;&lt;h1&gt;</a:t>
            </a:r>
            <a:r>
              <a:rPr lang="en-US" dirty="0" err="1"/>
              <a:t>Здравей</a:t>
            </a:r>
            <a:r>
              <a:rPr lang="en-US" dirty="0"/>
              <a:t> :)&lt;/h1&gt;&lt;/body&gt;&lt;/html&gt;");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}</a:t>
            </a:r>
            <a:endParaRPr lang="bg-BG" dirty="0"/>
          </a:p>
          <a:p>
            <a:pPr marL="0" indent="0">
              <a:buNone/>
            </a:pPr>
            <a:endParaRPr lang="bg-BG" dirty="0"/>
          </a:p>
          <a:p>
            <a:r>
              <a:rPr lang="bg-BG" dirty="0"/>
              <a:t>Горният метод</a:t>
            </a:r>
            <a:r>
              <a:rPr lang="en-US" dirty="0"/>
              <a:t> Index() </a:t>
            </a:r>
            <a:r>
              <a:rPr lang="bg-BG" dirty="0"/>
              <a:t>се зарежда</a:t>
            </a:r>
            <a:r>
              <a:rPr lang="en-US" dirty="0"/>
              <a:t> </a:t>
            </a:r>
            <a:r>
              <a:rPr lang="bg-BG" dirty="0"/>
              <a:t>в браузъра, като се напише името на контролера </a:t>
            </a:r>
            <a:r>
              <a:rPr lang="en-US" dirty="0"/>
              <a:t>Home</a:t>
            </a:r>
            <a:r>
              <a:rPr lang="bg-BG" dirty="0"/>
              <a:t>, последвано от името на метода. </a:t>
            </a:r>
            <a:r>
              <a:rPr lang="en-US" dirty="0"/>
              <a:t>URL</a:t>
            </a:r>
            <a:r>
              <a:rPr lang="bg-BG" dirty="0"/>
              <a:t> адреса</a:t>
            </a:r>
            <a:r>
              <a:rPr lang="en-US" dirty="0"/>
              <a:t> </a:t>
            </a:r>
            <a:r>
              <a:rPr lang="bg-BG" dirty="0"/>
              <a:t>трябва да изглежда така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http://localhost:</a:t>
            </a:r>
            <a:r>
              <a:rPr lang="bg-BG" dirty="0">
                <a:solidFill>
                  <a:srgbClr val="FF0000"/>
                </a:solidFill>
              </a:rPr>
              <a:t>ПОРТ</a:t>
            </a:r>
            <a:r>
              <a:rPr lang="bg-BG" dirty="0"/>
              <a:t>/</a:t>
            </a:r>
            <a:r>
              <a:rPr lang="en-US" dirty="0"/>
              <a:t>Home/Index</a:t>
            </a:r>
            <a:endParaRPr lang="bg-BG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887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Action Results</a:t>
            </a:r>
            <a:r>
              <a:rPr lang="bg-BG" dirty="0"/>
              <a:t> – различни типове съдържание, връщано от методите на контролерите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20325" b="2590"/>
          <a:stretch/>
        </p:blipFill>
        <p:spPr>
          <a:xfrm>
            <a:off x="281546" y="1699653"/>
            <a:ext cx="11063289" cy="46958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29718" y="6022623"/>
            <a:ext cx="3182470" cy="295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new </a:t>
            </a:r>
            <a:r>
              <a:rPr lang="en-US" sz="2400" b="1" dirty="0" err="1">
                <a:solidFill>
                  <a:schemeClr val="tx1"/>
                </a:solidFill>
              </a:rPr>
              <a:t>EmptyResult</a:t>
            </a:r>
            <a:r>
              <a:rPr lang="en-US" sz="2400" b="1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212" y="6343689"/>
            <a:ext cx="10165976" cy="295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…						…</a:t>
            </a:r>
          </a:p>
        </p:txBody>
      </p:sp>
    </p:spTree>
    <p:extLst>
      <p:ext uri="{BB962C8B-B14F-4D97-AF65-F5344CB8AC3E}">
        <p14:creationId xmlns:p14="http://schemas.microsoft.com/office/powerpoint/2010/main" val="3134946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74376" y="4473388"/>
            <a:ext cx="9152965" cy="19453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Атрибути, използвани при контролерите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46613"/>
          </a:xfrm>
        </p:spPr>
        <p:txBody>
          <a:bodyPr>
            <a:normAutofit/>
          </a:bodyPr>
          <a:lstStyle/>
          <a:p>
            <a:r>
              <a:rPr lang="bg-BG" dirty="0"/>
              <a:t>Атрибутите са класове наследници на </a:t>
            </a:r>
            <a:r>
              <a:rPr lang="en-US" dirty="0" err="1"/>
              <a:t>System.Attribute</a:t>
            </a:r>
            <a:r>
              <a:rPr lang="bg-BG" dirty="0"/>
              <a:t>.</a:t>
            </a:r>
          </a:p>
          <a:p>
            <a:pPr lvl="1"/>
            <a:r>
              <a:rPr lang="bg-BG" sz="2800" dirty="0"/>
              <a:t>Всеки клас наследник трябва да завършва на </a:t>
            </a:r>
            <a:r>
              <a:rPr lang="en-US" sz="2800" dirty="0"/>
              <a:t>Attribute</a:t>
            </a:r>
            <a:r>
              <a:rPr lang="bg-BG" sz="2800" dirty="0"/>
              <a:t>, но при употребата му тази дума се пропуска</a:t>
            </a:r>
          </a:p>
          <a:p>
            <a:endParaRPr lang="en-US" dirty="0"/>
          </a:p>
          <a:p>
            <a:r>
              <a:rPr lang="bg-BG" dirty="0"/>
              <a:t>Пример</a:t>
            </a:r>
            <a:r>
              <a:rPr lang="en-US" dirty="0"/>
              <a:t>, </a:t>
            </a:r>
            <a:r>
              <a:rPr lang="bg-BG" dirty="0"/>
              <a:t>в който сме добавили </a:t>
            </a:r>
            <a:r>
              <a:rPr lang="bg-BG" dirty="0" err="1"/>
              <a:t>атрибура</a:t>
            </a:r>
            <a:r>
              <a:rPr lang="bg-BG" dirty="0"/>
              <a:t> </a:t>
            </a:r>
            <a:r>
              <a:rPr lang="en-US" dirty="0" err="1"/>
              <a:t>RequireHttps</a:t>
            </a:r>
            <a:r>
              <a:rPr lang="bg-BG" dirty="0"/>
              <a:t>, изискваш метода да отговаря само на </a:t>
            </a:r>
            <a:r>
              <a:rPr lang="en-US" dirty="0"/>
              <a:t>https</a:t>
            </a:r>
            <a:r>
              <a:rPr lang="bg-BG" dirty="0"/>
              <a:t> заявки:</a:t>
            </a:r>
          </a:p>
          <a:p>
            <a:pPr marL="457200" lvl="1" indent="0">
              <a:buNone/>
            </a:pPr>
            <a:r>
              <a:rPr lang="en-US" sz="2800" dirty="0"/>
              <a:t>[</a:t>
            </a:r>
            <a:r>
              <a:rPr lang="en-US" sz="2800" dirty="0" err="1"/>
              <a:t>RequireHttps</a:t>
            </a:r>
            <a:r>
              <a:rPr lang="en-US" sz="2800" dirty="0"/>
              <a:t>]</a:t>
            </a:r>
          </a:p>
          <a:p>
            <a:pPr marL="457200" lvl="1" indent="0">
              <a:buNone/>
            </a:pPr>
            <a:r>
              <a:rPr lang="en-US" sz="2800" dirty="0"/>
              <a:t>public </a:t>
            </a:r>
            <a:r>
              <a:rPr lang="en-US" sz="2800" dirty="0" err="1"/>
              <a:t>ActionResult</a:t>
            </a:r>
            <a:r>
              <a:rPr lang="en-US" sz="2800" dirty="0"/>
              <a:t> Index() </a:t>
            </a:r>
          </a:p>
          <a:p>
            <a:pPr marL="457200" lvl="1" indent="0">
              <a:buNone/>
            </a:pPr>
            <a:r>
              <a:rPr lang="en-US" sz="2800" dirty="0"/>
              <a:t>{ </a:t>
            </a:r>
          </a:p>
          <a:p>
            <a:pPr marL="457200" lvl="1" indent="0">
              <a:buNone/>
            </a:pPr>
            <a:r>
              <a:rPr lang="en-US" sz="2800" dirty="0"/>
              <a:t>}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18165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Някои атрибути, използвани при контролерите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75" y="1825625"/>
            <a:ext cx="11901488" cy="4862046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dirty="0"/>
              <a:t>[</a:t>
            </a:r>
            <a:r>
              <a:rPr lang="en-US" dirty="0" err="1"/>
              <a:t>HttpGet</a:t>
            </a:r>
            <a:r>
              <a:rPr lang="en-US" dirty="0"/>
              <a:t>] 	-	</a:t>
            </a:r>
            <a:r>
              <a:rPr lang="bg-BG" dirty="0"/>
              <a:t>Указва, че методът отговаря само на </a:t>
            </a:r>
            <a:r>
              <a:rPr lang="en-US" dirty="0"/>
              <a:t>http get</a:t>
            </a:r>
            <a:r>
              <a:rPr lang="bg-BG" dirty="0"/>
              <a:t> заявки</a:t>
            </a:r>
            <a:endParaRPr lang="en-US" dirty="0"/>
          </a:p>
          <a:p>
            <a:pPr>
              <a:lnSpc>
                <a:spcPct val="114000"/>
              </a:lnSpc>
            </a:pPr>
            <a:r>
              <a:rPr lang="en-US" dirty="0"/>
              <a:t>[</a:t>
            </a:r>
            <a:r>
              <a:rPr lang="en-US" dirty="0" err="1"/>
              <a:t>HttpPost</a:t>
            </a:r>
            <a:r>
              <a:rPr lang="en-US" dirty="0"/>
              <a:t>] 	-	</a:t>
            </a:r>
            <a:r>
              <a:rPr lang="bg-BG" dirty="0"/>
              <a:t>Указва, че методът отговаря само на </a:t>
            </a:r>
            <a:r>
              <a:rPr lang="en-US" dirty="0"/>
              <a:t>http post </a:t>
            </a:r>
            <a:r>
              <a:rPr lang="bg-BG" dirty="0"/>
              <a:t>заявки</a:t>
            </a:r>
            <a:endParaRPr lang="en-US" dirty="0"/>
          </a:p>
          <a:p>
            <a:pPr>
              <a:lnSpc>
                <a:spcPct val="114000"/>
              </a:lnSpc>
            </a:pPr>
            <a:r>
              <a:rPr lang="en-US" dirty="0"/>
              <a:t>[</a:t>
            </a:r>
            <a:r>
              <a:rPr lang="en-US" dirty="0" err="1"/>
              <a:t>ActionName</a:t>
            </a:r>
            <a:r>
              <a:rPr lang="en-US" dirty="0"/>
              <a:t>("</a:t>
            </a:r>
            <a:r>
              <a:rPr lang="en-US" dirty="0" err="1"/>
              <a:t>abc</a:t>
            </a:r>
            <a:r>
              <a:rPr lang="en-US" dirty="0"/>
              <a:t>")]</a:t>
            </a:r>
            <a:r>
              <a:rPr lang="bg-BG" dirty="0"/>
              <a:t> </a:t>
            </a:r>
            <a:r>
              <a:rPr lang="en-US" dirty="0"/>
              <a:t>- </a:t>
            </a:r>
            <a:r>
              <a:rPr lang="bg-BG" dirty="0"/>
              <a:t>променя „имет</a:t>
            </a:r>
            <a:r>
              <a:rPr lang="bg-BG" sz="3000" dirty="0"/>
              <a:t>о“ на метода (</a:t>
            </a:r>
            <a:r>
              <a:rPr lang="en-US" sz="3000" dirty="0"/>
              <a:t>URL </a:t>
            </a:r>
            <a:r>
              <a:rPr lang="bg-BG" sz="3000" dirty="0"/>
              <a:t>адреса, на който отговаря)</a:t>
            </a:r>
            <a:endParaRPr lang="en-US" sz="3000" dirty="0"/>
          </a:p>
          <a:p>
            <a:pPr>
              <a:lnSpc>
                <a:spcPct val="114000"/>
              </a:lnSpc>
            </a:pPr>
            <a:r>
              <a:rPr lang="en-US" dirty="0"/>
              <a:t>[</a:t>
            </a:r>
            <a:r>
              <a:rPr lang="en-US" dirty="0" err="1"/>
              <a:t>NonAction</a:t>
            </a:r>
            <a:r>
              <a:rPr lang="en-US" dirty="0"/>
              <a:t>] – </a:t>
            </a:r>
            <a:r>
              <a:rPr lang="bg-BG" dirty="0"/>
              <a:t>прави така, че методът не може да се извиква през уеб браузър</a:t>
            </a:r>
            <a:endParaRPr lang="en-US" dirty="0"/>
          </a:p>
          <a:p>
            <a:pPr>
              <a:lnSpc>
                <a:spcPct val="114000"/>
              </a:lnSpc>
            </a:pPr>
            <a:r>
              <a:rPr lang="en-US" dirty="0"/>
              <a:t>[</a:t>
            </a:r>
            <a:r>
              <a:rPr lang="en-US" dirty="0" err="1"/>
              <a:t>RequireHttps</a:t>
            </a:r>
            <a:r>
              <a:rPr lang="en-US" dirty="0"/>
              <a:t>]</a:t>
            </a:r>
            <a:r>
              <a:rPr lang="bg-BG" dirty="0"/>
              <a:t> – методът отговаря само на </a:t>
            </a:r>
            <a:r>
              <a:rPr lang="en-US" dirty="0"/>
              <a:t>https</a:t>
            </a:r>
            <a:r>
              <a:rPr lang="bg-BG" dirty="0"/>
              <a:t> заявки</a:t>
            </a:r>
            <a:endParaRPr lang="en-US" dirty="0"/>
          </a:p>
          <a:p>
            <a:pPr>
              <a:lnSpc>
                <a:spcPct val="114000"/>
              </a:lnSpc>
            </a:pPr>
            <a:r>
              <a:rPr lang="en-US" dirty="0"/>
              <a:t>[Route("users/{id} "]</a:t>
            </a:r>
            <a:r>
              <a:rPr lang="bg-BG" dirty="0"/>
              <a:t> – указва </a:t>
            </a:r>
            <a:r>
              <a:rPr lang="en-US" dirty="0" err="1"/>
              <a:t>url</a:t>
            </a:r>
            <a:r>
              <a:rPr lang="bg-BG" dirty="0"/>
              <a:t> адреса, на който методът отговаря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628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2511</TotalTime>
  <Words>1032</Words>
  <Application>Microsoft Office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ASP.NET</vt:lpstr>
      <vt:lpstr>Обща информация</vt:lpstr>
      <vt:lpstr>Технологии за създаване на уеб страници с помощта на ASP.NET</vt:lpstr>
      <vt:lpstr>ASP.NET MVC</vt:lpstr>
      <vt:lpstr>Някои предимства на ASP.NET MVC</vt:lpstr>
      <vt:lpstr>Създаване на ASP.NET MVC приложение</vt:lpstr>
      <vt:lpstr>Добавяне на контролер</vt:lpstr>
      <vt:lpstr>Обработка на заявките и маршрутизиране</vt:lpstr>
      <vt:lpstr>Обработка на заявките и маршрутизиране</vt:lpstr>
      <vt:lpstr>Action Results – различни типове съдържание, връщано от методите на контролерите</vt:lpstr>
      <vt:lpstr>Атрибути, използвани при контролерите</vt:lpstr>
      <vt:lpstr>Някои атрибути, използвани при контролерите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ASP.NET</dc:title>
  <dc:creator>Metodi Dimitrov</dc:creator>
  <cp:lastModifiedBy>user</cp:lastModifiedBy>
  <cp:revision>100</cp:revision>
  <dcterms:created xsi:type="dcterms:W3CDTF">2013-10-14T15:53:45Z</dcterms:created>
  <dcterms:modified xsi:type="dcterms:W3CDTF">2023-02-20T13:35:58Z</dcterms:modified>
</cp:coreProperties>
</file>