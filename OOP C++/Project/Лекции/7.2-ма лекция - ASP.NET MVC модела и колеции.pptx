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6"/>
    <p:sldId id="260" r:id="rId7"/>
    <p:sldId id="261" r:id="rId8"/>
    <p:sldId id="263" r:id="rId9"/>
    <p:sldId id="264" r:id="rId10"/>
    <p:sldId id="266" r:id="rId11"/>
    <p:sldId id="267" r:id="rId12"/>
    <p:sldId id="268" r:id="rId13"/>
    <p:sldId id="269" r:id="rId14"/>
    <p:sldId id="271" r:id="rId15"/>
    <p:sldId id="272" r:id="rId16"/>
    <p:sldId id="273" r:id="rId17"/>
    <p:sldId id="274" r:id="rId18"/>
    <p:sldId id="275" r:id="rId19"/>
    <p:sldId id="27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14" y="2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1291-6972-4FB6-A6C8-00CE703C1C95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2B859-3CC8-4C99-AB94-369D2D8EE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608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1291-6972-4FB6-A6C8-00CE703C1C95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2B859-3CC8-4C99-AB94-369D2D8EE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522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1291-6972-4FB6-A6C8-00CE703C1C95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2B859-3CC8-4C99-AB94-369D2D8EE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236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1291-6972-4FB6-A6C8-00CE703C1C95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2B859-3CC8-4C99-AB94-369D2D8EE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998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1291-6972-4FB6-A6C8-00CE703C1C95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2B859-3CC8-4C99-AB94-369D2D8EE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311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1291-6972-4FB6-A6C8-00CE703C1C95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2B859-3CC8-4C99-AB94-369D2D8EE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760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1291-6972-4FB6-A6C8-00CE703C1C95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2B859-3CC8-4C99-AB94-369D2D8EE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575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1291-6972-4FB6-A6C8-00CE703C1C95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2B859-3CC8-4C99-AB94-369D2D8EE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203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1291-6972-4FB6-A6C8-00CE703C1C95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2B859-3CC8-4C99-AB94-369D2D8EE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8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1291-6972-4FB6-A6C8-00CE703C1C95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2B859-3CC8-4C99-AB94-369D2D8EE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404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1291-6972-4FB6-A6C8-00CE703C1C95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2B859-3CC8-4C99-AB94-369D2D8EE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853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91291-6972-4FB6-A6C8-00CE703C1C95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32B859-3CC8-4C99-AB94-369D2D8EE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58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Предаване на данни от </a:t>
            </a:r>
            <a:r>
              <a:rPr lang="en-US" dirty="0"/>
              <a:t>html</a:t>
            </a:r>
            <a:r>
              <a:rPr lang="bg-BG" dirty="0"/>
              <a:t> форма към контролера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570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5094"/>
            <a:ext cx="10515600" cy="877888"/>
          </a:xfrm>
        </p:spPr>
        <p:txBody>
          <a:bodyPr/>
          <a:lstStyle/>
          <a:p>
            <a:r>
              <a:rPr lang="bg-BG" dirty="0"/>
              <a:t>Предаване на данни от </a:t>
            </a:r>
            <a:r>
              <a:rPr lang="en-US" dirty="0"/>
              <a:t>HTML </a:t>
            </a:r>
            <a:r>
              <a:rPr lang="bg-BG" dirty="0"/>
              <a:t>формата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4121"/>
            <a:ext cx="10877550" cy="36893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method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="post"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action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="~/Home/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sendMessage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"&gt;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bg-BG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username: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="text"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="username"/&gt;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message: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="text"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="text"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="submit"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="Send"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</a:p>
          <a:p>
            <a:pPr marL="0" indent="0">
              <a:buNone/>
            </a:pP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2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838201" y="5257800"/>
            <a:ext cx="111871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ActionResult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sendMessage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username,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text)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bg-BG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Content(username +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", 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text);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24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838200" y="5014913"/>
            <a:ext cx="1032033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838200" y="995357"/>
            <a:ext cx="1032033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9538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93686"/>
            <a:ext cx="10515600" cy="877888"/>
          </a:xfrm>
        </p:spPr>
        <p:txBody>
          <a:bodyPr>
            <a:normAutofit fontScale="90000"/>
          </a:bodyPr>
          <a:lstStyle/>
          <a:p>
            <a:r>
              <a:rPr lang="bg-BG" dirty="0"/>
              <a:t>Моделът</a:t>
            </a:r>
            <a:r>
              <a:rPr lang="en-US" dirty="0"/>
              <a:t> </a:t>
            </a:r>
            <a:r>
              <a:rPr lang="bg-BG" dirty="0"/>
              <a:t>може да се ползва </a:t>
            </a:r>
            <a:br>
              <a:rPr lang="bg-BG" dirty="0"/>
            </a:br>
            <a:r>
              <a:rPr lang="bg-BG" dirty="0"/>
              <a:t>при получаване на данните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16125"/>
            <a:ext cx="10877550" cy="24558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Message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Username {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Text {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</a:t>
            </a: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838201" y="5257800"/>
            <a:ext cx="111871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ActionResult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sendMessage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Message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message)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bg-BG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Content(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message.Username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", 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message.Text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24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838200" y="4814890"/>
            <a:ext cx="1032033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838200" y="1566872"/>
            <a:ext cx="1032033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2084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Можем да задаваме префикси във формата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78154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method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="post"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action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="~/Home/</a:t>
            </a:r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sendMessage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"&gt;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bg-BG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username: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="text"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	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US" dirty="0" err="1">
                <a:solidFill>
                  <a:srgbClr val="00B05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message</a:t>
            </a:r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.username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"/&gt;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message: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="text"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    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US" dirty="0" err="1">
                <a:solidFill>
                  <a:srgbClr val="00B05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message</a:t>
            </a:r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.text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="submit"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="Send"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endParaRPr lang="en-US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bg-BG" dirty="0">
                <a:highlight>
                  <a:srgbClr val="FFFFFF"/>
                </a:highlight>
                <a:latin typeface="Consolas" panose="020B0609020204030204" pitchFamily="49" charset="0"/>
              </a:rPr>
              <a:t>Тогава, променливата в контролера трябва да се казва</a:t>
            </a:r>
            <a:r>
              <a:rPr lang="bg-BG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B05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message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1245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21413"/>
          </a:xfrm>
        </p:spPr>
        <p:txBody>
          <a:bodyPr/>
          <a:lstStyle/>
          <a:p>
            <a:pPr algn="ctr"/>
            <a:r>
              <a:rPr lang="bg-BG" dirty="0"/>
              <a:t>Свързване на променливите</a:t>
            </a:r>
            <a:br>
              <a:rPr lang="bg-BG" dirty="0"/>
            </a:br>
            <a:r>
              <a:rPr lang="en-US" dirty="0"/>
              <a:t>(Model Binding)</a:t>
            </a:r>
          </a:p>
        </p:txBody>
      </p:sp>
    </p:spTree>
    <p:extLst>
      <p:ext uri="{BB962C8B-B14F-4D97-AF65-F5344CB8AC3E}">
        <p14:creationId xmlns:p14="http://schemas.microsoft.com/office/powerpoint/2010/main" val="2813086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Ако променливата във формата</a:t>
            </a:r>
            <a:r>
              <a:rPr lang="en-US" dirty="0"/>
              <a:t> e </a:t>
            </a:r>
            <a:r>
              <a:rPr lang="bg-BG" dirty="0"/>
              <a:t>с различно име: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85975"/>
            <a:ext cx="10515600" cy="438626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method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="post"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action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="~/Home/</a:t>
            </a:r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sendMessage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"&gt;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bg-BG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username: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="text"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	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US" dirty="0" err="1">
                <a:solidFill>
                  <a:srgbClr val="00B05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</a:t>
            </a:r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.username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"/&gt;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message: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="text"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    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US" dirty="0" err="1">
                <a:solidFill>
                  <a:srgbClr val="00B05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</a:t>
            </a:r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.text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="submit"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="Send"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509458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Можем да добавим префикс в контролера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43137"/>
            <a:ext cx="10515600" cy="39338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ActionResult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sendMessage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endParaRPr lang="en-US" sz="2400" dirty="0"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effectLst/>
                <a:highlight>
                  <a:srgbClr val="FF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en-US" sz="2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Bind</a:t>
            </a:r>
            <a:r>
              <a:rPr lang="en-US" sz="2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(Prefix = </a:t>
            </a:r>
            <a:r>
              <a:rPr lang="en-US" sz="2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msg</a:t>
            </a:r>
            <a:r>
              <a:rPr lang="en-US" sz="2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2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)]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Message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message)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bg-BG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Content(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message.Username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27997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Възможно приложение на префиксите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71662"/>
            <a:ext cx="10763250" cy="474345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method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="post"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action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="~/Home/</a:t>
            </a:r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sendMessage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"&gt;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bg-BG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username</a:t>
            </a:r>
            <a:r>
              <a:rPr lang="bg-BG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bg-BG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="text"</a:t>
            </a:r>
            <a:r>
              <a:rPr lang="bg-BG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US" dirty="0">
                <a:solidFill>
                  <a:srgbClr val="00B05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</a:t>
            </a:r>
            <a:r>
              <a:rPr lang="bg-BG" dirty="0">
                <a:solidFill>
                  <a:srgbClr val="00B05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.username"/&gt;</a:t>
            </a:r>
            <a:r>
              <a:rPr lang="bg-BG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message:  </a:t>
            </a:r>
            <a:r>
              <a:rPr lang="bg-BG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="text"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US" dirty="0">
                <a:solidFill>
                  <a:srgbClr val="00B05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</a:t>
            </a:r>
            <a:r>
              <a:rPr lang="bg-BG" dirty="0">
                <a:solidFill>
                  <a:srgbClr val="00B05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.text"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bg-BG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bg-BG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bg-BG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username</a:t>
            </a:r>
            <a:r>
              <a:rPr lang="bg-BG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="text"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US" dirty="0">
                <a:solidFill>
                  <a:srgbClr val="00B05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</a:t>
            </a:r>
            <a:r>
              <a:rPr lang="bg-BG" dirty="0">
                <a:solidFill>
                  <a:srgbClr val="00B05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.username"/&gt;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message</a:t>
            </a:r>
            <a:r>
              <a:rPr lang="bg-BG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="text"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US" dirty="0">
                <a:solidFill>
                  <a:srgbClr val="00B05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</a:t>
            </a:r>
            <a:r>
              <a:rPr lang="bg-BG" dirty="0">
                <a:solidFill>
                  <a:srgbClr val="00B05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.text"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bg-BG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endParaRPr lang="bg-BG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="submit"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="Send"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669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Възможно приложение на префиксите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85975"/>
            <a:ext cx="10763250" cy="45291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2400" dirty="0">
                <a:highlight>
                  <a:srgbClr val="FFFFFF"/>
                </a:highlight>
                <a:latin typeface="Consolas" panose="020B0609020204030204" pitchFamily="49" charset="0"/>
              </a:rPr>
              <a:t>В контролера може да разграничим данните по следният начин:</a:t>
            </a:r>
          </a:p>
          <a:p>
            <a:pPr marL="0" indent="0">
              <a:buNone/>
            </a:pPr>
            <a:endParaRPr lang="bg-BG" sz="24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bg-BG" sz="24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ActionResult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sendMessage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Message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m1,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Message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m2)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Content(m1.Text +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", 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m2.Text);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2400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838200" y="2752728"/>
            <a:ext cx="1032033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64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Избор на променливи за свързване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28787"/>
            <a:ext cx="10763250" cy="48006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2400" dirty="0">
                <a:highlight>
                  <a:srgbClr val="FFFFFF"/>
                </a:highlight>
                <a:latin typeface="Consolas" panose="020B0609020204030204" pitchFamily="49" charset="0"/>
              </a:rPr>
              <a:t>В контролера може да се избере кои от всички променливи да бъдат свързани. Изброяват се със запетаи:</a:t>
            </a:r>
            <a:endParaRPr lang="bg-BG" sz="16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bg-BG" sz="18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ActionResult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sendMessage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[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Bind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(Include =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"Username"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)]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Message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Content(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msg.Username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bg-BG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msg.Text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bg-BG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bg-BG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bg-BG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bg-BG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Изход: </a:t>
            </a:r>
            <a:r>
              <a:rPr lang="en-US" sz="24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UserName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endParaRPr lang="en-US" sz="2400" dirty="0">
              <a:solidFill>
                <a:srgbClr val="FF0000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838200" y="2624140"/>
            <a:ext cx="1032033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862008" y="5576908"/>
            <a:ext cx="1032033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5653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Изключване на променливи при свързване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28787"/>
            <a:ext cx="10763250" cy="48006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2400" dirty="0">
                <a:highlight>
                  <a:srgbClr val="FFFFFF"/>
                </a:highlight>
                <a:latin typeface="Consolas" panose="020B0609020204030204" pitchFamily="49" charset="0"/>
              </a:rPr>
              <a:t>В контролера може да се избере кои от всички променливи да не бъдат свързани. Изброяват се със запетаи:</a:t>
            </a:r>
            <a:endParaRPr lang="bg-BG" sz="16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bg-BG" sz="18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ActionResult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sendMessage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[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Bind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(Exclude =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"Username"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)]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Message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Content(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msg.Username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bg-BG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msg.Text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bg-BG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bg-BG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bg-BG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bg-BG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Изход: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Message</a:t>
            </a:r>
            <a:endParaRPr lang="en-US" sz="2400" dirty="0">
              <a:solidFill>
                <a:srgbClr val="FF0000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838200" y="2624140"/>
            <a:ext cx="1032033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862008" y="5576908"/>
            <a:ext cx="1032033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5447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Променливите може да се добавят или ограничават и в модела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643187"/>
            <a:ext cx="10515600" cy="353377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Bind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(Exclude =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"Username"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)]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Message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Username {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Text {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858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838200" y="365125"/>
            <a:ext cx="10515600" cy="62214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bg-BG" dirty="0"/>
              <a:t>Валидиране на данните</a:t>
            </a:r>
          </a:p>
          <a:p>
            <a:pPr algn="ctr"/>
            <a:r>
              <a:rPr lang="en-US" dirty="0"/>
              <a:t>(Model Validation)</a:t>
            </a:r>
          </a:p>
        </p:txBody>
      </p:sp>
    </p:spTree>
    <p:extLst>
      <p:ext uri="{BB962C8B-B14F-4D97-AF65-F5344CB8AC3E}">
        <p14:creationId xmlns:p14="http://schemas.microsoft.com/office/powerpoint/2010/main" val="137185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3613"/>
          </a:xfrm>
        </p:spPr>
        <p:txBody>
          <a:bodyPr>
            <a:normAutofit fontScale="90000"/>
          </a:bodyPr>
          <a:lstStyle/>
          <a:p>
            <a:r>
              <a:rPr lang="bg-BG" dirty="0"/>
              <a:t>Можем да добавим следните атрибути пред някоя от променливите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Required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Required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AllowEmptyStrings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false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)]</a:t>
            </a:r>
          </a:p>
          <a:p>
            <a:pPr marL="0" indent="0">
              <a:buNone/>
            </a:pP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Range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(1,5)]</a:t>
            </a:r>
            <a:endParaRPr lang="en-US" sz="2400" dirty="0"/>
          </a:p>
          <a:p>
            <a:pPr marL="0" indent="0">
              <a:buNone/>
            </a:pP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StringLength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(10)]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StringLength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(10,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MinimumLength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5)]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it-IT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it-IT" sz="2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RegularExpression</a:t>
            </a:r>
            <a:r>
              <a:rPr lang="it-IT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it-IT" sz="2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@"\S{2}:\d{2}"</a:t>
            </a:r>
            <a:r>
              <a:rPr lang="it-IT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)]    </a:t>
            </a:r>
            <a:r>
              <a:rPr lang="it-IT" sz="2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2 bukvi : 2 cifri</a:t>
            </a:r>
            <a:endParaRPr lang="bg-BG" sz="2400" dirty="0">
              <a:solidFill>
                <a:srgbClr val="008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bg-BG" sz="2400" dirty="0">
              <a:solidFill>
                <a:srgbClr val="008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bg-BG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Можем да видим правилата за съставяне на регулярни изрази на: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https://docs.microsoft.com/en-us/dotnet/standard/base-types/regular-expression-language-quick-reference</a:t>
            </a:r>
            <a:endParaRPr lang="bg-BG" sz="2400" dirty="0">
              <a:solidFill>
                <a:srgbClr val="008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4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62008" y="5576908"/>
            <a:ext cx="1032033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0302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Проверка за преминала валидация в контролера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18488"/>
            <a:ext cx="10515600" cy="4874387"/>
          </a:xfrm>
        </p:spPr>
        <p:txBody>
          <a:bodyPr>
            <a:normAutofit fontScale="85000" lnSpcReduction="20000"/>
          </a:bodyPr>
          <a:lstStyle/>
          <a:p>
            <a:r>
              <a:rPr lang="bg-BG" dirty="0"/>
              <a:t>След като сме задали атрибутите в модела, можем да проверим дали валидацията е преминала добре, като използваме:</a:t>
            </a:r>
          </a:p>
          <a:p>
            <a:endParaRPr lang="bg-BG" dirty="0"/>
          </a:p>
          <a:p>
            <a:r>
              <a:rPr lang="en-US" dirty="0" err="1">
                <a:solidFill>
                  <a:srgbClr val="FF0000"/>
                </a:solidFill>
              </a:rPr>
              <a:t>ModelState.IsValid</a:t>
            </a:r>
            <a:r>
              <a:rPr lang="bg-BG" dirty="0">
                <a:solidFill>
                  <a:srgbClr val="FF0000"/>
                </a:solidFill>
              </a:rPr>
              <a:t> </a:t>
            </a:r>
            <a:r>
              <a:rPr lang="bg-BG" dirty="0"/>
              <a:t>– за проверка на всички свойства в модел</a:t>
            </a:r>
            <a:r>
              <a:rPr lang="en-US" dirty="0"/>
              <a:t>a. </a:t>
            </a:r>
            <a:r>
              <a:rPr lang="bg-BG" dirty="0"/>
              <a:t>Връща </a:t>
            </a:r>
            <a:r>
              <a:rPr lang="en-US" dirty="0"/>
              <a:t>true</a:t>
            </a:r>
            <a:r>
              <a:rPr lang="bg-BG" dirty="0"/>
              <a:t> или </a:t>
            </a:r>
            <a:r>
              <a:rPr lang="en-US" dirty="0"/>
              <a:t>false. </a:t>
            </a:r>
            <a:endParaRPr lang="bg-BG" dirty="0"/>
          </a:p>
          <a:p>
            <a:endParaRPr lang="en-US" sz="1200" dirty="0"/>
          </a:p>
          <a:p>
            <a:r>
              <a:rPr lang="en-US" dirty="0" err="1">
                <a:solidFill>
                  <a:srgbClr val="FF0000"/>
                </a:solidFill>
              </a:rPr>
              <a:t>ModelState.IsValidField</a:t>
            </a:r>
            <a:r>
              <a:rPr lang="en-US" dirty="0">
                <a:solidFill>
                  <a:srgbClr val="FF0000"/>
                </a:solidFill>
              </a:rPr>
              <a:t>("</a:t>
            </a:r>
            <a:r>
              <a:rPr lang="en-US" dirty="0">
                <a:solidFill>
                  <a:srgbClr val="00B050"/>
                </a:solidFill>
              </a:rPr>
              <a:t>Username</a:t>
            </a:r>
            <a:r>
              <a:rPr lang="en-US" dirty="0">
                <a:solidFill>
                  <a:srgbClr val="FF0000"/>
                </a:solidFill>
              </a:rPr>
              <a:t>") </a:t>
            </a:r>
            <a:r>
              <a:rPr lang="en-US" dirty="0"/>
              <a:t>–</a:t>
            </a:r>
            <a:r>
              <a:rPr lang="bg-BG" dirty="0"/>
              <a:t> за проверка на определено свойство</a:t>
            </a:r>
            <a:r>
              <a:rPr lang="en-US" dirty="0"/>
              <a:t>.</a:t>
            </a:r>
            <a:r>
              <a:rPr lang="bg-BG" dirty="0"/>
              <a:t> Връща </a:t>
            </a:r>
            <a:r>
              <a:rPr lang="en-US" dirty="0"/>
              <a:t>true</a:t>
            </a:r>
            <a:r>
              <a:rPr lang="bg-BG" dirty="0"/>
              <a:t> или </a:t>
            </a:r>
            <a:r>
              <a:rPr lang="en-US" dirty="0"/>
              <a:t>false.</a:t>
            </a:r>
            <a:endParaRPr lang="bg-BG" dirty="0"/>
          </a:p>
          <a:p>
            <a:endParaRPr lang="bg-BG" dirty="0"/>
          </a:p>
          <a:p>
            <a:pPr marL="0" indent="0">
              <a:buNone/>
            </a:pPr>
            <a:r>
              <a:rPr lang="bg-BG" dirty="0"/>
              <a:t>Пример: </a:t>
            </a:r>
          </a:p>
          <a:p>
            <a:pPr marL="0" indent="0">
              <a:buNone/>
            </a:pPr>
            <a:r>
              <a:rPr lang="en-US" dirty="0"/>
              <a:t>if (!</a:t>
            </a:r>
            <a:r>
              <a:rPr lang="en-US" dirty="0" err="1"/>
              <a:t>ModelState.IsValid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    return </a:t>
            </a:r>
            <a:r>
              <a:rPr lang="en-US" dirty="0">
                <a:solidFill>
                  <a:srgbClr val="FF0000"/>
                </a:solidFill>
              </a:rPr>
              <a:t>"</a:t>
            </a:r>
            <a:r>
              <a:rPr lang="bg-BG" dirty="0">
                <a:solidFill>
                  <a:srgbClr val="FF0000"/>
                </a:solidFill>
              </a:rPr>
              <a:t>Данните са валидни</a:t>
            </a:r>
            <a:r>
              <a:rPr lang="en-US" dirty="0">
                <a:solidFill>
                  <a:srgbClr val="FF0000"/>
                </a:solidFill>
              </a:rPr>
              <a:t>"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/>
              <a:t>}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540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При прочитане на данните от формата, може да ползваме и </a:t>
            </a:r>
            <a:r>
              <a:rPr lang="en-US" dirty="0" err="1"/>
              <a:t>FormCollection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057525"/>
            <a:ext cx="10515600" cy="31194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ActionResult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sendMessage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		   </a:t>
            </a:r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FormCollection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collection)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Content( collection[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"Username"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 );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495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Ръчно свързване на модела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49" y="1971675"/>
            <a:ext cx="11630025" cy="47148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2400" dirty="0">
                <a:highlight>
                  <a:srgbClr val="FFFFFF"/>
                </a:highlight>
                <a:latin typeface="Consolas" panose="020B0609020204030204" pitchFamily="49" charset="0"/>
              </a:rPr>
              <a:t>В контролера можем да ползваме данните от формата, като извикаме </a:t>
            </a:r>
            <a:r>
              <a:rPr lang="en-US" sz="2400" dirty="0" err="1">
                <a:highlight>
                  <a:srgbClr val="FFFFFF"/>
                </a:highlight>
                <a:latin typeface="Consolas" panose="020B0609020204030204" pitchFamily="49" charset="0"/>
              </a:rPr>
              <a:t>UpdateModel</a:t>
            </a:r>
            <a:r>
              <a:rPr lang="en-US" sz="2400" dirty="0">
                <a:highlight>
                  <a:srgbClr val="FFFFFF"/>
                </a:highlight>
                <a:latin typeface="Consolas" panose="020B0609020204030204" pitchFamily="49" charset="0"/>
              </a:rPr>
              <a:t>(). </a:t>
            </a:r>
            <a:r>
              <a:rPr lang="bg-BG" sz="2400" dirty="0">
                <a:highlight>
                  <a:srgbClr val="FFFFFF"/>
                </a:highlight>
                <a:latin typeface="Consolas" panose="020B0609020204030204" pitchFamily="49" charset="0"/>
              </a:rPr>
              <a:t>Данните ще се предадат на модела автоматично:</a:t>
            </a:r>
            <a:endParaRPr lang="en-US" sz="2400" dirty="0"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400" dirty="0"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ActionResult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sendMessage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Message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Message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	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UpdateModel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Content(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msg.Username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);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2400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404808" y="2948001"/>
            <a:ext cx="1079659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91536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Свързване в колекция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43150"/>
            <a:ext cx="10834688" cy="437197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method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="post"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action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="~/Home/</a:t>
            </a:r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sendMessage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"&gt;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bg-BG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username</a:t>
            </a:r>
            <a:r>
              <a:rPr lang="bg-BG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bg-BG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="text"</a:t>
            </a:r>
            <a:r>
              <a:rPr lang="bg-BG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US" dirty="0">
                <a:solidFill>
                  <a:srgbClr val="00B05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list[0]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.username" /&gt;</a:t>
            </a:r>
            <a:r>
              <a:rPr lang="bg-BG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message1: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="text"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US" dirty="0">
                <a:solidFill>
                  <a:srgbClr val="00B05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list[0]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.text"/&gt;    </a:t>
            </a:r>
            <a:r>
              <a:rPr lang="bg-BG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bg-BG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bg-BG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username</a:t>
            </a:r>
            <a:r>
              <a:rPr lang="bg-BG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="text"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US" dirty="0">
                <a:solidFill>
                  <a:srgbClr val="00B05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list[1]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.username" /&gt;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message</a:t>
            </a:r>
            <a:r>
              <a:rPr lang="bg-BG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="text"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US" dirty="0">
                <a:solidFill>
                  <a:srgbClr val="00B05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list[1]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.text"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bg-BG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bg-BG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endParaRPr lang="bg-BG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="submit"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="Send"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840347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Свързване в колекция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54200"/>
            <a:ext cx="10834688" cy="48609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ActionResult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sendMessage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Message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list)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text =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da-DK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foreach</a:t>
            </a:r>
            <a:r>
              <a:rPr lang="da-DK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da-DK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da-DK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message </a:t>
            </a:r>
            <a:r>
              <a:rPr lang="da-DK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da-DK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list)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{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text +=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message.Username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": 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message.Text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"&lt;</a:t>
            </a:r>
            <a:r>
              <a:rPr lang="en-US" sz="2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</a:t>
            </a:r>
            <a:r>
              <a:rPr lang="en-US" sz="240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/&gt;"</a:t>
            </a: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}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Content(text);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0041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1130</Words>
  <Application>Microsoft Office PowerPoint</Application>
  <PresentationFormat>Widescreen</PresentationFormat>
  <Paragraphs>174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Consolas</vt:lpstr>
      <vt:lpstr>Office Theme</vt:lpstr>
      <vt:lpstr>Предаване на данни от html форма към контролера</vt:lpstr>
      <vt:lpstr>Предаване на данни от HTML формата</vt:lpstr>
      <vt:lpstr>Моделът може да се ползва  при получаване на данните</vt:lpstr>
      <vt:lpstr>Можем да задаваме префикси във формата</vt:lpstr>
      <vt:lpstr>Свързване на променливите (Model Binding)</vt:lpstr>
      <vt:lpstr>Ако променливата във формата e с различно име:</vt:lpstr>
      <vt:lpstr>Можем да добавим префикс в контролера</vt:lpstr>
      <vt:lpstr>Възможно приложение на префиксите</vt:lpstr>
      <vt:lpstr>Възможно приложение на префиксите</vt:lpstr>
      <vt:lpstr>Избор на променливи за свързване</vt:lpstr>
      <vt:lpstr>Изключване на променливи при свързване</vt:lpstr>
      <vt:lpstr>Променливите може да се добавят или ограничават и в модела</vt:lpstr>
      <vt:lpstr>PowerPoint Presentation</vt:lpstr>
      <vt:lpstr>Можем да добавим следните атрибути пред някоя от променливите</vt:lpstr>
      <vt:lpstr>Проверка за преминала валидация в контролера</vt:lpstr>
      <vt:lpstr>При прочитане на данните от формата, може да ползваме и FormCollection</vt:lpstr>
      <vt:lpstr>Ръчно свързване на модела</vt:lpstr>
      <vt:lpstr>Свързване в колекция</vt:lpstr>
      <vt:lpstr>Свързване в колекция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Предаване на данни от html форма към контролера</dc:title>
  <dc:creator>Metodi Dimitrov</dc:creator>
  <cp:lastModifiedBy>user</cp:lastModifiedBy>
  <cp:revision>100</cp:revision>
  <dcterms:created xsi:type="dcterms:W3CDTF">2017-10-22T15:06:05Z</dcterms:created>
  <dcterms:modified xsi:type="dcterms:W3CDTF">2024-10-06T06:52:18Z</dcterms:modified>
</cp:coreProperties>
</file>