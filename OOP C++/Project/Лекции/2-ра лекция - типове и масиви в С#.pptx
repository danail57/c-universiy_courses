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8" r:id="rId5"/>
    <p:sldId id="25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84" r:id="rId14"/>
    <p:sldId id="286" r:id="rId15"/>
    <p:sldId id="287" r:id="rId16"/>
    <p:sldId id="288" r:id="rId17"/>
    <p:sldId id="290" r:id="rId18"/>
    <p:sldId id="291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9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5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4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2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4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6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9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8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50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48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2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1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9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C4F41-3276-4F15-9745-4BA3BBD9FF2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E89E0-DB63-4A7B-9850-50F24A71C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3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98007"/>
          </a:xfrm>
        </p:spPr>
        <p:txBody>
          <a:bodyPr/>
          <a:lstStyle/>
          <a:p>
            <a:r>
              <a:rPr lang="bg-BG" dirty="0"/>
              <a:t>Типове и Масиви в </a:t>
            </a:r>
            <a:r>
              <a:rPr lang="en-US" dirty="0"/>
              <a:t>C#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5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054" y="1049149"/>
            <a:ext cx="9520451" cy="1325563"/>
          </a:xfrm>
        </p:spPr>
        <p:txBody>
          <a:bodyPr/>
          <a:lstStyle/>
          <a:p>
            <a:r>
              <a:rPr lang="bg-BG" dirty="0"/>
              <a:t>Типов</a:t>
            </a:r>
            <a:r>
              <a:rPr lang="en-US" dirty="0"/>
              <a:t>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531" y="2059619"/>
            <a:ext cx="9383974" cy="3754327"/>
          </a:xfrm>
        </p:spPr>
        <p:txBody>
          <a:bodyPr>
            <a:normAutofit/>
          </a:bodyPr>
          <a:lstStyle/>
          <a:p>
            <a:pPr lvl="1"/>
            <a:endParaRPr lang="bg-BG" sz="2600" dirty="0"/>
          </a:p>
          <a:p>
            <a:pPr lvl="1"/>
            <a:r>
              <a:rPr lang="bg-BG" sz="2600" dirty="0"/>
              <a:t>Стойностни </a:t>
            </a:r>
            <a:r>
              <a:rPr lang="en-US" sz="2600" dirty="0"/>
              <a:t>(Value Types) - </a:t>
            </a:r>
            <a:r>
              <a:rPr lang="bg-BG" sz="2600" dirty="0"/>
              <a:t>Включват структури и Примитивни/Предефинирани типове</a:t>
            </a:r>
          </a:p>
          <a:p>
            <a:pPr lvl="1"/>
            <a:endParaRPr lang="en-US" sz="2600" dirty="0"/>
          </a:p>
          <a:p>
            <a:pPr lvl="1"/>
            <a:r>
              <a:rPr lang="bg-BG" sz="2600" dirty="0"/>
              <a:t>Референтни</a:t>
            </a:r>
            <a:r>
              <a:rPr lang="en-US" sz="2600" dirty="0"/>
              <a:t> (Reference Types)</a:t>
            </a:r>
          </a:p>
          <a:p>
            <a:pPr lvl="1"/>
            <a:endParaRPr lang="bg-BG" sz="2600" dirty="0"/>
          </a:p>
          <a:p>
            <a:pPr lvl="1"/>
            <a:r>
              <a:rPr lang="bg-BG" sz="2600" dirty="0"/>
              <a:t>Типове с широко приложение </a:t>
            </a:r>
            <a:r>
              <a:rPr lang="en-US" sz="2600" dirty="0"/>
              <a:t>(Generic Types)</a:t>
            </a:r>
            <a:endParaRPr lang="bg-BG" sz="2600" dirty="0"/>
          </a:p>
          <a:p>
            <a:pPr lvl="1"/>
            <a:endParaRPr lang="bg-BG" sz="2600" dirty="0"/>
          </a:p>
          <a:p>
            <a:pPr lvl="1"/>
            <a:r>
              <a:rPr lang="bg-BG" sz="2600" dirty="0"/>
              <a:t>Указатели (</a:t>
            </a:r>
            <a:r>
              <a:rPr lang="en-US" sz="2600" dirty="0"/>
              <a:t>Pointer Types)</a:t>
            </a:r>
            <a:endParaRPr lang="bg-BG" sz="26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17635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9027"/>
            <a:ext cx="10515600" cy="1325563"/>
          </a:xfrm>
        </p:spPr>
        <p:txBody>
          <a:bodyPr/>
          <a:lstStyle/>
          <a:p>
            <a:r>
              <a:rPr lang="bg-BG" dirty="0"/>
              <a:t>Примитивни / Предефинирани типове </a:t>
            </a:r>
            <a:r>
              <a:rPr lang="en-US" dirty="0"/>
              <a:t>(Value/Predefined types)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0275"/>
            <a:ext cx="10515600" cy="4596307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bg-BG" sz="3000" dirty="0"/>
              <a:t>Дефинирани са в именното пространство </a:t>
            </a:r>
            <a:r>
              <a:rPr lang="en-US" sz="3000" b="1" dirty="0">
                <a:solidFill>
                  <a:srgbClr val="FF0000"/>
                </a:solidFill>
              </a:rPr>
              <a:t>System</a:t>
            </a:r>
            <a:r>
              <a:rPr lang="bg-BG" sz="3000" b="1" dirty="0">
                <a:solidFill>
                  <a:srgbClr val="FF0000"/>
                </a:solidFill>
              </a:rPr>
              <a:t> </a:t>
            </a:r>
            <a:r>
              <a:rPr lang="bg-BG" sz="3000" dirty="0"/>
              <a:t>и</a:t>
            </a:r>
            <a:r>
              <a:rPr lang="en-US" sz="3000" dirty="0"/>
              <a:t> </a:t>
            </a:r>
            <a:r>
              <a:rPr lang="bg-BG" sz="3000" dirty="0"/>
              <a:t>по същество, </a:t>
            </a:r>
            <a:r>
              <a:rPr lang="bg-BG" sz="3000" b="1" dirty="0">
                <a:solidFill>
                  <a:srgbClr val="FF0000"/>
                </a:solidFill>
              </a:rPr>
              <a:t>представляват класове</a:t>
            </a:r>
            <a:endParaRPr lang="en-US" sz="3000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bg-BG" dirty="0"/>
              <a:t> – </a:t>
            </a:r>
            <a:r>
              <a:rPr lang="en-US" dirty="0"/>
              <a:t>System.Int32</a:t>
            </a:r>
          </a:p>
          <a:p>
            <a:pPr marL="457200" lvl="1" indent="0">
              <a:buNone/>
            </a:pPr>
            <a:endParaRPr lang="bg-BG" sz="1300" dirty="0"/>
          </a:p>
          <a:p>
            <a:pPr marL="914400" lvl="2" indent="0">
              <a:buNone/>
            </a:pPr>
            <a:r>
              <a:rPr lang="en-US" sz="2400" dirty="0"/>
              <a:t>long – System.Int64</a:t>
            </a:r>
          </a:p>
          <a:p>
            <a:pPr marL="914400" lvl="2" indent="0">
              <a:buNone/>
            </a:pPr>
            <a:endParaRPr lang="en-US" sz="1300" dirty="0"/>
          </a:p>
          <a:p>
            <a:pPr marL="914400" lvl="2" indent="0">
              <a:buNone/>
            </a:pPr>
            <a:r>
              <a:rPr lang="en-US" sz="2400" dirty="0"/>
              <a:t>float – </a:t>
            </a:r>
            <a:r>
              <a:rPr lang="en-US" sz="2400" dirty="0" err="1"/>
              <a:t>System.Single</a:t>
            </a:r>
            <a:endParaRPr lang="en-US" sz="2400" dirty="0"/>
          </a:p>
          <a:p>
            <a:pPr marL="914400" lvl="2" indent="0">
              <a:buNone/>
            </a:pPr>
            <a:endParaRPr lang="en-US" sz="1300" dirty="0"/>
          </a:p>
          <a:p>
            <a:pPr marL="914400" lvl="2" indent="0">
              <a:buNone/>
            </a:pPr>
            <a:r>
              <a:rPr lang="en-US" sz="2400" dirty="0"/>
              <a:t>double – </a:t>
            </a:r>
            <a:r>
              <a:rPr lang="en-US" sz="2400" dirty="0" err="1"/>
              <a:t>System.Double</a:t>
            </a:r>
            <a:endParaRPr lang="en-US" sz="2400" dirty="0"/>
          </a:p>
          <a:p>
            <a:pPr marL="914400" lvl="2" indent="0">
              <a:buNone/>
            </a:pPr>
            <a:endParaRPr lang="en-US" sz="1300" dirty="0"/>
          </a:p>
          <a:p>
            <a:pPr marL="914400" lvl="2" indent="0">
              <a:buNone/>
            </a:pPr>
            <a:r>
              <a:rPr lang="en-US" sz="2400" dirty="0"/>
              <a:t>decimal – </a:t>
            </a:r>
            <a:r>
              <a:rPr lang="en-US" sz="2400" dirty="0" err="1"/>
              <a:t>System.Decimal</a:t>
            </a:r>
            <a:endParaRPr lang="en-US" sz="2400" dirty="0"/>
          </a:p>
          <a:p>
            <a:pPr marL="914400" lvl="2" indent="0">
              <a:buNone/>
            </a:pPr>
            <a:endParaRPr lang="en-US" sz="1300" dirty="0"/>
          </a:p>
          <a:p>
            <a:pPr marL="914400" lvl="2" indent="0">
              <a:buNone/>
            </a:pPr>
            <a:r>
              <a:rPr lang="en-US" sz="2400" dirty="0"/>
              <a:t>string – </a:t>
            </a:r>
            <a:r>
              <a:rPr lang="en-US" sz="2400" dirty="0" err="1"/>
              <a:t>System.String</a:t>
            </a:r>
            <a:endParaRPr lang="en-US" sz="2400" dirty="0"/>
          </a:p>
          <a:p>
            <a:pPr marL="914400" lvl="2" indent="0">
              <a:buNone/>
            </a:pPr>
            <a:endParaRPr lang="en-US" sz="1300" dirty="0"/>
          </a:p>
          <a:p>
            <a:pPr marL="914400" lvl="2" indent="0">
              <a:buNone/>
            </a:pPr>
            <a:r>
              <a:rPr lang="en-US" sz="2400" dirty="0" err="1"/>
              <a:t>bool</a:t>
            </a:r>
            <a:r>
              <a:rPr lang="en-US" sz="2400" dirty="0"/>
              <a:t>- </a:t>
            </a:r>
            <a:r>
              <a:rPr lang="en-US" sz="2400" dirty="0" err="1"/>
              <a:t>System.Boolean</a:t>
            </a: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5912992" y="3145380"/>
            <a:ext cx="4667535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dirty="0"/>
              <a:t>  byte – System</a:t>
            </a:r>
            <a:r>
              <a:rPr lang="bg-BG" sz="2200" dirty="0"/>
              <a:t>.</a:t>
            </a:r>
            <a:r>
              <a:rPr lang="en-US" sz="2200" dirty="0"/>
              <a:t>Byte </a:t>
            </a:r>
            <a:r>
              <a:rPr lang="bg-BG" sz="2200" dirty="0"/>
              <a:t>     </a:t>
            </a:r>
            <a:r>
              <a:rPr lang="en-US" sz="2200" dirty="0"/>
              <a:t>-&gt; 8 </a:t>
            </a:r>
            <a:r>
              <a:rPr lang="bg-BG" sz="2200" dirty="0"/>
              <a:t>битова</a:t>
            </a:r>
          </a:p>
          <a:p>
            <a:endParaRPr lang="en-US" sz="1200" dirty="0"/>
          </a:p>
          <a:p>
            <a:r>
              <a:rPr lang="en-US" sz="2200" dirty="0"/>
              <a:t>  char – </a:t>
            </a:r>
            <a:r>
              <a:rPr lang="en-US" sz="2200" dirty="0" err="1"/>
              <a:t>System.Char</a:t>
            </a:r>
            <a:r>
              <a:rPr lang="bg-BG" sz="2200" dirty="0"/>
              <a:t>     -</a:t>
            </a:r>
            <a:r>
              <a:rPr lang="en-US" sz="2200" dirty="0"/>
              <a:t>&gt; </a:t>
            </a:r>
            <a:r>
              <a:rPr lang="bg-BG" sz="2200" dirty="0"/>
              <a:t>16 битова</a:t>
            </a:r>
          </a:p>
          <a:p>
            <a:endParaRPr lang="en-US" sz="1200" dirty="0"/>
          </a:p>
          <a:p>
            <a:r>
              <a:rPr lang="en-US" sz="2200" dirty="0"/>
              <a:t>  short – System.Int16</a:t>
            </a:r>
            <a:r>
              <a:rPr lang="bg-BG" sz="2200" dirty="0"/>
              <a:t>  -</a:t>
            </a:r>
            <a:r>
              <a:rPr lang="en-US" sz="2200" dirty="0"/>
              <a:t>&gt; 16 </a:t>
            </a:r>
            <a:r>
              <a:rPr lang="bg-BG" sz="2200" dirty="0"/>
              <a:t>битова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6554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r>
              <a:rPr lang="bg-BG" dirty="0"/>
              <a:t>Цифрови суфикси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5864"/>
            <a:ext cx="10515600" cy="4991100"/>
          </a:xfrm>
        </p:spPr>
        <p:txBody>
          <a:bodyPr/>
          <a:lstStyle/>
          <a:p>
            <a:r>
              <a:rPr lang="bg-BG" dirty="0"/>
              <a:t>По подразбиране компилатора интерпретира числовите стойности като </a:t>
            </a:r>
            <a:r>
              <a:rPr lang="en-US" dirty="0" err="1"/>
              <a:t>int</a:t>
            </a:r>
            <a:r>
              <a:rPr lang="bg-BG" dirty="0"/>
              <a:t> или </a:t>
            </a:r>
            <a:r>
              <a:rPr lang="en-US" dirty="0"/>
              <a:t>double.</a:t>
            </a:r>
            <a:endParaRPr lang="bg-BG" dirty="0"/>
          </a:p>
          <a:p>
            <a:pPr marL="457200" lvl="1" indent="0">
              <a:buNone/>
            </a:pPr>
            <a:r>
              <a:rPr lang="bg-BG" sz="2800" u="sng" dirty="0"/>
              <a:t>Пример:</a:t>
            </a:r>
          </a:p>
          <a:p>
            <a:pPr marL="457200" lvl="1" indent="0">
              <a:buNone/>
            </a:pPr>
            <a:r>
              <a:rPr lang="en-US" sz="2800" dirty="0" err="1"/>
              <a:t>Console.WriteLine</a:t>
            </a:r>
            <a:r>
              <a:rPr lang="en-US" sz="2800" dirty="0"/>
              <a:t> ( 1.0.GetType()</a:t>
            </a:r>
            <a:r>
              <a:rPr lang="bg-BG" sz="2800" dirty="0"/>
              <a:t> </a:t>
            </a:r>
            <a:r>
              <a:rPr lang="en-US" sz="2800" dirty="0"/>
              <a:t>); </a:t>
            </a:r>
            <a:r>
              <a:rPr lang="bg-BG" sz="2800" dirty="0"/>
              <a:t>	 </a:t>
            </a:r>
            <a:r>
              <a:rPr lang="en-US" sz="2800" dirty="0"/>
              <a:t>// Double </a:t>
            </a:r>
            <a:r>
              <a:rPr lang="en-US" sz="2800" i="1" dirty="0"/>
              <a:t>(double)</a:t>
            </a:r>
          </a:p>
          <a:p>
            <a:pPr marL="457200" lvl="1" indent="0">
              <a:buNone/>
            </a:pPr>
            <a:r>
              <a:rPr lang="en-US" sz="2800" dirty="0" err="1"/>
              <a:t>Console.WriteLine</a:t>
            </a:r>
            <a:r>
              <a:rPr lang="en-US" sz="2800" dirty="0"/>
              <a:t> ( 1.GetType()</a:t>
            </a:r>
            <a:r>
              <a:rPr lang="bg-BG" sz="2800" dirty="0"/>
              <a:t> </a:t>
            </a:r>
            <a:r>
              <a:rPr lang="en-US" sz="2800" dirty="0"/>
              <a:t>);</a:t>
            </a:r>
            <a:r>
              <a:rPr lang="bg-BG" sz="2800" dirty="0"/>
              <a:t>		</a:t>
            </a:r>
            <a:r>
              <a:rPr lang="en-US" sz="2800" dirty="0"/>
              <a:t> // Int32 </a:t>
            </a:r>
            <a:r>
              <a:rPr lang="en-US" sz="2800" i="1" dirty="0"/>
              <a:t>(</a:t>
            </a:r>
            <a:r>
              <a:rPr lang="en-US" sz="2800" i="1" dirty="0" err="1"/>
              <a:t>int</a:t>
            </a:r>
            <a:r>
              <a:rPr lang="en-US" sz="2800" i="1" dirty="0"/>
              <a:t>)</a:t>
            </a:r>
            <a:endParaRPr lang="bg-BG" i="1" dirty="0"/>
          </a:p>
          <a:p>
            <a:pPr marL="457200" lvl="1" indent="0">
              <a:buNone/>
            </a:pPr>
            <a:endParaRPr lang="bg-BG" sz="1400" i="1" dirty="0"/>
          </a:p>
          <a:p>
            <a:r>
              <a:rPr lang="bg-BG" dirty="0"/>
              <a:t>Суфикси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318" y="3724278"/>
            <a:ext cx="4500563" cy="295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26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748" y="365125"/>
            <a:ext cx="10515600" cy="1325563"/>
          </a:xfrm>
        </p:spPr>
        <p:txBody>
          <a:bodyPr/>
          <a:lstStyle/>
          <a:p>
            <a:r>
              <a:rPr lang="bg-BG" dirty="0"/>
              <a:t>Примерен код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847" y="1825625"/>
            <a:ext cx="10125501" cy="4351338"/>
          </a:xfrm>
        </p:spPr>
        <p:txBody>
          <a:bodyPr/>
          <a:lstStyle/>
          <a:p>
            <a:r>
              <a:rPr lang="bg-BG" dirty="0">
                <a:solidFill>
                  <a:srgbClr val="FF0000"/>
                </a:solidFill>
              </a:rPr>
              <a:t>Неправилен – не се компилира</a:t>
            </a:r>
          </a:p>
          <a:p>
            <a:endParaRPr lang="en-US" sz="2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byte b = 100;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b = b + 1;</a:t>
            </a:r>
            <a:endParaRPr lang="bg-BG" sz="28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bg-BG" sz="2800" dirty="0"/>
          </a:p>
          <a:p>
            <a:pPr marL="457200" lvl="1" indent="0">
              <a:buNone/>
            </a:pPr>
            <a:endParaRPr lang="bg-BG" sz="2800" dirty="0"/>
          </a:p>
          <a:p>
            <a:r>
              <a:rPr lang="bg-BG" dirty="0"/>
              <a:t>Правилен – компилира се</a:t>
            </a:r>
          </a:p>
          <a:p>
            <a:endParaRPr lang="en-US" sz="200" dirty="0"/>
          </a:p>
          <a:p>
            <a:pPr marL="457200" lvl="1" indent="0">
              <a:buNone/>
            </a:pPr>
            <a:r>
              <a:rPr lang="en-US" sz="2800" dirty="0"/>
              <a:t>byte b = 100;</a:t>
            </a:r>
          </a:p>
          <a:p>
            <a:pPr marL="457200" lvl="1" indent="0">
              <a:buNone/>
            </a:pPr>
            <a:r>
              <a:rPr lang="en-US" sz="2800" dirty="0"/>
              <a:t>b = </a:t>
            </a:r>
            <a:r>
              <a:rPr lang="bg-BG" sz="2800" dirty="0"/>
              <a:t>(</a:t>
            </a:r>
            <a:r>
              <a:rPr lang="en-US" sz="2800" dirty="0"/>
              <a:t>byte</a:t>
            </a:r>
            <a:r>
              <a:rPr lang="bg-BG" sz="2800" dirty="0"/>
              <a:t>)</a:t>
            </a:r>
            <a:r>
              <a:rPr lang="en-US" sz="2800" dirty="0"/>
              <a:t>(b + 1);</a:t>
            </a:r>
          </a:p>
          <a:p>
            <a:pPr marL="457200" lvl="1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5180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Цифрови суфикси - пример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В някой случай е необходимо да се използват суфиксите като например:</a:t>
            </a:r>
          </a:p>
          <a:p>
            <a:endParaRPr lang="bg-BG" dirty="0"/>
          </a:p>
          <a:p>
            <a:pPr marL="457200" lvl="1" indent="0">
              <a:buNone/>
            </a:pPr>
            <a:r>
              <a:rPr lang="en-US" sz="2800" dirty="0"/>
              <a:t>float </a:t>
            </a:r>
            <a:r>
              <a:rPr lang="en-US" sz="2800" dirty="0" err="1"/>
              <a:t>fl</a:t>
            </a:r>
            <a:r>
              <a:rPr lang="en-US" sz="2800" dirty="0"/>
              <a:t> = 4.5F;</a:t>
            </a:r>
            <a:r>
              <a:rPr lang="bg-BG" sz="2800" dirty="0"/>
              <a:t>		// Правилен синтаксис</a:t>
            </a:r>
          </a:p>
          <a:p>
            <a:pPr marL="457200" lvl="1" indent="0">
              <a:buNone/>
            </a:pPr>
            <a:r>
              <a:rPr lang="en-US" sz="2800" dirty="0"/>
              <a:t>decimal d </a:t>
            </a:r>
            <a:r>
              <a:rPr lang="en-US" sz="2800"/>
              <a:t>= 1.23M;</a:t>
            </a:r>
            <a:r>
              <a:rPr lang="en-US" sz="2800" dirty="0"/>
              <a:t>	//</a:t>
            </a:r>
            <a:r>
              <a:rPr lang="bg-BG" sz="2800" dirty="0"/>
              <a:t> Правилен синтаксис</a:t>
            </a:r>
          </a:p>
          <a:p>
            <a:pPr marL="457200" lvl="1" indent="0">
              <a:buNone/>
            </a:pPr>
            <a:endParaRPr lang="bg-BG" sz="2800" dirty="0"/>
          </a:p>
          <a:p>
            <a:r>
              <a:rPr lang="bg-BG" dirty="0"/>
              <a:t>Следният синтаксис ще доведе до грешка при компилиране:</a:t>
            </a:r>
            <a:endParaRPr lang="en-US" dirty="0"/>
          </a:p>
          <a:p>
            <a:endParaRPr lang="bg-BG" dirty="0"/>
          </a:p>
          <a:p>
            <a:pPr marL="457200" lvl="1" indent="0">
              <a:buNone/>
            </a:pPr>
            <a:r>
              <a:rPr lang="en-US" sz="2800" dirty="0"/>
              <a:t>float </a:t>
            </a:r>
            <a:r>
              <a:rPr lang="en-US" sz="2800" dirty="0" err="1"/>
              <a:t>fl</a:t>
            </a:r>
            <a:r>
              <a:rPr lang="en-US" sz="2800" dirty="0"/>
              <a:t> = 4.5;</a:t>
            </a:r>
            <a:r>
              <a:rPr lang="bg-BG" sz="2800" dirty="0"/>
              <a:t>		// Неправилен синтаксис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decimal d = 1.23;	//</a:t>
            </a:r>
            <a:r>
              <a:rPr lang="bg-BG" sz="2800" dirty="0"/>
              <a:t> Неправилен синтаксис</a:t>
            </a:r>
            <a:endParaRPr lang="bg-BG" sz="2800" b="1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02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Препълване при аритметични операции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528" y="2211393"/>
            <a:ext cx="39624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void f()</a:t>
            </a:r>
          </a:p>
          <a:p>
            <a:pPr marL="0" indent="0">
              <a:buNone/>
            </a:pPr>
            <a:r>
              <a:rPr lang="en-US" dirty="0"/>
              <a:t>{</a:t>
            </a:r>
            <a:endParaRPr lang="bg-BG" dirty="0"/>
          </a:p>
          <a:p>
            <a:pPr marL="457200" lvl="1" indent="0">
              <a:buNone/>
            </a:pPr>
            <a:r>
              <a:rPr lang="en-US" sz="2800" dirty="0"/>
              <a:t>  </a:t>
            </a:r>
            <a:r>
              <a:rPr lang="en-US" sz="2800" dirty="0" err="1"/>
              <a:t>int</a:t>
            </a:r>
            <a:r>
              <a:rPr lang="en-US" sz="2800" dirty="0"/>
              <a:t>  a  =  1000000;</a:t>
            </a:r>
          </a:p>
          <a:p>
            <a:pPr marL="457200" lvl="1" indent="0">
              <a:buNone/>
            </a:pPr>
            <a:r>
              <a:rPr lang="en-US" sz="2800" dirty="0"/>
              <a:t>  </a:t>
            </a:r>
            <a:r>
              <a:rPr lang="en-US" sz="2800" dirty="0" err="1"/>
              <a:t>int</a:t>
            </a:r>
            <a:r>
              <a:rPr lang="en-US" sz="2800" dirty="0"/>
              <a:t>  b  =  1000000;</a:t>
            </a:r>
          </a:p>
          <a:p>
            <a:pPr marL="457200" lvl="1" indent="0">
              <a:buNone/>
            </a:pPr>
            <a:r>
              <a:rPr lang="en-US" sz="2800" dirty="0"/>
              <a:t>  </a:t>
            </a:r>
            <a:r>
              <a:rPr lang="en-US" sz="2800" dirty="0" err="1"/>
              <a:t>int</a:t>
            </a:r>
            <a:r>
              <a:rPr lang="en-US" sz="2800" dirty="0"/>
              <a:t>  c  =  a  *  b;</a:t>
            </a:r>
          </a:p>
          <a:p>
            <a:pPr marL="0" lvl="1" indent="0">
              <a:buNone/>
            </a:pPr>
            <a:r>
              <a:rPr lang="en-US" sz="2800" dirty="0"/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48380" y="2211393"/>
            <a:ext cx="5224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void  f()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{</a:t>
            </a:r>
            <a:endParaRPr lang="bg-BG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800" dirty="0"/>
              <a:t>  </a:t>
            </a:r>
            <a:r>
              <a:rPr lang="en-US" sz="2800" dirty="0" err="1"/>
              <a:t>int</a:t>
            </a:r>
            <a:r>
              <a:rPr lang="en-US" sz="2800" dirty="0"/>
              <a:t>  a  =  1000000;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800" dirty="0"/>
              <a:t>  </a:t>
            </a:r>
            <a:r>
              <a:rPr lang="en-US" sz="2800" dirty="0" err="1"/>
              <a:t>int</a:t>
            </a:r>
            <a:r>
              <a:rPr lang="en-US" sz="2800" dirty="0"/>
              <a:t>  b  =  1000000;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2800" dirty="0"/>
              <a:t>  </a:t>
            </a:r>
            <a:r>
              <a:rPr lang="en-US" sz="2800" dirty="0" err="1"/>
              <a:t>int</a:t>
            </a:r>
            <a:r>
              <a:rPr lang="en-US" sz="2800" dirty="0"/>
              <a:t>  c  =  checked(  a  * b  );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sz="2800" dirty="0"/>
              <a:t>}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200656" y="2043113"/>
            <a:ext cx="0" cy="45196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9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888"/>
          </a:xfrm>
        </p:spPr>
        <p:txBody>
          <a:bodyPr/>
          <a:lstStyle/>
          <a:p>
            <a:r>
              <a:rPr lang="bg-BG" dirty="0"/>
              <a:t>Ключовата дума </a:t>
            </a:r>
            <a:r>
              <a:rPr lang="en-US" dirty="0"/>
              <a:t>checked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8738" y="1514476"/>
            <a:ext cx="10025062" cy="5072062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Може да се използва </a:t>
            </a:r>
            <a:r>
              <a:rPr lang="bg-BG" b="1" dirty="0">
                <a:solidFill>
                  <a:srgbClr val="FF0000"/>
                </a:solidFill>
              </a:rPr>
              <a:t>около израз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 c  =  checked(  a*b  );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 b  =  100;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  =  checked(  (byte) b );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bg-BG" dirty="0"/>
              <a:t>Може да се използва </a:t>
            </a:r>
            <a:r>
              <a:rPr lang="bg-BG" b="1" dirty="0">
                <a:solidFill>
                  <a:srgbClr val="FF0000"/>
                </a:solidFill>
              </a:rPr>
              <a:t>около цял блок от код</a:t>
            </a:r>
          </a:p>
          <a:p>
            <a:pPr lvl="1"/>
            <a:r>
              <a:rPr lang="en-US" dirty="0"/>
              <a:t>checked</a:t>
            </a:r>
          </a:p>
          <a:p>
            <a:pPr marL="457200" lvl="1" indent="0">
              <a:buNone/>
            </a:pPr>
            <a:r>
              <a:rPr lang="en-US" dirty="0"/>
              <a:t>   {</a:t>
            </a:r>
          </a:p>
          <a:p>
            <a:pPr marL="457200" lvl="1" indent="0">
              <a:buNone/>
            </a:pPr>
            <a:r>
              <a:rPr lang="en-US" dirty="0"/>
              <a:t>	   ……………..</a:t>
            </a:r>
          </a:p>
          <a:p>
            <a:pPr marL="457200" lvl="1" indent="0">
              <a:buNone/>
            </a:pPr>
            <a:r>
              <a:rPr lang="en-US" dirty="0"/>
              <a:t>	   c  =  a  +  b;</a:t>
            </a:r>
          </a:p>
          <a:p>
            <a:pPr marL="457200" lvl="1" indent="0">
              <a:buNone/>
            </a:pPr>
            <a:r>
              <a:rPr lang="en-US" dirty="0"/>
              <a:t>	   ……………..</a:t>
            </a:r>
          </a:p>
          <a:p>
            <a:pPr marL="457200" lvl="1" indent="0">
              <a:buNone/>
            </a:pPr>
            <a:r>
              <a:rPr lang="en-US" dirty="0"/>
              <a:t>   }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073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 fontScale="90000"/>
          </a:bodyPr>
          <a:lstStyle/>
          <a:p>
            <a:r>
              <a:rPr lang="bg-BG" dirty="0"/>
              <a:t>Ключовите думи </a:t>
            </a:r>
            <a:r>
              <a:rPr lang="en-US" dirty="0"/>
              <a:t>checked</a:t>
            </a:r>
            <a:r>
              <a:rPr lang="bg-BG" dirty="0"/>
              <a:t> и </a:t>
            </a:r>
            <a:r>
              <a:rPr lang="en-US" dirty="0"/>
              <a:t>unchecked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8738" y="1243015"/>
            <a:ext cx="10025062" cy="5357810"/>
          </a:xfrm>
        </p:spPr>
        <p:txBody>
          <a:bodyPr>
            <a:normAutofit fontScale="85000" lnSpcReduction="20000"/>
          </a:bodyPr>
          <a:lstStyle/>
          <a:p>
            <a:r>
              <a:rPr lang="bg-BG" dirty="0"/>
              <a:t>Може да се използва като </a:t>
            </a:r>
            <a:r>
              <a:rPr lang="bg-BG" b="1" dirty="0">
                <a:solidFill>
                  <a:srgbClr val="FF0000"/>
                </a:solidFill>
              </a:rPr>
              <a:t>ключ за компилатора</a:t>
            </a:r>
            <a:r>
              <a:rPr lang="bg-BG" dirty="0"/>
              <a:t> – проверява се целия код за възникване на препълване</a:t>
            </a:r>
            <a:r>
              <a:rPr lang="en-US" dirty="0"/>
              <a:t>:</a:t>
            </a:r>
          </a:p>
          <a:p>
            <a:pPr lvl="1"/>
            <a:endParaRPr lang="en-US" sz="1050" b="1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/checked+</a:t>
            </a:r>
            <a:endParaRPr lang="bg-BG" sz="2600" dirty="0"/>
          </a:p>
          <a:p>
            <a:pPr marL="914400" lvl="1" indent="-457200">
              <a:buFont typeface="+mj-lt"/>
              <a:buAutoNum type="arabicPeriod"/>
            </a:pPr>
            <a:endParaRPr lang="en-US" sz="1500" dirty="0"/>
          </a:p>
          <a:p>
            <a:pPr marL="914400" lvl="1" indent="-457200">
              <a:buFont typeface="+mj-lt"/>
              <a:buAutoNum type="arabicPeriod"/>
            </a:pPr>
            <a:r>
              <a:rPr lang="bg-BG" sz="2600" dirty="0"/>
              <a:t>При някой версии на </a:t>
            </a:r>
            <a:r>
              <a:rPr lang="en-US" sz="2600" dirty="0"/>
              <a:t>visual studio </a:t>
            </a:r>
            <a:r>
              <a:rPr lang="bg-BG" sz="2600" dirty="0"/>
              <a:t>ключовата дума е представена като отметка</a:t>
            </a:r>
            <a:endParaRPr lang="en-US" sz="2600" dirty="0"/>
          </a:p>
          <a:p>
            <a:pPr marL="457200" lvl="1" indent="0">
              <a:buNone/>
            </a:pPr>
            <a:endParaRPr lang="en-US" sz="3000" dirty="0"/>
          </a:p>
          <a:p>
            <a:r>
              <a:rPr lang="bg-BG" dirty="0"/>
              <a:t>Когато е </a:t>
            </a:r>
            <a:r>
              <a:rPr lang="en-US" dirty="0"/>
              <a:t>checked</a:t>
            </a:r>
            <a:r>
              <a:rPr lang="bg-BG" dirty="0"/>
              <a:t> е активирано като ключ може да се използва ключовата дума </a:t>
            </a:r>
            <a:r>
              <a:rPr lang="en-US" dirty="0"/>
              <a:t>unchecked</a:t>
            </a:r>
            <a:r>
              <a:rPr lang="bg-BG" dirty="0"/>
              <a:t>, за да не се проверяват части от кода</a:t>
            </a:r>
            <a:endParaRPr lang="en-US" dirty="0"/>
          </a:p>
          <a:p>
            <a:endParaRPr lang="bg-BG" sz="3500" b="1" dirty="0">
              <a:solidFill>
                <a:srgbClr val="FF0000"/>
              </a:solidFill>
            </a:endParaRPr>
          </a:p>
          <a:p>
            <a:pPr lvl="1"/>
            <a:r>
              <a:rPr lang="en-US" sz="2600" dirty="0"/>
              <a:t>unchecked</a:t>
            </a:r>
          </a:p>
          <a:p>
            <a:pPr marL="457200" lvl="1" indent="0">
              <a:buNone/>
            </a:pPr>
            <a:r>
              <a:rPr lang="en-US" sz="2600" dirty="0"/>
              <a:t>   {</a:t>
            </a:r>
          </a:p>
          <a:p>
            <a:pPr marL="457200" lvl="1" indent="0">
              <a:buNone/>
            </a:pPr>
            <a:r>
              <a:rPr lang="en-US" sz="2600" dirty="0"/>
              <a:t>	   ……………..</a:t>
            </a:r>
          </a:p>
          <a:p>
            <a:pPr marL="457200" lvl="1" indent="0">
              <a:buNone/>
            </a:pPr>
            <a:r>
              <a:rPr lang="en-US" sz="2600" dirty="0"/>
              <a:t>	   c  =  a  +  b;</a:t>
            </a:r>
          </a:p>
          <a:p>
            <a:pPr marL="457200" lvl="1" indent="0">
              <a:buNone/>
            </a:pPr>
            <a:r>
              <a:rPr lang="en-US" sz="2600" dirty="0"/>
              <a:t>	   ……………..</a:t>
            </a:r>
          </a:p>
          <a:p>
            <a:pPr marL="457200" lvl="1" indent="0">
              <a:buNone/>
            </a:pPr>
            <a:r>
              <a:rPr lang="en-US" sz="2600" dirty="0"/>
              <a:t>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1269" y="454343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int</a:t>
            </a:r>
            <a:r>
              <a:rPr lang="en-US" sz="2400" dirty="0"/>
              <a:t> a = unchecked ( </a:t>
            </a:r>
            <a:r>
              <a:rPr lang="en-US" sz="2400" dirty="0" err="1"/>
              <a:t>b+c</a:t>
            </a:r>
            <a:r>
              <a:rPr lang="en-US" sz="2400" dirty="0"/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3840844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20825"/>
          </a:xfrm>
        </p:spPr>
        <p:txBody>
          <a:bodyPr/>
          <a:lstStyle/>
          <a:p>
            <a:r>
              <a:rPr lang="bg-BG" dirty="0"/>
              <a:t>Специални </a:t>
            </a:r>
            <a:r>
              <a:rPr lang="en-US" dirty="0"/>
              <a:t>float</a:t>
            </a:r>
            <a:r>
              <a:rPr lang="bg-BG" dirty="0"/>
              <a:t> и </a:t>
            </a:r>
            <a:r>
              <a:rPr lang="en-US" dirty="0"/>
              <a:t>double</a:t>
            </a:r>
            <a:r>
              <a:rPr lang="bg-BG" dirty="0"/>
              <a:t> стойности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0637" y="2043113"/>
            <a:ext cx="9610725" cy="4133850"/>
          </a:xfrm>
        </p:spPr>
        <p:txBody>
          <a:bodyPr>
            <a:normAutofit/>
          </a:bodyPr>
          <a:lstStyle/>
          <a:p>
            <a:r>
              <a:rPr lang="bg-BG" dirty="0"/>
              <a:t>Стойност различна от число - </a:t>
            </a:r>
            <a:r>
              <a:rPr lang="en-US" dirty="0">
                <a:solidFill>
                  <a:srgbClr val="FF0000"/>
                </a:solidFill>
              </a:rPr>
              <a:t>NAN</a:t>
            </a:r>
            <a:r>
              <a:rPr lang="en-US" dirty="0"/>
              <a:t> (Not A Number)</a:t>
            </a:r>
            <a:endParaRPr lang="bg-BG" dirty="0"/>
          </a:p>
          <a:p>
            <a:endParaRPr lang="en-US" sz="1600" dirty="0"/>
          </a:p>
          <a:p>
            <a:r>
              <a:rPr lang="bg-BG" dirty="0"/>
              <a:t>Отрицателна безкрайност – </a:t>
            </a:r>
            <a:r>
              <a:rPr lang="en-US" dirty="0" err="1">
                <a:solidFill>
                  <a:srgbClr val="FF0000"/>
                </a:solidFill>
              </a:rPr>
              <a:t>NegativeInfinity</a:t>
            </a:r>
            <a:endParaRPr lang="bg-BG" dirty="0">
              <a:solidFill>
                <a:srgbClr val="FF0000"/>
              </a:solidFill>
            </a:endParaRPr>
          </a:p>
          <a:p>
            <a:endParaRPr lang="bg-BG" sz="1600" dirty="0">
              <a:solidFill>
                <a:srgbClr val="FF0000"/>
              </a:solidFill>
            </a:endParaRPr>
          </a:p>
          <a:p>
            <a:r>
              <a:rPr lang="bg-BG" dirty="0"/>
              <a:t>Положителна безкрайност – </a:t>
            </a:r>
            <a:r>
              <a:rPr lang="en-US" dirty="0" err="1">
                <a:solidFill>
                  <a:srgbClr val="FF0000"/>
                </a:solidFill>
              </a:rPr>
              <a:t>PositiveInfinity</a:t>
            </a:r>
            <a:endParaRPr lang="bg-BG" dirty="0">
              <a:solidFill>
                <a:srgbClr val="FF0000"/>
              </a:solidFill>
            </a:endParaRPr>
          </a:p>
          <a:p>
            <a:endParaRPr lang="bg-BG" sz="1600" dirty="0">
              <a:solidFill>
                <a:srgbClr val="FF0000"/>
              </a:solidFill>
            </a:endParaRPr>
          </a:p>
          <a:p>
            <a:r>
              <a:rPr lang="bg-BG" dirty="0"/>
              <a:t>Отрицателна нула </a:t>
            </a:r>
            <a:r>
              <a:rPr lang="en-US" dirty="0"/>
              <a:t>  </a:t>
            </a:r>
            <a:r>
              <a:rPr lang="bg-BG" dirty="0"/>
              <a:t>- </a:t>
            </a:r>
            <a:r>
              <a:rPr lang="en-US" dirty="0"/>
              <a:t>  </a:t>
            </a:r>
            <a:r>
              <a:rPr lang="en-US" b="1" dirty="0">
                <a:solidFill>
                  <a:srgbClr val="FF0000"/>
                </a:solidFill>
              </a:rPr>
              <a:t>-0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507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Console.WriteLine</a:t>
            </a:r>
            <a:r>
              <a:rPr lang="en-US" dirty="0"/>
              <a:t> ( 1.0 / 0.0); </a:t>
            </a:r>
            <a:r>
              <a:rPr lang="bg-BG" dirty="0"/>
              <a:t>	</a:t>
            </a:r>
            <a:r>
              <a:rPr lang="en-US" dirty="0"/>
              <a:t>// Infinity</a:t>
            </a:r>
          </a:p>
          <a:p>
            <a:r>
              <a:rPr lang="en-US" dirty="0" err="1"/>
              <a:t>Console.WriteLine</a:t>
            </a:r>
            <a:r>
              <a:rPr lang="en-US" dirty="0"/>
              <a:t> (−1.0 / 0.0); </a:t>
            </a:r>
            <a:r>
              <a:rPr lang="bg-BG" dirty="0"/>
              <a:t>	</a:t>
            </a:r>
            <a:r>
              <a:rPr lang="en-US" dirty="0"/>
              <a:t>// -Infinity</a:t>
            </a:r>
          </a:p>
          <a:p>
            <a:r>
              <a:rPr lang="en-US" dirty="0" err="1"/>
              <a:t>Console.WriteLine</a:t>
            </a:r>
            <a:r>
              <a:rPr lang="en-US" dirty="0"/>
              <a:t> ( 1.0 / −0.0);</a:t>
            </a:r>
            <a:r>
              <a:rPr lang="bg-BG" dirty="0"/>
              <a:t>	</a:t>
            </a:r>
            <a:r>
              <a:rPr lang="en-US" dirty="0"/>
              <a:t>// -Infinity</a:t>
            </a:r>
          </a:p>
          <a:p>
            <a:r>
              <a:rPr lang="en-US" dirty="0" err="1"/>
              <a:t>Console.WriteLine</a:t>
            </a:r>
            <a:r>
              <a:rPr lang="en-US" dirty="0"/>
              <a:t> (−1.0 / −0.0); </a:t>
            </a:r>
            <a:r>
              <a:rPr lang="bg-BG" dirty="0"/>
              <a:t>	</a:t>
            </a:r>
            <a:r>
              <a:rPr lang="en-US" dirty="0"/>
              <a:t>// Infinity</a:t>
            </a:r>
            <a:endParaRPr lang="bg-BG" dirty="0"/>
          </a:p>
          <a:p>
            <a:r>
              <a:rPr lang="en-US" dirty="0" err="1"/>
              <a:t>Console.WriteLine</a:t>
            </a:r>
            <a:r>
              <a:rPr lang="en-US" dirty="0"/>
              <a:t> ( 0.0 / 0.0); </a:t>
            </a:r>
            <a:r>
              <a:rPr lang="bg-BG" dirty="0"/>
              <a:t>	</a:t>
            </a:r>
            <a:r>
              <a:rPr lang="en-US" dirty="0"/>
              <a:t>// </a:t>
            </a:r>
            <a:r>
              <a:rPr lang="en-US" dirty="0" err="1"/>
              <a:t>NaN</a:t>
            </a:r>
            <a:endParaRPr lang="en-US" dirty="0"/>
          </a:p>
          <a:p>
            <a:endParaRPr lang="en-US" dirty="0"/>
          </a:p>
          <a:p>
            <a:r>
              <a:rPr lang="it-IT" dirty="0"/>
              <a:t>Console.WriteLine ((1.0 / 0.0) − (1.0 / 0.0)); </a:t>
            </a:r>
            <a:r>
              <a:rPr lang="bg-BG" dirty="0"/>
              <a:t>	</a:t>
            </a:r>
            <a:r>
              <a:rPr lang="it-IT" dirty="0"/>
              <a:t>// NaN</a:t>
            </a:r>
            <a:r>
              <a:rPr lang="bg-BG" dirty="0"/>
              <a:t> (</a:t>
            </a:r>
            <a:r>
              <a:rPr lang="bg-BG" dirty="0" err="1"/>
              <a:t>безк</a:t>
            </a:r>
            <a:r>
              <a:rPr lang="bg-BG" dirty="0"/>
              <a:t> – </a:t>
            </a:r>
            <a:r>
              <a:rPr lang="bg-BG" dirty="0" err="1"/>
              <a:t>безк</a:t>
            </a:r>
            <a:r>
              <a:rPr lang="bg-BG" dirty="0"/>
              <a:t>)</a:t>
            </a:r>
          </a:p>
          <a:p>
            <a:r>
              <a:rPr lang="fr-FR" dirty="0" err="1"/>
              <a:t>Console.WriteLine</a:t>
            </a:r>
            <a:r>
              <a:rPr lang="fr-FR" dirty="0"/>
              <a:t> (0.0 / 0.0 == </a:t>
            </a:r>
            <a:r>
              <a:rPr lang="fr-FR" dirty="0" err="1"/>
              <a:t>double.NaN</a:t>
            </a:r>
            <a:r>
              <a:rPr lang="fr-FR" dirty="0"/>
              <a:t>);</a:t>
            </a:r>
            <a:r>
              <a:rPr lang="bg-BG" dirty="0"/>
              <a:t>	</a:t>
            </a:r>
            <a:r>
              <a:rPr lang="fr-FR" dirty="0"/>
              <a:t>// False</a:t>
            </a:r>
            <a:r>
              <a:rPr lang="bg-BG" dirty="0"/>
              <a:t> (</a:t>
            </a:r>
            <a:r>
              <a:rPr lang="en-US" dirty="0"/>
              <a:t>NAN!=NAN)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2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488" y="600501"/>
            <a:ext cx="10515600" cy="1446663"/>
          </a:xfrm>
        </p:spPr>
        <p:txBody>
          <a:bodyPr/>
          <a:lstStyle/>
          <a:p>
            <a:r>
              <a:rPr lang="bg-BG" dirty="0"/>
              <a:t>Примери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1128" y="2248706"/>
            <a:ext cx="364807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double d = 10.0;</a:t>
            </a:r>
          </a:p>
          <a:p>
            <a:pPr marL="0" indent="0">
              <a:buNone/>
            </a:pPr>
            <a:r>
              <a:rPr lang="en-US" dirty="0"/>
              <a:t>……………….</a:t>
            </a:r>
          </a:p>
          <a:p>
            <a:pPr marL="0" indent="0">
              <a:buNone/>
            </a:pPr>
            <a:r>
              <a:rPr lang="en-US" dirty="0"/>
              <a:t>if ( </a:t>
            </a:r>
            <a:r>
              <a:rPr lang="en-US" dirty="0" err="1"/>
              <a:t>double.IsNaN</a:t>
            </a:r>
            <a:r>
              <a:rPr lang="en-US" dirty="0"/>
              <a:t>(d) 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……………….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972178" y="2248706"/>
            <a:ext cx="51387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double d = 10.0;</a:t>
            </a:r>
          </a:p>
          <a:p>
            <a:pPr marL="0" indent="0">
              <a:buNone/>
            </a:pPr>
            <a:r>
              <a:rPr lang="en-US" dirty="0"/>
              <a:t>……………….</a:t>
            </a:r>
          </a:p>
          <a:p>
            <a:pPr marL="0" indent="0">
              <a:buNone/>
            </a:pPr>
            <a:r>
              <a:rPr lang="en-US" dirty="0"/>
              <a:t>if ( </a:t>
            </a:r>
            <a:r>
              <a:rPr lang="en-US" dirty="0" err="1"/>
              <a:t>double.IsPositiveInfinity</a:t>
            </a:r>
            <a:r>
              <a:rPr lang="en-US" dirty="0"/>
              <a:t>(d) 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  ……………….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9485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45562"/>
          </a:xfrm>
        </p:spPr>
        <p:txBody>
          <a:bodyPr/>
          <a:lstStyle/>
          <a:p>
            <a:r>
              <a:rPr lang="bg-BG" dirty="0"/>
              <a:t>Ключовата дума </a:t>
            </a:r>
            <a:r>
              <a:rPr lang="en-US" dirty="0" err="1"/>
              <a:t>var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832" y="2374709"/>
            <a:ext cx="10029967" cy="3802253"/>
          </a:xfrm>
        </p:spPr>
        <p:txBody>
          <a:bodyPr/>
          <a:lstStyle/>
          <a:p>
            <a:r>
              <a:rPr lang="bg-BG" dirty="0"/>
              <a:t>С помощта на ключовата дума става неявно деклариране на променливи</a:t>
            </a:r>
            <a:r>
              <a:rPr lang="en-US" dirty="0"/>
              <a:t>:</a:t>
            </a:r>
          </a:p>
          <a:p>
            <a:endParaRPr lang="en-US" sz="1400" dirty="0"/>
          </a:p>
          <a:p>
            <a:pPr marL="457200" lvl="1" indent="0">
              <a:buNone/>
            </a:pPr>
            <a:r>
              <a:rPr lang="en-US" sz="2800" dirty="0"/>
              <a:t> </a:t>
            </a:r>
            <a:r>
              <a:rPr lang="en-US" sz="2800" dirty="0" err="1"/>
              <a:t>var</a:t>
            </a:r>
            <a:r>
              <a:rPr lang="en-US" sz="2800" dirty="0"/>
              <a:t> a = 10;		// </a:t>
            </a:r>
            <a:r>
              <a:rPr lang="en-US" sz="2800" dirty="0" err="1"/>
              <a:t>var</a:t>
            </a:r>
            <a:r>
              <a:rPr lang="en-US" sz="2800" dirty="0"/>
              <a:t> </a:t>
            </a:r>
            <a:r>
              <a:rPr lang="bg-BG" sz="2800" dirty="0"/>
              <a:t>се свързва с </a:t>
            </a:r>
            <a:r>
              <a:rPr lang="en-US" sz="2800" dirty="0" err="1"/>
              <a:t>int</a:t>
            </a:r>
            <a:r>
              <a:rPr lang="en-US" sz="2800" dirty="0"/>
              <a:t> (System.Int32)</a:t>
            </a:r>
          </a:p>
          <a:p>
            <a:pPr marL="457200" lvl="1" indent="0">
              <a:buNone/>
            </a:pPr>
            <a:endParaRPr lang="en-US" sz="1400" dirty="0"/>
          </a:p>
          <a:p>
            <a:pPr marL="457200" lvl="1" indent="0">
              <a:buNone/>
            </a:pPr>
            <a:r>
              <a:rPr lang="en-US" sz="2800" dirty="0"/>
              <a:t> </a:t>
            </a:r>
            <a:r>
              <a:rPr lang="en-US" sz="2800" dirty="0" err="1"/>
              <a:t>var</a:t>
            </a:r>
            <a:r>
              <a:rPr lang="en-US" sz="2800" dirty="0"/>
              <a:t> b = ‘y’;		// </a:t>
            </a:r>
            <a:r>
              <a:rPr lang="en-US" sz="2800" dirty="0" err="1"/>
              <a:t>var</a:t>
            </a:r>
            <a:r>
              <a:rPr lang="en-US" sz="2800" dirty="0"/>
              <a:t> </a:t>
            </a:r>
            <a:r>
              <a:rPr lang="bg-BG" sz="2800" dirty="0"/>
              <a:t>се свързва с </a:t>
            </a:r>
            <a:r>
              <a:rPr lang="en-US" sz="2800" dirty="0"/>
              <a:t>char (</a:t>
            </a:r>
            <a:r>
              <a:rPr lang="en-US" sz="2800" dirty="0" err="1"/>
              <a:t>System.Char</a:t>
            </a:r>
            <a:r>
              <a:rPr lang="en-US" sz="2800" dirty="0"/>
              <a:t>)</a:t>
            </a:r>
          </a:p>
          <a:p>
            <a:pPr marL="457200" lvl="1" indent="0">
              <a:buNone/>
            </a:pPr>
            <a:endParaRPr lang="en-US" sz="1400" dirty="0"/>
          </a:p>
          <a:p>
            <a:pPr marL="457200" lvl="1" indent="0">
              <a:buNone/>
            </a:pPr>
            <a:r>
              <a:rPr lang="en-US" sz="2800" dirty="0"/>
              <a:t> </a:t>
            </a:r>
            <a:r>
              <a:rPr lang="en-US" sz="2800" dirty="0" err="1"/>
              <a:t>var</a:t>
            </a:r>
            <a:r>
              <a:rPr lang="en-US" sz="2800" dirty="0"/>
              <a:t> c  = “</a:t>
            </a:r>
            <a:r>
              <a:rPr lang="en-US" sz="2800" dirty="0" err="1"/>
              <a:t>zdravei</a:t>
            </a:r>
            <a:r>
              <a:rPr lang="en-US" sz="2800" dirty="0"/>
              <a:t>”;   	// </a:t>
            </a:r>
            <a:r>
              <a:rPr lang="en-US" sz="2800" dirty="0" err="1"/>
              <a:t>var</a:t>
            </a:r>
            <a:r>
              <a:rPr lang="en-US" sz="2800" dirty="0"/>
              <a:t> </a:t>
            </a:r>
            <a:r>
              <a:rPr lang="bg-BG" sz="2800" dirty="0"/>
              <a:t>свързва с</a:t>
            </a:r>
            <a:r>
              <a:rPr lang="en-US" sz="2800" dirty="0"/>
              <a:t> string (</a:t>
            </a:r>
            <a:r>
              <a:rPr lang="en-US" sz="2800" dirty="0" err="1"/>
              <a:t>System.String</a:t>
            </a:r>
            <a:r>
              <a:rPr lang="en-US" sz="28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334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Референтни и стойностни типове  - </a:t>
            </a:r>
            <a:r>
              <a:rPr lang="en-US" dirty="0"/>
              <a:t>Custom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653215" cy="4561527"/>
          </a:xfrm>
        </p:spPr>
        <p:txBody>
          <a:bodyPr>
            <a:normAutofit lnSpcReduction="10000"/>
          </a:bodyPr>
          <a:lstStyle/>
          <a:p>
            <a:pPr lvl="1"/>
            <a:endParaRPr lang="en-US" sz="2800" dirty="0"/>
          </a:p>
          <a:p>
            <a:pPr lvl="1"/>
            <a:r>
              <a:rPr lang="bg-BG" sz="2800" dirty="0"/>
              <a:t>Референтен тип</a:t>
            </a:r>
            <a:r>
              <a:rPr lang="en-US" sz="2800" dirty="0"/>
              <a:t> (Reference Type)</a:t>
            </a:r>
          </a:p>
          <a:p>
            <a:pPr lvl="2"/>
            <a:r>
              <a:rPr lang="bg-BG" sz="2800" dirty="0"/>
              <a:t>Дефинират се с ключовата дума </a:t>
            </a:r>
            <a:r>
              <a:rPr lang="en-US" sz="2800" b="1" dirty="0">
                <a:solidFill>
                  <a:srgbClr val="FF0000"/>
                </a:solidFill>
              </a:rPr>
              <a:t>class</a:t>
            </a:r>
            <a:endParaRPr lang="bg-BG" sz="2800" b="1" dirty="0">
              <a:solidFill>
                <a:srgbClr val="FF0000"/>
              </a:solidFill>
            </a:endParaRPr>
          </a:p>
          <a:p>
            <a:pPr lvl="2"/>
            <a:r>
              <a:rPr lang="bg-BG" sz="2800" dirty="0"/>
              <a:t>Променливите се съхраняват в </a:t>
            </a:r>
            <a:r>
              <a:rPr lang="bg-BG" sz="2800" dirty="0" err="1"/>
              <a:t>хийпа</a:t>
            </a:r>
            <a:endParaRPr lang="bg-BG" sz="2800" dirty="0"/>
          </a:p>
          <a:p>
            <a:pPr lvl="2"/>
            <a:r>
              <a:rPr lang="bg-BG" sz="2800" dirty="0"/>
              <a:t>Управляеми – средата се грижи да „рециклира“ неизползваните обекти</a:t>
            </a:r>
          </a:p>
          <a:p>
            <a:pPr lvl="1"/>
            <a:endParaRPr lang="en-US" sz="2800" dirty="0"/>
          </a:p>
          <a:p>
            <a:pPr lvl="1"/>
            <a:r>
              <a:rPr lang="bg-BG" sz="2800" dirty="0"/>
              <a:t>Стойностен тип</a:t>
            </a:r>
            <a:r>
              <a:rPr lang="en-US" sz="2800" dirty="0"/>
              <a:t> (Value Type)</a:t>
            </a:r>
          </a:p>
          <a:p>
            <a:pPr lvl="2"/>
            <a:r>
              <a:rPr lang="bg-BG" sz="2800" dirty="0"/>
              <a:t>Дефинират се с ключовата дума </a:t>
            </a:r>
            <a:r>
              <a:rPr lang="en-US" sz="2800" b="1" dirty="0" err="1">
                <a:solidFill>
                  <a:srgbClr val="FF0000"/>
                </a:solidFill>
              </a:rPr>
              <a:t>struct</a:t>
            </a:r>
            <a:endParaRPr lang="bg-BG" sz="2800" b="1" dirty="0">
              <a:solidFill>
                <a:srgbClr val="FF0000"/>
              </a:solidFill>
            </a:endParaRPr>
          </a:p>
          <a:p>
            <a:pPr lvl="2"/>
            <a:r>
              <a:rPr lang="bg-BG" sz="2800" dirty="0"/>
              <a:t>променливите се съхраняват в стека</a:t>
            </a:r>
          </a:p>
          <a:p>
            <a:pPr lvl="2"/>
            <a:r>
              <a:rPr lang="bg-BG" sz="2800" dirty="0"/>
              <a:t>Унищожават се когато променливата излезе извън видимост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6799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Стойностни типове (</a:t>
            </a:r>
            <a:r>
              <a:rPr lang="en-US" dirty="0"/>
              <a:t>Value Types)</a:t>
            </a:r>
            <a:r>
              <a:rPr lang="bg-BG" dirty="0"/>
              <a:t> - пример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844" y="1825625"/>
            <a:ext cx="3971499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  </a:t>
            </a:r>
            <a:r>
              <a:rPr lang="en-US" dirty="0" err="1"/>
              <a:t>StTip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……………………</a:t>
            </a:r>
          </a:p>
          <a:p>
            <a:pPr marL="0" indent="0">
              <a:buNone/>
            </a:pPr>
            <a:r>
              <a:rPr lang="en-US" dirty="0"/>
              <a:t>void a()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StTip</a:t>
            </a:r>
            <a:r>
              <a:rPr lang="en-US" dirty="0"/>
              <a:t> a = new </a:t>
            </a:r>
            <a:r>
              <a:rPr lang="en-US" dirty="0" err="1"/>
              <a:t>StTip</a:t>
            </a:r>
            <a:r>
              <a:rPr lang="en-US" dirty="0"/>
              <a:t>();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a.i</a:t>
            </a:r>
            <a:r>
              <a:rPr lang="en-US" dirty="0"/>
              <a:t>=10;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8155" y="1937982"/>
            <a:ext cx="301615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bg-BG" dirty="0"/>
              <a:t>Стек на нишката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820167" y="2811438"/>
            <a:ext cx="253848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endParaRPr lang="bg-BG" dirty="0"/>
          </a:p>
          <a:p>
            <a:pPr algn="ctr"/>
            <a:endParaRPr lang="bg-BG" dirty="0"/>
          </a:p>
          <a:p>
            <a:pPr algn="ctr"/>
            <a:endParaRPr lang="bg-BG" sz="200" dirty="0"/>
          </a:p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942995" y="3289113"/>
            <a:ext cx="23064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r>
              <a:rPr lang="en-US" dirty="0"/>
              <a:t>=10</a:t>
            </a:r>
          </a:p>
        </p:txBody>
      </p:sp>
    </p:spTree>
    <p:extLst>
      <p:ext uri="{BB962C8B-B14F-4D97-AF65-F5344CB8AC3E}">
        <p14:creationId xmlns:p14="http://schemas.microsoft.com/office/powerpoint/2010/main" val="4065114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Стойностни типове (</a:t>
            </a:r>
            <a:r>
              <a:rPr lang="en-US" dirty="0"/>
              <a:t>Value Types)</a:t>
            </a:r>
            <a:r>
              <a:rPr lang="bg-BG" dirty="0"/>
              <a:t> - пример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5844" y="1690688"/>
            <a:ext cx="3971499" cy="49421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  </a:t>
            </a:r>
            <a:r>
              <a:rPr lang="en-US" dirty="0" err="1"/>
              <a:t>StTip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……………………</a:t>
            </a:r>
          </a:p>
          <a:p>
            <a:pPr marL="0" indent="0">
              <a:buNone/>
            </a:pPr>
            <a:r>
              <a:rPr lang="en-US" dirty="0"/>
              <a:t>void a()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StTip</a:t>
            </a:r>
            <a:r>
              <a:rPr lang="en-US" dirty="0"/>
              <a:t> a = new </a:t>
            </a:r>
            <a:r>
              <a:rPr lang="en-US" dirty="0" err="1"/>
              <a:t>StTip</a:t>
            </a:r>
            <a:r>
              <a:rPr lang="en-US" dirty="0"/>
              <a:t>();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a.i</a:t>
            </a:r>
            <a:r>
              <a:rPr lang="en-US" dirty="0"/>
              <a:t>=10;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StTip</a:t>
            </a:r>
            <a:r>
              <a:rPr lang="en-US" dirty="0"/>
              <a:t> b = a;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b.i</a:t>
            </a:r>
            <a:r>
              <a:rPr lang="en-US" dirty="0"/>
              <a:t>=20;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8155" y="1937982"/>
            <a:ext cx="301615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bg-BG" dirty="0"/>
              <a:t>Стек на нишката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820167" y="2811438"/>
            <a:ext cx="253848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endParaRPr lang="bg-BG" dirty="0"/>
          </a:p>
          <a:p>
            <a:pPr algn="ctr"/>
            <a:endParaRPr lang="bg-BG" dirty="0"/>
          </a:p>
          <a:p>
            <a:pPr algn="ctr"/>
            <a:endParaRPr lang="bg-BG" sz="200" dirty="0"/>
          </a:p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942995" y="3289113"/>
            <a:ext cx="23064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r>
              <a:rPr lang="en-US" dirty="0"/>
              <a:t>=10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0167" y="4243220"/>
            <a:ext cx="253848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endParaRPr lang="bg-BG" dirty="0"/>
          </a:p>
          <a:p>
            <a:pPr algn="ctr"/>
            <a:endParaRPr lang="bg-BG" dirty="0"/>
          </a:p>
          <a:p>
            <a:pPr algn="ctr"/>
            <a:endParaRPr lang="bg-BG" sz="200" dirty="0"/>
          </a:p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963466" y="4720273"/>
            <a:ext cx="23064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r>
              <a:rPr lang="en-US" dirty="0"/>
              <a:t>=20</a:t>
            </a:r>
          </a:p>
        </p:txBody>
      </p:sp>
    </p:spTree>
    <p:extLst>
      <p:ext uri="{BB962C8B-B14F-4D97-AF65-F5344CB8AC3E}">
        <p14:creationId xmlns:p14="http://schemas.microsoft.com/office/powerpoint/2010/main" val="47413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909" y="365125"/>
            <a:ext cx="11232109" cy="1325563"/>
          </a:xfrm>
        </p:spPr>
        <p:txBody>
          <a:bodyPr/>
          <a:lstStyle/>
          <a:p>
            <a:r>
              <a:rPr lang="bg-BG" dirty="0"/>
              <a:t>Референтни типове</a:t>
            </a:r>
            <a:r>
              <a:rPr lang="en-US" dirty="0"/>
              <a:t> (Reference Types)</a:t>
            </a:r>
            <a:r>
              <a:rPr lang="bg-BG" dirty="0"/>
              <a:t> - пример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456" y="1771033"/>
            <a:ext cx="3971499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RefTip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……………………</a:t>
            </a:r>
          </a:p>
          <a:p>
            <a:pPr marL="0" indent="0">
              <a:buNone/>
            </a:pPr>
            <a:r>
              <a:rPr lang="en-US" dirty="0"/>
              <a:t>void a()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RefTip</a:t>
            </a:r>
            <a:r>
              <a:rPr lang="en-US" dirty="0"/>
              <a:t> a = new </a:t>
            </a:r>
            <a:r>
              <a:rPr lang="en-US" dirty="0" err="1"/>
              <a:t>RefTip</a:t>
            </a:r>
            <a:r>
              <a:rPr lang="en-US" dirty="0"/>
              <a:t>();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a.i</a:t>
            </a:r>
            <a:r>
              <a:rPr lang="en-US" dirty="0"/>
              <a:t>=10;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5449" y="1937982"/>
            <a:ext cx="301615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bg-BG" dirty="0"/>
              <a:t>Стек на нишката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677461" y="2811438"/>
            <a:ext cx="25384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endParaRPr lang="bg-BG" dirty="0"/>
          </a:p>
        </p:txBody>
      </p:sp>
      <p:sp>
        <p:nvSpPr>
          <p:cNvPr id="9" name="TextBox 8"/>
          <p:cNvSpPr txBox="1"/>
          <p:nvPr/>
        </p:nvSpPr>
        <p:spPr>
          <a:xfrm>
            <a:off x="8886973" y="1940254"/>
            <a:ext cx="301615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bg-BG" dirty="0"/>
              <a:t>Управляван  </a:t>
            </a:r>
            <a:r>
              <a:rPr lang="bg-BG" dirty="0" err="1"/>
              <a:t>хийп</a:t>
            </a:r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118985" y="2813710"/>
            <a:ext cx="253848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bg-BG" dirty="0"/>
          </a:p>
          <a:p>
            <a:pPr algn="ctr"/>
            <a:endParaRPr lang="bg-BG" sz="2400" dirty="0"/>
          </a:p>
          <a:p>
            <a:pPr algn="ctr"/>
            <a:r>
              <a:rPr lang="bg-BG" dirty="0"/>
              <a:t>Мета данни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1813" y="2977481"/>
            <a:ext cx="23064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r>
              <a:rPr lang="en-US" dirty="0"/>
              <a:t>=10</a:t>
            </a:r>
          </a:p>
        </p:txBody>
      </p:sp>
      <p:cxnSp>
        <p:nvCxnSpPr>
          <p:cNvPr id="5" name="Straight Arrow Connector 4"/>
          <p:cNvCxnSpPr>
            <a:stCxn id="7" idx="3"/>
          </p:cNvCxnSpPr>
          <p:nvPr/>
        </p:nvCxnSpPr>
        <p:spPr>
          <a:xfrm>
            <a:off x="8215945" y="2996104"/>
            <a:ext cx="903040" cy="18466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892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456" y="1569493"/>
            <a:ext cx="3971499" cy="4872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RefTip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public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……………………</a:t>
            </a:r>
          </a:p>
          <a:p>
            <a:pPr marL="0" indent="0">
              <a:buNone/>
            </a:pPr>
            <a:r>
              <a:rPr lang="en-US" dirty="0"/>
              <a:t>void a()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RefTip</a:t>
            </a:r>
            <a:r>
              <a:rPr lang="en-US" dirty="0"/>
              <a:t> a = new </a:t>
            </a:r>
            <a:r>
              <a:rPr lang="en-US" dirty="0" err="1"/>
              <a:t>RefTip</a:t>
            </a:r>
            <a:r>
              <a:rPr lang="en-US" dirty="0"/>
              <a:t>();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a.i</a:t>
            </a:r>
            <a:r>
              <a:rPr lang="en-US" dirty="0"/>
              <a:t>=10;</a:t>
            </a:r>
            <a:endParaRPr lang="bg-BG" dirty="0"/>
          </a:p>
          <a:p>
            <a:pPr marL="457200" lvl="1" indent="0">
              <a:buNone/>
            </a:pPr>
            <a:r>
              <a:rPr lang="bg-BG" dirty="0"/>
              <a:t>	</a:t>
            </a:r>
          </a:p>
          <a:p>
            <a:pPr marL="457200" lvl="1" indent="0">
              <a:buNone/>
            </a:pPr>
            <a:r>
              <a:rPr lang="bg-BG" dirty="0"/>
              <a:t>	</a:t>
            </a:r>
            <a:r>
              <a:rPr lang="en-US" dirty="0" err="1"/>
              <a:t>RefTip</a:t>
            </a:r>
            <a:r>
              <a:rPr lang="en-US" dirty="0"/>
              <a:t> b = a;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b.i</a:t>
            </a:r>
            <a:r>
              <a:rPr lang="en-US" dirty="0"/>
              <a:t> = 20;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5449" y="1937982"/>
            <a:ext cx="301615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bg-BG" dirty="0"/>
              <a:t>Стек на нишката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677461" y="2811438"/>
            <a:ext cx="25384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endParaRPr lang="bg-BG" dirty="0"/>
          </a:p>
        </p:txBody>
      </p:sp>
      <p:sp>
        <p:nvSpPr>
          <p:cNvPr id="9" name="TextBox 8"/>
          <p:cNvSpPr txBox="1"/>
          <p:nvPr/>
        </p:nvSpPr>
        <p:spPr>
          <a:xfrm>
            <a:off x="8886973" y="1940254"/>
            <a:ext cx="3016155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</a:t>
            </a:r>
            <a:r>
              <a:rPr lang="bg-BG" dirty="0"/>
              <a:t>Управляван  </a:t>
            </a:r>
            <a:r>
              <a:rPr lang="bg-BG" dirty="0" err="1"/>
              <a:t>хийп</a:t>
            </a:r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118985" y="2813710"/>
            <a:ext cx="253848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bg-BG" dirty="0"/>
          </a:p>
          <a:p>
            <a:pPr algn="ctr"/>
            <a:endParaRPr lang="bg-BG" sz="2400" dirty="0"/>
          </a:p>
          <a:p>
            <a:pPr algn="ctr"/>
            <a:r>
              <a:rPr lang="bg-BG" dirty="0"/>
              <a:t>Мета Данни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1813" y="2977481"/>
            <a:ext cx="23064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r>
              <a:rPr lang="en-US" dirty="0"/>
              <a:t>=20</a:t>
            </a:r>
          </a:p>
        </p:txBody>
      </p:sp>
      <p:cxnSp>
        <p:nvCxnSpPr>
          <p:cNvPr id="5" name="Straight Arrow Connector 4"/>
          <p:cNvCxnSpPr>
            <a:stCxn id="7" idx="3"/>
          </p:cNvCxnSpPr>
          <p:nvPr/>
        </p:nvCxnSpPr>
        <p:spPr>
          <a:xfrm>
            <a:off x="8215945" y="2996104"/>
            <a:ext cx="903040" cy="18466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79734" y="3455159"/>
            <a:ext cx="25384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endParaRPr lang="bg-BG" dirty="0"/>
          </a:p>
        </p:txBody>
      </p:sp>
      <p:cxnSp>
        <p:nvCxnSpPr>
          <p:cNvPr id="13" name="Straight Arrow Connector 12"/>
          <p:cNvCxnSpPr>
            <a:stCxn id="12" idx="3"/>
          </p:cNvCxnSpPr>
          <p:nvPr/>
        </p:nvCxnSpPr>
        <p:spPr>
          <a:xfrm flipV="1">
            <a:off x="8218218" y="3455159"/>
            <a:ext cx="900767" cy="18466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5909" y="365125"/>
            <a:ext cx="11232109" cy="1325563"/>
          </a:xfrm>
        </p:spPr>
        <p:txBody>
          <a:bodyPr/>
          <a:lstStyle/>
          <a:p>
            <a:r>
              <a:rPr lang="bg-BG" dirty="0"/>
              <a:t>Референтни типове</a:t>
            </a:r>
            <a:r>
              <a:rPr lang="en-US" dirty="0"/>
              <a:t> (Reference Types)</a:t>
            </a:r>
            <a:r>
              <a:rPr lang="bg-BG" dirty="0"/>
              <a:t> - пример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3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Масиви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9492" y="1501254"/>
            <a:ext cx="9784307" cy="4967785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Всички масиви са инстанции на класа </a:t>
            </a:r>
            <a:r>
              <a:rPr lang="en-US" dirty="0" err="1"/>
              <a:t>System.Array</a:t>
            </a:r>
            <a:endParaRPr lang="bg-BG" dirty="0"/>
          </a:p>
          <a:p>
            <a:endParaRPr lang="bg-BG" sz="1500" dirty="0"/>
          </a:p>
          <a:p>
            <a:r>
              <a:rPr lang="bg-BG" dirty="0"/>
              <a:t>Притежават различни функции и променливи като:</a:t>
            </a:r>
          </a:p>
          <a:p>
            <a:pPr lvl="1"/>
            <a:r>
              <a:rPr lang="en-US" dirty="0"/>
              <a:t>Length - </a:t>
            </a:r>
            <a:r>
              <a:rPr lang="bg-BG" dirty="0"/>
              <a:t>променлива</a:t>
            </a:r>
            <a:endParaRPr lang="en-US" dirty="0"/>
          </a:p>
          <a:p>
            <a:pPr lvl="1"/>
            <a:r>
              <a:rPr lang="en-US" dirty="0"/>
              <a:t>Clone</a:t>
            </a:r>
            <a:r>
              <a:rPr lang="bg-BG" dirty="0"/>
              <a:t> - функция</a:t>
            </a:r>
            <a:endParaRPr lang="en-US" dirty="0"/>
          </a:p>
          <a:p>
            <a:pPr lvl="1"/>
            <a:r>
              <a:rPr lang="en-US" dirty="0"/>
              <a:t>Equals</a:t>
            </a:r>
            <a:r>
              <a:rPr lang="bg-BG" dirty="0"/>
              <a:t> – функция</a:t>
            </a:r>
          </a:p>
          <a:p>
            <a:pPr lvl="1"/>
            <a:endParaRPr lang="en-US" sz="1400" dirty="0"/>
          </a:p>
          <a:p>
            <a:r>
              <a:rPr lang="bg-BG" dirty="0"/>
              <a:t>Декларация на масив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[] </a:t>
            </a:r>
            <a:r>
              <a:rPr lang="en-US" dirty="0" err="1"/>
              <a:t>i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[10];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[] </a:t>
            </a:r>
            <a:r>
              <a:rPr lang="en-US" dirty="0" err="1"/>
              <a:t>i</a:t>
            </a:r>
            <a:r>
              <a:rPr lang="en-US" dirty="0"/>
              <a:t> = {1,2,3};</a:t>
            </a:r>
          </a:p>
          <a:p>
            <a:pPr lvl="1"/>
            <a:r>
              <a:rPr lang="en-US" dirty="0" err="1"/>
              <a:t>int</a:t>
            </a:r>
            <a:r>
              <a:rPr lang="en-US" dirty="0"/>
              <a:t>[] </a:t>
            </a:r>
            <a:r>
              <a:rPr lang="en-US" dirty="0" err="1"/>
              <a:t>i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[] {1,2,3};</a:t>
            </a:r>
            <a:endParaRPr lang="bg-BG" dirty="0"/>
          </a:p>
          <a:p>
            <a:pPr lvl="1"/>
            <a:endParaRPr lang="en-US" sz="1700" dirty="0"/>
          </a:p>
          <a:p>
            <a:r>
              <a:rPr lang="bg-BG" dirty="0"/>
              <a:t>Нулево базирани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06187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Масиви от предефинирани типове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650" y="2210937"/>
            <a:ext cx="9280478" cy="3966026"/>
          </a:xfrm>
        </p:spPr>
        <p:txBody>
          <a:bodyPr/>
          <a:lstStyle/>
          <a:p>
            <a:r>
              <a:rPr lang="bg-BG" dirty="0"/>
              <a:t>Специфичното при тях е, че при създаването си са инициализирани</a:t>
            </a:r>
          </a:p>
          <a:p>
            <a:endParaRPr lang="en-US" dirty="0"/>
          </a:p>
          <a:p>
            <a:r>
              <a:rPr lang="bg-BG" dirty="0"/>
              <a:t>Създаване на масив</a:t>
            </a:r>
            <a:r>
              <a:rPr lang="en-US" dirty="0"/>
              <a:t> </a:t>
            </a:r>
            <a:r>
              <a:rPr lang="bg-BG" dirty="0"/>
              <a:t>от предефинирани типове</a:t>
            </a:r>
          </a:p>
          <a:p>
            <a:pPr marL="457200" lvl="1" indent="0">
              <a:buNone/>
            </a:pPr>
            <a:r>
              <a:rPr lang="en-US" dirty="0" err="1"/>
              <a:t>int</a:t>
            </a:r>
            <a:r>
              <a:rPr lang="en-US" dirty="0"/>
              <a:t>[] </a:t>
            </a:r>
            <a:r>
              <a:rPr lang="en-US" dirty="0" err="1"/>
              <a:t>i</a:t>
            </a:r>
            <a:r>
              <a:rPr lang="en-US" dirty="0"/>
              <a:t> = new </a:t>
            </a:r>
            <a:r>
              <a:rPr lang="en-US" dirty="0" err="1"/>
              <a:t>int</a:t>
            </a:r>
            <a:r>
              <a:rPr lang="en-US" dirty="0"/>
              <a:t>[10];</a:t>
            </a:r>
            <a:endParaRPr lang="bg-BG" dirty="0"/>
          </a:p>
          <a:p>
            <a:pPr marL="457200" lvl="1" indent="0">
              <a:buNone/>
            </a:pPr>
            <a:r>
              <a:rPr lang="en-US" dirty="0" err="1"/>
              <a:t>int</a:t>
            </a:r>
            <a:r>
              <a:rPr lang="en-US" dirty="0"/>
              <a:t> a = </a:t>
            </a:r>
            <a:r>
              <a:rPr lang="en-US" dirty="0" err="1"/>
              <a:t>i</a:t>
            </a:r>
            <a:r>
              <a:rPr lang="en-US" dirty="0"/>
              <a:t>[1];		// a=0;</a:t>
            </a:r>
          </a:p>
          <a:p>
            <a:pPr marL="457200" lvl="1" indent="0">
              <a:buNone/>
            </a:pPr>
            <a:endParaRPr lang="bg-BG" dirty="0"/>
          </a:p>
          <a:p>
            <a:pPr marL="457200" lvl="1" indent="0">
              <a:buNone/>
            </a:pPr>
            <a:endParaRPr lang="bg-BG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6019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62569" cy="1325563"/>
          </a:xfrm>
        </p:spPr>
        <p:txBody>
          <a:bodyPr/>
          <a:lstStyle/>
          <a:p>
            <a:r>
              <a:rPr lang="bg-BG" dirty="0"/>
              <a:t>Масиви от стойностни типове </a:t>
            </a:r>
            <a:r>
              <a:rPr lang="en-US" dirty="0"/>
              <a:t>(</a:t>
            </a:r>
            <a:r>
              <a:rPr lang="bg-BG" dirty="0"/>
              <a:t>от тип</a:t>
            </a:r>
            <a:r>
              <a:rPr lang="en-US" dirty="0"/>
              <a:t> struct)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650" y="2210937"/>
            <a:ext cx="9280478" cy="3966026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 err="1"/>
              <a:t>struct</a:t>
            </a:r>
            <a:r>
              <a:rPr lang="en-US" dirty="0"/>
              <a:t>  </a:t>
            </a:r>
            <a:r>
              <a:rPr lang="en-US" dirty="0" err="1"/>
              <a:t>StType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public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r>
              <a:rPr lang="en-US" dirty="0"/>
              <a:t>…………………..</a:t>
            </a:r>
          </a:p>
          <a:p>
            <a:pPr marL="457200" lvl="1" indent="0">
              <a:buNone/>
            </a:pPr>
            <a:r>
              <a:rPr lang="en-US" dirty="0"/>
              <a:t>public void f()</a:t>
            </a:r>
          </a:p>
          <a:p>
            <a:pPr marL="457200" lvl="1" indent="0">
              <a:buNone/>
            </a:pPr>
            <a:r>
              <a:rPr lang="en-US" dirty="0"/>
              <a:t>{</a:t>
            </a:r>
            <a:endParaRPr lang="bg-BG" dirty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StType</a:t>
            </a:r>
            <a:r>
              <a:rPr lang="en-US" dirty="0"/>
              <a:t>[] a = new </a:t>
            </a:r>
            <a:r>
              <a:rPr lang="en-US" dirty="0" err="1"/>
              <a:t>StType</a:t>
            </a:r>
            <a:r>
              <a:rPr lang="en-US" dirty="0"/>
              <a:t>[10];</a:t>
            </a:r>
            <a:endParaRPr lang="bg-BG" dirty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b = a[1].</a:t>
            </a:r>
            <a:r>
              <a:rPr lang="en-US" dirty="0" err="1"/>
              <a:t>i</a:t>
            </a:r>
            <a:r>
              <a:rPr lang="en-US" dirty="0"/>
              <a:t>;		// b=0;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endParaRPr lang="bg-BG" dirty="0"/>
          </a:p>
          <a:p>
            <a:pPr marL="457200" lvl="1" indent="0">
              <a:buNone/>
            </a:pPr>
            <a:endParaRPr lang="bg-BG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23444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162"/>
          </a:xfrm>
        </p:spPr>
        <p:txBody>
          <a:bodyPr>
            <a:normAutofit fontScale="90000"/>
          </a:bodyPr>
          <a:lstStyle/>
          <a:p>
            <a:r>
              <a:rPr lang="bg-BG" dirty="0"/>
              <a:t>Масиви от референтни типове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4776"/>
            <a:ext cx="6449704" cy="481218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class </a:t>
            </a:r>
            <a:r>
              <a:rPr lang="en-US" dirty="0" err="1"/>
              <a:t>RefType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public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  =  0;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r>
              <a:rPr lang="en-US" dirty="0"/>
              <a:t>…………………..</a:t>
            </a:r>
          </a:p>
          <a:p>
            <a:pPr marL="457200" lvl="1" indent="0">
              <a:buNone/>
            </a:pPr>
            <a:r>
              <a:rPr lang="en-US" dirty="0"/>
              <a:t>public void f()</a:t>
            </a:r>
          </a:p>
          <a:p>
            <a:pPr marL="457200" lvl="1" indent="0">
              <a:buNone/>
            </a:pPr>
            <a:r>
              <a:rPr lang="en-US" dirty="0"/>
              <a:t>{</a:t>
            </a:r>
            <a:endParaRPr lang="bg-BG" dirty="0"/>
          </a:p>
          <a:p>
            <a:pPr marL="457200" lvl="1" indent="0">
              <a:buNone/>
            </a:pPr>
            <a:r>
              <a:rPr lang="en-US" dirty="0"/>
              <a:t>	 </a:t>
            </a:r>
            <a:r>
              <a:rPr lang="en-US" dirty="0" err="1"/>
              <a:t>RefType</a:t>
            </a:r>
            <a:r>
              <a:rPr lang="en-US" dirty="0"/>
              <a:t>[] a = new </a:t>
            </a:r>
            <a:r>
              <a:rPr lang="en-US"/>
              <a:t>RefType[</a:t>
            </a:r>
            <a:r>
              <a:rPr lang="en-US" dirty="0"/>
              <a:t>10];</a:t>
            </a:r>
            <a:endParaRPr lang="bg-BG" dirty="0"/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b = a[1].</a:t>
            </a:r>
            <a:r>
              <a:rPr lang="en-US" dirty="0" err="1"/>
              <a:t>i</a:t>
            </a:r>
            <a:r>
              <a:rPr lang="en-US" dirty="0"/>
              <a:t>;</a:t>
            </a:r>
            <a:r>
              <a:rPr lang="bg-BG" dirty="0"/>
              <a:t> // </a:t>
            </a:r>
            <a:r>
              <a:rPr lang="en-US" dirty="0" err="1"/>
              <a:t>NullReferenceException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endParaRPr lang="bg-BG" dirty="0"/>
          </a:p>
          <a:p>
            <a:pPr marL="457200" lvl="1" indent="0">
              <a:buNone/>
            </a:pPr>
            <a:endParaRPr lang="bg-BG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bg-B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2D0AAD-C915-4182-9B00-0EDAABC66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063966"/>
              </p:ext>
            </p:extLst>
          </p:nvPr>
        </p:nvGraphicFramePr>
        <p:xfrm>
          <a:off x="664838" y="630745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9686530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7715695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2232415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30014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20034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93967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632361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797362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304739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95303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83645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899847-2AFB-48D3-BF7D-5760D130B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316769"/>
              </p:ext>
            </p:extLst>
          </p:nvPr>
        </p:nvGraphicFramePr>
        <p:xfrm>
          <a:off x="664838" y="5966544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9686530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7715695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2232415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30014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200348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293967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632361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797362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304739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95303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836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0697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1162"/>
          </a:xfrm>
        </p:spPr>
        <p:txBody>
          <a:bodyPr>
            <a:normAutofit fontScale="90000"/>
          </a:bodyPr>
          <a:lstStyle/>
          <a:p>
            <a:r>
              <a:rPr lang="bg-BG" dirty="0"/>
              <a:t>Масиви от референтни типове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8424" y="1364776"/>
            <a:ext cx="7560859" cy="5199797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buNone/>
            </a:pPr>
            <a:r>
              <a:rPr lang="en-US" dirty="0"/>
              <a:t>class </a:t>
            </a:r>
            <a:r>
              <a:rPr lang="en-US" dirty="0" err="1"/>
              <a:t>RefType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	public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  =  0;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…………………..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public void f()</a:t>
            </a:r>
          </a:p>
          <a:p>
            <a:pPr marL="457200" lvl="1" indent="0">
              <a:buNone/>
            </a:pPr>
            <a:r>
              <a:rPr lang="en-US" dirty="0"/>
              <a:t>{</a:t>
            </a:r>
            <a:endParaRPr lang="bg-BG" dirty="0"/>
          </a:p>
          <a:p>
            <a:pPr marL="457200" lvl="1" indent="0">
              <a:buNone/>
            </a:pPr>
            <a:r>
              <a:rPr lang="en-US" dirty="0"/>
              <a:t>	 </a:t>
            </a:r>
            <a:r>
              <a:rPr lang="en-US" dirty="0" err="1"/>
              <a:t>RefType</a:t>
            </a:r>
            <a:r>
              <a:rPr lang="en-US" dirty="0"/>
              <a:t>[] a = new </a:t>
            </a:r>
            <a:r>
              <a:rPr lang="en-US" dirty="0" err="1"/>
              <a:t>RefType</a:t>
            </a:r>
            <a:r>
              <a:rPr lang="en-US" dirty="0"/>
              <a:t>[10];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	 </a:t>
            </a:r>
            <a:r>
              <a:rPr lang="nn-NO" sz="2400" dirty="0"/>
              <a:t>for( int i = 0 ; i&lt;10; i++ )</a:t>
            </a:r>
          </a:p>
          <a:p>
            <a:pPr marL="0" indent="0">
              <a:buNone/>
            </a:pPr>
            <a:r>
              <a:rPr lang="en-US" sz="2400" dirty="0"/>
              <a:t>         	 {</a:t>
            </a:r>
          </a:p>
          <a:p>
            <a:pPr marL="0" indent="0">
              <a:buNone/>
            </a:pPr>
            <a:r>
              <a:rPr lang="en-US" sz="2400" dirty="0"/>
              <a:t>           		 a[</a:t>
            </a:r>
            <a:r>
              <a:rPr lang="en-US" sz="2400" dirty="0" err="1"/>
              <a:t>i</a:t>
            </a:r>
            <a:r>
              <a:rPr lang="en-US" sz="2400" dirty="0"/>
              <a:t>] = new </a:t>
            </a:r>
            <a:r>
              <a:rPr lang="en-US" sz="2400" dirty="0" err="1"/>
              <a:t>RefTipe</a:t>
            </a:r>
            <a:r>
              <a:rPr lang="en-US" sz="2400" dirty="0"/>
              <a:t>();</a:t>
            </a:r>
          </a:p>
          <a:p>
            <a:pPr marL="0" indent="0">
              <a:buNone/>
            </a:pPr>
            <a:r>
              <a:rPr lang="en-US" sz="2400" dirty="0"/>
              <a:t>       	 }</a:t>
            </a:r>
          </a:p>
          <a:p>
            <a:pPr marL="0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dirty="0"/>
              <a:t>	 </a:t>
            </a:r>
            <a:r>
              <a:rPr lang="en-US" dirty="0" err="1"/>
              <a:t>int</a:t>
            </a:r>
            <a:r>
              <a:rPr lang="en-US" dirty="0"/>
              <a:t> b = a[1].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457200" lvl="1" indent="0">
              <a:buNone/>
            </a:pPr>
            <a:endParaRPr lang="bg-BG" dirty="0"/>
          </a:p>
          <a:p>
            <a:pPr marL="457200" lvl="1" indent="0">
              <a:buNone/>
            </a:pPr>
            <a:endParaRPr lang="bg-BG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bg-BG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221D33-24CC-424B-B7D8-B32AF61261A5}"/>
              </a:ext>
            </a:extLst>
          </p:cNvPr>
          <p:cNvGrpSpPr/>
          <p:nvPr/>
        </p:nvGrpSpPr>
        <p:grpSpPr>
          <a:xfrm>
            <a:off x="7875461" y="592418"/>
            <a:ext cx="4230806" cy="4812187"/>
            <a:chOff x="7478973" y="894258"/>
            <a:chExt cx="4230806" cy="4812187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72A2C954-D1BA-4AFC-AE0F-BCFEB110D22D}"/>
                </a:ext>
              </a:extLst>
            </p:cNvPr>
            <p:cNvSpPr txBox="1">
              <a:spLocks/>
            </p:cNvSpPr>
            <p:nvPr/>
          </p:nvSpPr>
          <p:spPr>
            <a:xfrm>
              <a:off x="7478973" y="894258"/>
              <a:ext cx="4230806" cy="48121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5250" lvl="1" indent="0">
                <a:buNone/>
                <a:tabLst>
                  <a:tab pos="95250" algn="l"/>
                </a:tabLst>
              </a:pPr>
              <a:r>
                <a:rPr lang="bg-BG" dirty="0"/>
                <a:t>Единична променлива</a:t>
              </a:r>
              <a:endParaRPr lang="en-US" dirty="0"/>
            </a:p>
            <a:p>
              <a:pPr marL="457200" lvl="1" indent="0">
                <a:buNone/>
              </a:pPr>
              <a:endParaRPr lang="en-US" sz="1100" dirty="0"/>
            </a:p>
            <a:p>
              <a:pPr marL="457200" lvl="1" indent="0">
                <a:buNone/>
              </a:pPr>
              <a:r>
                <a:rPr lang="bg-BG" dirty="0"/>
                <a:t>//Деклариран</a:t>
              </a:r>
              <a:r>
                <a:rPr lang="en-US" dirty="0"/>
                <a:t>e</a:t>
              </a:r>
              <a:r>
                <a:rPr lang="bg-BG" dirty="0"/>
                <a:t> –</a:t>
              </a:r>
            </a:p>
            <a:p>
              <a:pPr marL="457200" lvl="1" indent="0">
                <a:buNone/>
              </a:pPr>
              <a:r>
                <a:rPr lang="bg-BG" dirty="0"/>
                <a:t>// а не е инициализирана </a:t>
              </a:r>
            </a:p>
            <a:p>
              <a:pPr marL="457200" lvl="1" indent="0">
                <a:buNone/>
              </a:pPr>
              <a:r>
                <a:rPr lang="bg-BG" dirty="0"/>
                <a:t>// и е </a:t>
              </a:r>
              <a:r>
                <a:rPr lang="bg-BG" dirty="0" err="1"/>
                <a:t>равн</a:t>
              </a:r>
              <a:r>
                <a:rPr lang="en-US" dirty="0"/>
                <a:t>a</a:t>
              </a:r>
              <a:r>
                <a:rPr lang="bg-BG" dirty="0"/>
                <a:t> на </a:t>
              </a:r>
              <a:r>
                <a:rPr lang="en-US" dirty="0"/>
                <a:t>null</a:t>
              </a:r>
            </a:p>
            <a:p>
              <a:pPr marL="457200" lvl="1" indent="0">
                <a:buNone/>
              </a:pPr>
              <a:endParaRPr lang="en-US" sz="1100" dirty="0"/>
            </a:p>
            <a:p>
              <a:pPr marL="457200" lvl="1" indent="0">
                <a:buNone/>
              </a:pPr>
              <a:r>
                <a:rPr lang="en-US" dirty="0" err="1"/>
                <a:t>RefType</a:t>
              </a:r>
              <a:r>
                <a:rPr lang="en-US" dirty="0"/>
                <a:t> a;</a:t>
              </a:r>
              <a:r>
                <a:rPr lang="bg-BG" dirty="0"/>
                <a:t>	</a:t>
              </a:r>
            </a:p>
            <a:p>
              <a:pPr marL="457200" lvl="1" indent="0">
                <a:buNone/>
              </a:pPr>
              <a:endParaRPr lang="bg-BG" dirty="0"/>
            </a:p>
            <a:p>
              <a:pPr marL="457200" lvl="1" indent="0">
                <a:buNone/>
              </a:pPr>
              <a:r>
                <a:rPr lang="bg-BG" dirty="0"/>
                <a:t>//Деклариране и </a:t>
              </a:r>
              <a:endParaRPr lang="en-US" dirty="0"/>
            </a:p>
            <a:p>
              <a:pPr marL="457200" lvl="1" indent="0">
                <a:buNone/>
              </a:pPr>
              <a:r>
                <a:rPr lang="en-US" dirty="0"/>
                <a:t>// </a:t>
              </a:r>
              <a:r>
                <a:rPr lang="bg-BG" dirty="0"/>
                <a:t>инициализиране</a:t>
              </a:r>
            </a:p>
            <a:p>
              <a:pPr marL="457200" lvl="1" indent="0">
                <a:buNone/>
              </a:pPr>
              <a:endParaRPr lang="en-US" dirty="0"/>
            </a:p>
            <a:p>
              <a:pPr marL="457200" lvl="1" indent="0">
                <a:buNone/>
              </a:pPr>
              <a:r>
                <a:rPr lang="en-US" dirty="0" err="1"/>
                <a:t>RefType</a:t>
              </a:r>
              <a:r>
                <a:rPr lang="en-US" dirty="0"/>
                <a:t> x = new </a:t>
              </a:r>
              <a:r>
                <a:rPr lang="en-US" dirty="0" err="1"/>
                <a:t>RefType</a:t>
              </a:r>
              <a:r>
                <a:rPr lang="en-US" dirty="0"/>
                <a:t>();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755C4CB-8A5F-4D71-BFDA-700E1B174D69}"/>
                </a:ext>
              </a:extLst>
            </p:cNvPr>
            <p:cNvCxnSpPr/>
            <p:nvPr/>
          </p:nvCxnSpPr>
          <p:spPr>
            <a:xfrm flipV="1">
              <a:off x="7603260" y="3464257"/>
              <a:ext cx="3671248" cy="40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4E30CC6-00D7-416E-B631-440D06BBCF6A}"/>
                </a:ext>
              </a:extLst>
            </p:cNvPr>
            <p:cNvCxnSpPr/>
            <p:nvPr/>
          </p:nvCxnSpPr>
          <p:spPr>
            <a:xfrm flipV="1">
              <a:off x="7603260" y="1364776"/>
              <a:ext cx="3671248" cy="409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2702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9526"/>
          </a:xfrm>
        </p:spPr>
        <p:txBody>
          <a:bodyPr/>
          <a:lstStyle/>
          <a:p>
            <a:r>
              <a:rPr lang="bg-BG" dirty="0"/>
              <a:t>Многомерни Масиви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776" y="1364776"/>
            <a:ext cx="9989024" cy="3889612"/>
          </a:xfrm>
        </p:spPr>
        <p:txBody>
          <a:bodyPr>
            <a:normAutofit/>
          </a:bodyPr>
          <a:lstStyle/>
          <a:p>
            <a:r>
              <a:rPr lang="bg-BG" dirty="0"/>
              <a:t>Съществуват две основни категории многомерни масиви:</a:t>
            </a:r>
          </a:p>
          <a:p>
            <a:endParaRPr lang="bg-BG" sz="1600" dirty="0"/>
          </a:p>
          <a:p>
            <a:pPr lvl="1"/>
            <a:r>
              <a:rPr lang="bg-BG" sz="2800" dirty="0"/>
              <a:t>Правоъгълни </a:t>
            </a:r>
            <a:r>
              <a:rPr lang="en-US" sz="2800" dirty="0"/>
              <a:t>(Rectangular) – </a:t>
            </a:r>
            <a:r>
              <a:rPr lang="bg-BG" sz="2800" dirty="0"/>
              <a:t>представляват </a:t>
            </a:r>
            <a:r>
              <a:rPr lang="en-US" sz="2800" dirty="0"/>
              <a:t>n</a:t>
            </a:r>
            <a:r>
              <a:rPr lang="bg-BG" sz="2800" dirty="0"/>
              <a:t>-</a:t>
            </a:r>
            <a:r>
              <a:rPr lang="bg-BG" sz="2800" dirty="0" err="1"/>
              <a:t>измерни</a:t>
            </a:r>
            <a:r>
              <a:rPr lang="bg-BG" sz="2800" dirty="0"/>
              <a:t> блокове от памет</a:t>
            </a:r>
          </a:p>
          <a:p>
            <a:pPr lvl="1"/>
            <a:endParaRPr lang="bg-BG" sz="1600" dirty="0"/>
          </a:p>
          <a:p>
            <a:pPr lvl="1"/>
            <a:r>
              <a:rPr lang="bg-BG" sz="2800" dirty="0"/>
              <a:t>Назъбени</a:t>
            </a:r>
            <a:r>
              <a:rPr lang="en-US" sz="2800" dirty="0"/>
              <a:t>/</a:t>
            </a:r>
            <a:r>
              <a:rPr lang="bg-BG" sz="2800" dirty="0"/>
              <a:t>Неравни (</a:t>
            </a:r>
            <a:r>
              <a:rPr lang="en-US" sz="2800" dirty="0"/>
              <a:t>Jagged)</a:t>
            </a:r>
            <a:r>
              <a:rPr lang="bg-BG" sz="2800" dirty="0"/>
              <a:t> – представляват масиви от масиви</a:t>
            </a:r>
            <a:endParaRPr lang="en-US" sz="2800" dirty="0"/>
          </a:p>
          <a:p>
            <a:pPr lvl="1"/>
            <a:endParaRPr lang="en-US" sz="2800" dirty="0"/>
          </a:p>
          <a:p>
            <a:pPr marL="457200" lvl="1" indent="0">
              <a:buNone/>
            </a:pPr>
            <a:r>
              <a:rPr lang="bg-BG" sz="2800" dirty="0"/>
              <a:t>   Правоъгълни					Назъбени</a:t>
            </a:r>
            <a:endParaRPr lang="en-US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768633"/>
              </p:ext>
            </p:extLst>
          </p:nvPr>
        </p:nvGraphicFramePr>
        <p:xfrm>
          <a:off x="2095689" y="5163361"/>
          <a:ext cx="2226102" cy="12183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1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1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10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057674"/>
              </p:ext>
            </p:extLst>
          </p:nvPr>
        </p:nvGraphicFramePr>
        <p:xfrm>
          <a:off x="7588913" y="5146871"/>
          <a:ext cx="2226102" cy="4061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1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17183"/>
              </p:ext>
            </p:extLst>
          </p:nvPr>
        </p:nvGraphicFramePr>
        <p:xfrm>
          <a:off x="7721599" y="5252669"/>
          <a:ext cx="52164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521439"/>
              </p:ext>
            </p:extLst>
          </p:nvPr>
        </p:nvGraphicFramePr>
        <p:xfrm>
          <a:off x="8433558" y="5252669"/>
          <a:ext cx="52164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897404"/>
              </p:ext>
            </p:extLst>
          </p:nvPr>
        </p:nvGraphicFramePr>
        <p:xfrm>
          <a:off x="9197832" y="5252669"/>
          <a:ext cx="521648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9317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Правоъгълни масиви (</a:t>
            </a:r>
            <a:r>
              <a:rPr lang="en-US" dirty="0"/>
              <a:t>Rectangular</a:t>
            </a:r>
            <a:r>
              <a:rPr lang="bg-BG" dirty="0"/>
              <a:t> </a:t>
            </a:r>
            <a:r>
              <a:rPr lang="en-US" dirty="0"/>
              <a:t>Arrays)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8548" y="1500326"/>
            <a:ext cx="9825251" cy="5166804"/>
          </a:xfrm>
        </p:spPr>
        <p:txBody>
          <a:bodyPr>
            <a:normAutofit fontScale="92500" lnSpcReduction="10000"/>
          </a:bodyPr>
          <a:lstStyle/>
          <a:p>
            <a:r>
              <a:rPr lang="bg-BG" dirty="0"/>
              <a:t>Деклариране</a:t>
            </a:r>
          </a:p>
          <a:p>
            <a:endParaRPr lang="bg-BG" sz="400" dirty="0"/>
          </a:p>
          <a:p>
            <a:pPr lvl="1"/>
            <a:r>
              <a:rPr lang="en-US" dirty="0" err="1"/>
              <a:t>int</a:t>
            </a:r>
            <a:r>
              <a:rPr lang="en-US" dirty="0"/>
              <a:t>[</a:t>
            </a:r>
            <a:r>
              <a:rPr lang="bg-BG" dirty="0"/>
              <a:t> </a:t>
            </a:r>
            <a:r>
              <a:rPr lang="en-US" dirty="0"/>
              <a:t>,</a:t>
            </a:r>
            <a:r>
              <a:rPr lang="bg-BG" dirty="0"/>
              <a:t> </a:t>
            </a:r>
            <a:r>
              <a:rPr lang="en-US" dirty="0"/>
              <a:t>] </a:t>
            </a:r>
            <a:r>
              <a:rPr lang="bg-BG" dirty="0"/>
              <a:t> </a:t>
            </a:r>
            <a:r>
              <a:rPr lang="en-US" dirty="0"/>
              <a:t>matrix </a:t>
            </a:r>
            <a:r>
              <a:rPr lang="bg-BG" dirty="0"/>
              <a:t> </a:t>
            </a:r>
            <a:r>
              <a:rPr lang="en-US" dirty="0"/>
              <a:t>= </a:t>
            </a:r>
            <a:r>
              <a:rPr lang="bg-BG" dirty="0"/>
              <a:t> </a:t>
            </a:r>
            <a:r>
              <a:rPr lang="en-US" dirty="0"/>
              <a:t>new </a:t>
            </a:r>
            <a:r>
              <a:rPr lang="bg-BG" dirty="0"/>
              <a:t> </a:t>
            </a:r>
            <a:r>
              <a:rPr lang="en-US" dirty="0" err="1"/>
              <a:t>int</a:t>
            </a:r>
            <a:r>
              <a:rPr lang="en-US" dirty="0"/>
              <a:t>[4,4];	</a:t>
            </a:r>
            <a:r>
              <a:rPr lang="bg-BG" dirty="0"/>
              <a:t>     </a:t>
            </a:r>
            <a:r>
              <a:rPr lang="en-US" dirty="0"/>
              <a:t>// </a:t>
            </a:r>
            <a:r>
              <a:rPr lang="bg-BG" dirty="0"/>
              <a:t>квадратен масив</a:t>
            </a:r>
          </a:p>
          <a:p>
            <a:pPr lvl="1"/>
            <a:endParaRPr lang="en-US" sz="1000" dirty="0"/>
          </a:p>
          <a:p>
            <a:pPr lvl="1"/>
            <a:r>
              <a:rPr lang="en-US" dirty="0" err="1"/>
              <a:t>int</a:t>
            </a:r>
            <a:r>
              <a:rPr lang="en-US" dirty="0"/>
              <a:t>[</a:t>
            </a:r>
            <a:r>
              <a:rPr lang="bg-BG" dirty="0"/>
              <a:t> </a:t>
            </a:r>
            <a:r>
              <a:rPr lang="en-US" dirty="0"/>
              <a:t>,</a:t>
            </a:r>
            <a:r>
              <a:rPr lang="bg-BG" dirty="0"/>
              <a:t> </a:t>
            </a:r>
            <a:r>
              <a:rPr lang="en-US" dirty="0"/>
              <a:t>] </a:t>
            </a:r>
            <a:r>
              <a:rPr lang="bg-BG" dirty="0"/>
              <a:t> </a:t>
            </a:r>
            <a:r>
              <a:rPr lang="en-US" dirty="0"/>
              <a:t>matrix</a:t>
            </a:r>
            <a:r>
              <a:rPr lang="bg-BG" dirty="0"/>
              <a:t> </a:t>
            </a:r>
            <a:r>
              <a:rPr lang="en-US" dirty="0"/>
              <a:t> = </a:t>
            </a:r>
            <a:r>
              <a:rPr lang="bg-BG" dirty="0"/>
              <a:t> </a:t>
            </a:r>
            <a:r>
              <a:rPr lang="en-US" dirty="0"/>
              <a:t>new</a:t>
            </a:r>
            <a:r>
              <a:rPr lang="bg-BG" dirty="0"/>
              <a:t> 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[</a:t>
            </a:r>
            <a:r>
              <a:rPr lang="bg-BG" dirty="0"/>
              <a:t>2</a:t>
            </a:r>
            <a:r>
              <a:rPr lang="en-US" dirty="0"/>
              <a:t>,</a:t>
            </a:r>
            <a:r>
              <a:rPr lang="bg-BG" dirty="0"/>
              <a:t>3</a:t>
            </a:r>
            <a:r>
              <a:rPr lang="en-US" dirty="0"/>
              <a:t>];</a:t>
            </a:r>
            <a:r>
              <a:rPr lang="bg-BG" dirty="0"/>
              <a:t>	     // правоъгълен масив</a:t>
            </a:r>
          </a:p>
          <a:p>
            <a:pPr lvl="1"/>
            <a:endParaRPr lang="bg-BG" sz="400" dirty="0"/>
          </a:p>
          <a:p>
            <a:pPr lvl="1"/>
            <a:r>
              <a:rPr lang="en-US" dirty="0" err="1"/>
              <a:t>int</a:t>
            </a:r>
            <a:r>
              <a:rPr lang="en-US" dirty="0"/>
              <a:t>[ , ]  matrix  =  {  {1,2},  {3,4},  {5,6}  };	// </a:t>
            </a:r>
            <a:r>
              <a:rPr lang="bg-BG" dirty="0"/>
              <a:t>правоъгълен масив </a:t>
            </a:r>
            <a:r>
              <a:rPr lang="en-US" dirty="0"/>
              <a:t>3</a:t>
            </a:r>
            <a:r>
              <a:rPr lang="bg-BG" dirty="0"/>
              <a:t>х</a:t>
            </a:r>
            <a:r>
              <a:rPr lang="en-US" dirty="0"/>
              <a:t>2</a:t>
            </a:r>
          </a:p>
          <a:p>
            <a:pPr lvl="1"/>
            <a:endParaRPr lang="bg-BG" dirty="0"/>
          </a:p>
          <a:p>
            <a:r>
              <a:rPr lang="bg-BG" dirty="0"/>
              <a:t>Обхождане</a:t>
            </a:r>
          </a:p>
          <a:p>
            <a:endParaRPr lang="bg-BG" sz="400" dirty="0"/>
          </a:p>
          <a:p>
            <a:pPr marL="457200" lvl="1" indent="0">
              <a:buNone/>
            </a:pP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matrix.GetLength</a:t>
            </a:r>
            <a:r>
              <a:rPr lang="en-US" dirty="0"/>
              <a:t>(0);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457200" lvl="1" indent="0">
              <a:buNone/>
            </a:pPr>
            <a:r>
              <a:rPr lang="en-US" dirty="0"/>
              <a:t>{</a:t>
            </a:r>
          </a:p>
          <a:p>
            <a:pPr marL="457200" lvl="1" indent="0">
              <a:buNone/>
            </a:pPr>
            <a:r>
              <a:rPr lang="en-US" dirty="0"/>
              <a:t>            for (int j = 0; j &lt; </a:t>
            </a:r>
            <a:r>
              <a:rPr lang="en-US" dirty="0" err="1"/>
              <a:t>matrix.GetLength</a:t>
            </a:r>
            <a:r>
              <a:rPr lang="en-US" dirty="0"/>
              <a:t>(1); j++)</a:t>
            </a:r>
          </a:p>
          <a:p>
            <a:pPr marL="457200" lvl="1" indent="0">
              <a:buNone/>
            </a:pPr>
            <a:r>
              <a:rPr lang="en-US" dirty="0"/>
              <a:t>            {</a:t>
            </a:r>
          </a:p>
          <a:p>
            <a:pPr marL="457200" lvl="1" indent="0">
              <a:buNone/>
            </a:pPr>
            <a:r>
              <a:rPr lang="en-US" dirty="0"/>
              <a:t>		matrix[</a:t>
            </a:r>
            <a:r>
              <a:rPr lang="en-US" dirty="0" err="1"/>
              <a:t>i</a:t>
            </a:r>
            <a:r>
              <a:rPr lang="en-US" dirty="0"/>
              <a:t>, j] = </a:t>
            </a:r>
            <a:r>
              <a:rPr lang="en-US" dirty="0" err="1"/>
              <a:t>i</a:t>
            </a:r>
            <a:r>
              <a:rPr lang="en-US" dirty="0"/>
              <a:t>  + j;</a:t>
            </a:r>
          </a:p>
          <a:p>
            <a:pPr marL="457200" lvl="1" indent="0">
              <a:buNone/>
            </a:pPr>
            <a:r>
              <a:rPr lang="en-US" dirty="0"/>
              <a:t>	      }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4696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2230"/>
          </a:xfrm>
        </p:spPr>
        <p:txBody>
          <a:bodyPr/>
          <a:lstStyle/>
          <a:p>
            <a:r>
              <a:rPr lang="bg-BG" dirty="0"/>
              <a:t>Назъбени/Неравни Масиви</a:t>
            </a:r>
            <a:r>
              <a:rPr lang="en-US" dirty="0"/>
              <a:t> (Jagged Arrays)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310186" y="1187356"/>
            <a:ext cx="10043614" cy="5486400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Деклариране и инициализиране:</a:t>
            </a:r>
          </a:p>
          <a:p>
            <a:pPr marL="0" indent="0">
              <a:buNone/>
            </a:pPr>
            <a:endParaRPr lang="bg-BG" sz="2200" dirty="0"/>
          </a:p>
          <a:p>
            <a:pPr marL="457200" lvl="1" indent="0">
              <a:buNone/>
            </a:pPr>
            <a:r>
              <a:rPr lang="en-US" dirty="0" err="1"/>
              <a:t>int</a:t>
            </a:r>
            <a:r>
              <a:rPr lang="en-US" dirty="0"/>
              <a:t> [ ][ ] </a:t>
            </a:r>
            <a:r>
              <a:rPr lang="bg-BG" dirty="0"/>
              <a:t> </a:t>
            </a:r>
            <a:r>
              <a:rPr lang="en-US" dirty="0"/>
              <a:t>matrix </a:t>
            </a:r>
            <a:r>
              <a:rPr lang="bg-BG" dirty="0"/>
              <a:t> </a:t>
            </a:r>
            <a:r>
              <a:rPr lang="en-US" dirty="0"/>
              <a:t>= </a:t>
            </a:r>
            <a:r>
              <a:rPr lang="bg-BG" dirty="0"/>
              <a:t> </a:t>
            </a:r>
            <a:r>
              <a:rPr lang="en-US" dirty="0"/>
              <a:t>new </a:t>
            </a:r>
            <a:r>
              <a:rPr lang="bg-BG" dirty="0"/>
              <a:t> </a:t>
            </a:r>
            <a:r>
              <a:rPr lang="en-US" dirty="0" err="1"/>
              <a:t>int</a:t>
            </a:r>
            <a:r>
              <a:rPr lang="en-US" dirty="0"/>
              <a:t> [ 4 ][ ]</a:t>
            </a:r>
            <a:r>
              <a:rPr lang="bg-BG" dirty="0"/>
              <a:t>;     </a:t>
            </a:r>
            <a:r>
              <a:rPr lang="en-US" dirty="0"/>
              <a:t>//</a:t>
            </a:r>
            <a:r>
              <a:rPr lang="bg-BG" dirty="0"/>
              <a:t> най-външният масив е с дължина 4</a:t>
            </a:r>
          </a:p>
          <a:p>
            <a:pPr lvl="1"/>
            <a:endParaRPr lang="bg-BG" sz="1900" dirty="0"/>
          </a:p>
          <a:p>
            <a:pPr marL="457200" lvl="1" indent="0">
              <a:buNone/>
            </a:pP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matrix.Length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sz="2400" dirty="0"/>
              <a:t>        {</a:t>
            </a:r>
          </a:p>
          <a:p>
            <a:pPr marL="457200" lvl="1" indent="0">
              <a:buNone/>
            </a:pPr>
            <a:r>
              <a:rPr lang="en-US" dirty="0"/>
              <a:t>            matrix[</a:t>
            </a:r>
            <a:r>
              <a:rPr lang="en-US" dirty="0" err="1"/>
              <a:t>i</a:t>
            </a:r>
            <a:r>
              <a:rPr lang="en-US" dirty="0"/>
              <a:t>] = new int[2*</a:t>
            </a:r>
            <a:r>
              <a:rPr lang="en-US" dirty="0" err="1"/>
              <a:t>i</a:t>
            </a:r>
            <a:r>
              <a:rPr lang="en-US" dirty="0"/>
              <a:t>]; </a:t>
            </a:r>
            <a:r>
              <a:rPr lang="bg-BG" dirty="0"/>
              <a:t>      </a:t>
            </a:r>
            <a:r>
              <a:rPr lang="en-US" dirty="0"/>
              <a:t>// </a:t>
            </a:r>
            <a:r>
              <a:rPr lang="bg-BG" dirty="0"/>
              <a:t>Създаване на вътрешния масив</a:t>
            </a:r>
            <a:endParaRPr lang="en-US" dirty="0"/>
          </a:p>
          <a:p>
            <a:pPr marL="457200" lvl="1" indent="0">
              <a:buNone/>
            </a:pPr>
            <a:r>
              <a:rPr lang="nb-NO" dirty="0"/>
              <a:t>           </a:t>
            </a:r>
          </a:p>
          <a:p>
            <a:pPr marL="457200" lvl="1" indent="0">
              <a:buNone/>
            </a:pPr>
            <a:r>
              <a:rPr lang="nb-NO" dirty="0"/>
              <a:t>	     for (int j = 0; j &lt; matrix[i].Length; j++)</a:t>
            </a:r>
          </a:p>
          <a:p>
            <a:pPr marL="457200" lvl="1" indent="0">
              <a:buNone/>
            </a:pPr>
            <a:r>
              <a:rPr lang="en-US" dirty="0"/>
              <a:t>            {</a:t>
            </a:r>
          </a:p>
          <a:p>
            <a:pPr marL="457200" lvl="1" indent="0">
              <a:buNone/>
            </a:pPr>
            <a:r>
              <a:rPr lang="en-US" dirty="0"/>
              <a:t>                matrix[</a:t>
            </a:r>
            <a:r>
              <a:rPr lang="en-US" dirty="0" err="1"/>
              <a:t>i</a:t>
            </a:r>
            <a:r>
              <a:rPr lang="en-US" dirty="0"/>
              <a:t>][j] = </a:t>
            </a:r>
            <a:r>
              <a:rPr lang="en-US" dirty="0" err="1"/>
              <a:t>i</a:t>
            </a:r>
            <a:r>
              <a:rPr lang="en-US" dirty="0"/>
              <a:t> + j;</a:t>
            </a:r>
          </a:p>
          <a:p>
            <a:pPr marL="457200" lvl="1" indent="0">
              <a:buNone/>
            </a:pPr>
            <a:r>
              <a:rPr lang="en-US" dirty="0"/>
              <a:t>            }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dirty="0"/>
              <a:t>            </a:t>
            </a:r>
            <a:r>
              <a:rPr lang="en-US" dirty="0" err="1"/>
              <a:t>System.Console.WriteLine</a:t>
            </a:r>
            <a:r>
              <a:rPr lang="en-US" dirty="0"/>
              <a:t>(matrix[</a:t>
            </a:r>
            <a:r>
              <a:rPr lang="en-US" dirty="0" err="1"/>
              <a:t>i</a:t>
            </a:r>
            <a:r>
              <a:rPr lang="en-US" sz="2000" dirty="0"/>
              <a:t>].Length);</a:t>
            </a:r>
          </a:p>
          <a:p>
            <a:pPr marL="0" indent="0">
              <a:buNone/>
            </a:pPr>
            <a:r>
              <a:rPr lang="en-US" sz="2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4121777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529" y="365125"/>
            <a:ext cx="10515600" cy="1325563"/>
          </a:xfrm>
        </p:spPr>
        <p:txBody>
          <a:bodyPr/>
          <a:lstStyle/>
          <a:p>
            <a:r>
              <a:rPr lang="bg-BG" dirty="0"/>
              <a:t>Указатели </a:t>
            </a:r>
            <a:br>
              <a:rPr lang="bg-BG" dirty="0"/>
            </a:br>
            <a:r>
              <a:rPr lang="bg-BG" dirty="0"/>
              <a:t>(</a:t>
            </a:r>
            <a:r>
              <a:rPr lang="en-US" dirty="0"/>
              <a:t>Pointer Types)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36525" y="245661"/>
            <a:ext cx="6116473" cy="6318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unsafe class Program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457200" lvl="1" indent="0">
              <a:buNone/>
            </a:pPr>
            <a:r>
              <a:rPr lang="en-US" dirty="0"/>
              <a:t>    unsafe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    {</a:t>
            </a:r>
          </a:p>
          <a:p>
            <a:pPr marL="914400" lvl="2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int</a:t>
            </a:r>
            <a:r>
              <a:rPr lang="en-US" sz="2400" dirty="0"/>
              <a:t>* a;</a:t>
            </a:r>
          </a:p>
          <a:p>
            <a:pPr marL="914400" lvl="2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int</a:t>
            </a:r>
            <a:r>
              <a:rPr lang="en-US" sz="2400" dirty="0"/>
              <a:t> b = 10;</a:t>
            </a:r>
          </a:p>
          <a:p>
            <a:pPr marL="914400" lvl="2" indent="0">
              <a:buNone/>
            </a:pPr>
            <a:r>
              <a:rPr lang="en-US" sz="500" dirty="0"/>
              <a:t>       </a:t>
            </a:r>
          </a:p>
          <a:p>
            <a:pPr marL="914400" lvl="2" indent="0">
              <a:buNone/>
            </a:pPr>
            <a:r>
              <a:rPr lang="pt-BR" sz="2400" dirty="0"/>
              <a:t>        a = &amp;b; // a сочи b, *a = 10</a:t>
            </a:r>
          </a:p>
          <a:p>
            <a:pPr marL="914400" lvl="2" indent="0">
              <a:buNone/>
            </a:pPr>
            <a:r>
              <a:rPr lang="en-US" sz="500" dirty="0"/>
              <a:t>        </a:t>
            </a:r>
          </a:p>
          <a:p>
            <a:pPr marL="914400" lvl="2" indent="0">
              <a:buNone/>
            </a:pPr>
            <a:r>
              <a:rPr lang="en-US" sz="2400" dirty="0"/>
              <a:t>        *a = 2;</a:t>
            </a:r>
          </a:p>
          <a:p>
            <a:pPr marL="914400" lvl="2" indent="0">
              <a:buNone/>
            </a:pPr>
            <a:r>
              <a:rPr lang="en-US" sz="500" dirty="0"/>
              <a:t>        </a:t>
            </a:r>
          </a:p>
          <a:p>
            <a:pPr marL="914400" lvl="2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System.Console.WriteLine</a:t>
            </a:r>
            <a:r>
              <a:rPr lang="en-US" sz="2400" dirty="0"/>
              <a:t>(  *a );</a:t>
            </a:r>
          </a:p>
          <a:p>
            <a:pPr marL="914400" lvl="2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System.Console.WriteLine</a:t>
            </a:r>
            <a:r>
              <a:rPr lang="en-US" sz="2400" dirty="0"/>
              <a:t>(  b  );</a:t>
            </a:r>
          </a:p>
          <a:p>
            <a:pPr marL="914400" lvl="2" indent="0">
              <a:buNone/>
            </a:pPr>
            <a:endParaRPr lang="en-US" sz="500" dirty="0"/>
          </a:p>
          <a:p>
            <a:pPr marL="914400" lvl="2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System.Console.ReadKey</a:t>
            </a:r>
            <a:r>
              <a:rPr lang="en-US" dirty="0"/>
              <a:t>();</a:t>
            </a:r>
          </a:p>
          <a:p>
            <a:pPr marL="457200" lvl="1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64526" y="2169993"/>
            <a:ext cx="3480178" cy="4006969"/>
          </a:xfrm>
        </p:spPr>
        <p:txBody>
          <a:bodyPr/>
          <a:lstStyle/>
          <a:p>
            <a:r>
              <a:rPr lang="bg-BG" dirty="0"/>
              <a:t>Аналогични са на указателите в</a:t>
            </a:r>
            <a:r>
              <a:rPr lang="en-US" dirty="0"/>
              <a:t> C/C++</a:t>
            </a:r>
          </a:p>
          <a:p>
            <a:endParaRPr lang="bg-BG" dirty="0"/>
          </a:p>
          <a:p>
            <a:r>
              <a:rPr lang="bg-BG" dirty="0"/>
              <a:t>Използват се само в </a:t>
            </a:r>
            <a:r>
              <a:rPr lang="en-US" dirty="0"/>
              <a:t>unsafe</a:t>
            </a:r>
            <a:r>
              <a:rPr lang="bg-BG" dirty="0"/>
              <a:t> контекст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172501" y="365125"/>
            <a:ext cx="27428" cy="56671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692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3426</TotalTime>
  <Words>1719</Words>
  <Application>Microsoft Office PowerPoint</Application>
  <PresentationFormat>Widescreen</PresentationFormat>
  <Paragraphs>457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Типове и Масиви в C#</vt:lpstr>
      <vt:lpstr>Типовe</vt:lpstr>
      <vt:lpstr>Примитивни / Предефинирани типове (Value/Predefined types)</vt:lpstr>
      <vt:lpstr>Цифрови суфикси</vt:lpstr>
      <vt:lpstr>Примерен код</vt:lpstr>
      <vt:lpstr>Цифрови суфикси - пример</vt:lpstr>
      <vt:lpstr>Препълване при аритметични операции</vt:lpstr>
      <vt:lpstr>Ключовата дума checked</vt:lpstr>
      <vt:lpstr>Ключовите думи checked и unchecked</vt:lpstr>
      <vt:lpstr>Специални float и double стойности</vt:lpstr>
      <vt:lpstr>Примери</vt:lpstr>
      <vt:lpstr>Примери</vt:lpstr>
      <vt:lpstr>Ключовата дума var</vt:lpstr>
      <vt:lpstr>Референтни и стойностни типове  - Custom types</vt:lpstr>
      <vt:lpstr>Стойностни типове (Value Types) - пример</vt:lpstr>
      <vt:lpstr>Стойностни типове (Value Types) - пример</vt:lpstr>
      <vt:lpstr>Референтни типове (Reference Types) - пример</vt:lpstr>
      <vt:lpstr>Референтни типове (Reference Types) - пример</vt:lpstr>
      <vt:lpstr>Масиви</vt:lpstr>
      <vt:lpstr>Масиви от предефинирани типове</vt:lpstr>
      <vt:lpstr>Масиви от стойностни типове (от тип struct)</vt:lpstr>
      <vt:lpstr>Масиви от референтни типове</vt:lpstr>
      <vt:lpstr>Масиви от референтни типове</vt:lpstr>
      <vt:lpstr>Многомерни Масиви</vt:lpstr>
      <vt:lpstr>Правоъгълни масиви (Rectangular Arrays)</vt:lpstr>
      <vt:lpstr>Назъбени/Неравни Масиви (Jagged Arrays)</vt:lpstr>
      <vt:lpstr>Указатели  (Pointer Types)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Някой особености на C#</dc:title>
  <dc:creator>Metodi Dimitrov</dc:creator>
  <cp:lastModifiedBy>Методи Димитров</cp:lastModifiedBy>
  <cp:revision>205</cp:revision>
  <dcterms:created xsi:type="dcterms:W3CDTF">2013-09-21T16:13:56Z</dcterms:created>
  <dcterms:modified xsi:type="dcterms:W3CDTF">2025-09-27T07:37:11Z</dcterms:modified>
</cp:coreProperties>
</file>